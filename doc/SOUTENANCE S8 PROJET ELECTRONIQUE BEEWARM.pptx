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CCF6C4-C544-4BA1-BB67-A9EB585DDC30}">
  <a:tblStyle styleId="{2CCCF6C4-C544-4BA1-BB67-A9EB585DDC3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8b5caf24e_2_67:notes"/>
          <p:cNvSpPr txBox="1"/>
          <p:nvPr>
            <p:ph idx="1" type="body"/>
          </p:nvPr>
        </p:nvSpPr>
        <p:spPr>
          <a:xfrm>
            <a:off x="686599" y="4401236"/>
            <a:ext cx="5486661" cy="3599851"/>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120" name="Google Shape;120;g3b8b5caf24e_2_67:notes"/>
          <p:cNvSpPr/>
          <p:nvPr>
            <p:ph idx="2" type="sldImg"/>
          </p:nvPr>
        </p:nvSpPr>
        <p:spPr>
          <a:xfrm>
            <a:off x="465906" y="1143215"/>
            <a:ext cx="5928046" cy="308639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b8b5caf24e_2_79:notes"/>
          <p:cNvSpPr txBox="1"/>
          <p:nvPr>
            <p:ph idx="1" type="body"/>
          </p:nvPr>
        </p:nvSpPr>
        <p:spPr>
          <a:xfrm>
            <a:off x="686599" y="4401236"/>
            <a:ext cx="5486661" cy="3599851"/>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132" name="Google Shape;132;g3b8b5caf24e_2_79:notes"/>
          <p:cNvSpPr/>
          <p:nvPr>
            <p:ph idx="2" type="sldImg"/>
          </p:nvPr>
        </p:nvSpPr>
        <p:spPr>
          <a:xfrm>
            <a:off x="465906" y="1143215"/>
            <a:ext cx="5928046" cy="308639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b988eaea5_2_146: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145" name="Google Shape;145;g3db988eaea5_2_146: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dbffcc3eaf_2_0: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158" name="Google Shape;158;g3dbffcc3eaf_2_0: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dbffcc3eaf_2_22: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170" name="Google Shape;170;g3dbffcc3eaf_2_22: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bffcc3eaf_2_31: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180" name="Google Shape;180;g3dbffcc3eaf_2_31: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dbffcc3eaf_2_43: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191" name="Google Shape;191;g3dbffcc3eaf_2_43: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bffcc3eaf_2_53: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201" name="Google Shape;201;g3dbffcc3eaf_2_53: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dbffcc3eaf_2_64: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213" name="Google Shape;213;g3dbffcc3eaf_2_64: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bffcc3eaf_2_74: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223" name="Google Shape;223;g3dbffcc3eaf_2_74: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bffcc3eaf_2_86: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236" name="Google Shape;236;g3dbffcc3eaf_2_86: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dbffcc3eaf_2_105: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246" name="Google Shape;246;g3dbffcc3eaf_2_105: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db988eaea5_2_2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3db988eaea5_2_2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Slide 1 - En soutenance : je commence par le schématique. Avant de router, on a sécurisé la base : chaque symbole doit correspondre à une empreinte PCB réelle. On a aussi comparé avec l’ancienne version Altium pour éviter une erreur de référence ou de pinout dès le départ.</a:t>
            </a:r>
            <a:endParaRPr/>
          </a:p>
        </p:txBody>
      </p:sp>
      <p:sp>
        <p:nvSpPr>
          <p:cNvPr id="261" name="Google Shape;261;g3db988eaea5_2_2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db988eaea5_2_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g3db988eaea5_2_4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Slide 2 - Le placement est l’étape où on rend le PCB routable. L’erreur serait de commencer directement à tracer des pistes. Ici, on a regroupé les composants par blocs, placé les interfaces en bord de carte, et utilisé les airwires pour voir ce qui devait être tourné ou déplacé.</a:t>
            </a:r>
            <a:endParaRPr/>
          </a:p>
        </p:txBody>
      </p:sp>
      <p:sp>
        <p:nvSpPr>
          <p:cNvPr id="289" name="Google Shape;289;g3db988eaea5_2_4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b988eaea5_2_7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g3db988eaea5_2_7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Slide 3 - Ensuite, les airwires deviennent des pistes réelles. On a utilisé les deux couches, avec des vias quand une piste devait changer de face. Après le routage, plusieurs erreurs ont été trouvées : des pistes semblaient connectées mais ne l’étaient pas, certains espacements étaient trop faibles et la piste VCC devait être plus robuste. Le réflexe est donc de vérifier avec les outils Eagle, pas seulement à l’œil.</a:t>
            </a:r>
            <a:endParaRPr/>
          </a:p>
        </p:txBody>
      </p:sp>
      <p:sp>
        <p:nvSpPr>
          <p:cNvPr id="319" name="Google Shape;319;g3db988eaea5_2_7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db988eaea5_2_10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3db988eaea5_2_10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Slide 4 - Une fois les fichiers Gerber exportés, la carte passe à la fabrication : réception de la PCB, pochoir, pâte à braser, placement CMS puis refusion. Mais les tests ont montré que la validation ne s’arrête pas à l’assemblage : on a identifié un problème SignalLine1, la destruction du régulateur et de l’ESP32, probablement liée à une zone GND trop proche du VCC. Le bon réflexe est de faire des tests de continuité et un premier démarrage avec limitation de courant.</a:t>
            </a:r>
            <a:endParaRPr/>
          </a:p>
        </p:txBody>
      </p:sp>
      <p:sp>
        <p:nvSpPr>
          <p:cNvPr id="347" name="Google Shape;347;g3db988eaea5_2_10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b8b5caf24e_2_133: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383" name="Google Shape;383;g3b8b5caf24e_2_133: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dbbca1304c_2_0: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401" name="Google Shape;401;g3dbbca1304c_2_0: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b8b5caf24e_5_35: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418" name="Google Shape;418;g3b8b5caf24e_5_35: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b8b5caf24e_5_46: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435" name="Google Shape;435;g3b8b5caf24e_5_46: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b8b5caf24e_5_57: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457" name="Google Shape;457;g3b8b5caf24e_5_57: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db9e8e7d1b_0_35: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476" name="Google Shape;476;g3db9e8e7d1b_0_35: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dbdf4299f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dbdf4299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dbdf4299f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dbdf4299f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dbbca1304c_1_0:notes"/>
          <p:cNvSpPr txBox="1"/>
          <p:nvPr>
            <p:ph idx="1" type="body"/>
          </p:nvPr>
        </p:nvSpPr>
        <p:spPr>
          <a:xfrm>
            <a:off x="686599" y="4401236"/>
            <a:ext cx="5486700" cy="3600000"/>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527" name="Google Shape;527;g3dbbca1304c_1_0:notes"/>
          <p:cNvSpPr/>
          <p:nvPr>
            <p:ph idx="2" type="sldImg"/>
          </p:nvPr>
        </p:nvSpPr>
        <p:spPr>
          <a:xfrm>
            <a:off x="465906" y="1143215"/>
            <a:ext cx="5928000" cy="30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b8b5caf24e_2_160:notes"/>
          <p:cNvSpPr txBox="1"/>
          <p:nvPr>
            <p:ph idx="1" type="body"/>
          </p:nvPr>
        </p:nvSpPr>
        <p:spPr>
          <a:xfrm>
            <a:off x="686599" y="4401236"/>
            <a:ext cx="5486661" cy="3599851"/>
          </a:xfrm>
          <a:prstGeom prst="rect">
            <a:avLst/>
          </a:prstGeom>
        </p:spPr>
        <p:txBody>
          <a:bodyPr anchorCtr="0" anchor="t" bIns="86075" lIns="86075" spcFirstLastPara="1" rIns="86075" wrap="square" tIns="86075">
            <a:noAutofit/>
          </a:bodyPr>
          <a:lstStyle/>
          <a:p>
            <a:pPr indent="0" lvl="0" marL="0" rtl="0" algn="l">
              <a:spcBef>
                <a:spcPts val="0"/>
              </a:spcBef>
              <a:spcAft>
                <a:spcPts val="0"/>
              </a:spcAft>
              <a:buNone/>
            </a:pPr>
            <a:r>
              <a:t/>
            </a:r>
            <a:endParaRPr/>
          </a:p>
        </p:txBody>
      </p:sp>
      <p:sp>
        <p:nvSpPr>
          <p:cNvPr id="541" name="Google Shape;541;g3b8b5caf24e_2_160:notes"/>
          <p:cNvSpPr/>
          <p:nvPr>
            <p:ph idx="2" type="sldImg"/>
          </p:nvPr>
        </p:nvSpPr>
        <p:spPr>
          <a:xfrm>
            <a:off x="465906" y="1143215"/>
            <a:ext cx="5928046" cy="308639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992222"/>
            <a:ext cx="6858000" cy="1640251"/>
          </a:xfrm>
          <a:prstGeom prst="rect">
            <a:avLst/>
          </a:prstGeom>
          <a:noFill/>
          <a:ln>
            <a:noFill/>
          </a:ln>
        </p:spPr>
        <p:txBody>
          <a:bodyPr anchorCtr="0" anchor="b" bIns="34275" lIns="68575" spcFirstLastPara="1" rIns="68575" wrap="square" tIns="34275">
            <a:normAutofit/>
          </a:bodyPr>
          <a:lstStyle>
            <a:lvl1pPr lvl="0" algn="ctr">
              <a:lnSpc>
                <a:spcPct val="130000"/>
              </a:lnSpc>
              <a:spcBef>
                <a:spcPts val="0"/>
              </a:spcBef>
              <a:spcAft>
                <a:spcPts val="0"/>
              </a:spcAft>
              <a:buClr>
                <a:schemeClr val="dk1"/>
              </a:buClr>
              <a:buSzPts val="4500"/>
              <a:buFont typeface="Calibri"/>
              <a:buNone/>
              <a:defRPr sz="4500">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
        <p:nvSpPr>
          <p:cNvPr id="61" name="Google Shape;61;p1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rgbClr val="3F3F3F"/>
              </a:buClr>
              <a:buSzPts val="1800"/>
              <a:buNone/>
              <a:defRPr sz="1800">
                <a:solidFill>
                  <a:srgbClr val="3F3F3F"/>
                </a:solidFill>
                <a:latin typeface="Calibri"/>
                <a:ea typeface="Calibri"/>
                <a:cs typeface="Calibri"/>
                <a:sym typeface="Calibri"/>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485775" y="19383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Calibri"/>
              <a:buNone/>
              <a:defRPr b="1" sz="3300">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485775" y="1369219"/>
            <a:ext cx="7886700" cy="3263504"/>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3F3F3F"/>
              </a:buClr>
              <a:buSzPts val="2100"/>
              <a:buNone/>
              <a:defRPr sz="2100">
                <a:solidFill>
                  <a:srgbClr val="3F3F3F"/>
                </a:solidFill>
                <a:latin typeface="Calibri"/>
                <a:ea typeface="Calibri"/>
                <a:cs typeface="Calibri"/>
                <a:sym typeface="Calibri"/>
              </a:defRPr>
            </a:lvl1pPr>
            <a:lvl2pPr indent="-342900" lvl="1" marL="914400" algn="l">
              <a:lnSpc>
                <a:spcPct val="90000"/>
              </a:lnSpc>
              <a:spcBef>
                <a:spcPts val="400"/>
              </a:spcBef>
              <a:spcAft>
                <a:spcPts val="0"/>
              </a:spcAft>
              <a:buClr>
                <a:srgbClr val="3F3F3F"/>
              </a:buClr>
              <a:buSzPts val="1800"/>
              <a:buChar char="•"/>
              <a:defRPr sz="1800">
                <a:solidFill>
                  <a:srgbClr val="3F3F3F"/>
                </a:solidFill>
                <a:latin typeface="Calibri"/>
                <a:ea typeface="Calibri"/>
                <a:cs typeface="Calibri"/>
                <a:sym typeface="Calibri"/>
              </a:defRPr>
            </a:lvl2pPr>
            <a:lvl3pPr indent="-323850" lvl="2" marL="1371600" algn="l">
              <a:lnSpc>
                <a:spcPct val="90000"/>
              </a:lnSpc>
              <a:spcBef>
                <a:spcPts val="400"/>
              </a:spcBef>
              <a:spcAft>
                <a:spcPts val="0"/>
              </a:spcAft>
              <a:buClr>
                <a:srgbClr val="3F3F3F"/>
              </a:buClr>
              <a:buSzPts val="1500"/>
              <a:buChar char="•"/>
              <a:defRPr sz="1500">
                <a:solidFill>
                  <a:srgbClr val="3F3F3F"/>
                </a:solidFill>
                <a:latin typeface="Calibri"/>
                <a:ea typeface="Calibri"/>
                <a:cs typeface="Calibri"/>
                <a:sym typeface="Calibri"/>
              </a:defRPr>
            </a:lvl3pPr>
            <a:lvl4pPr indent="-317500" lvl="3" marL="1828800" algn="l">
              <a:lnSpc>
                <a:spcPct val="90000"/>
              </a:lnSpc>
              <a:spcBef>
                <a:spcPts val="400"/>
              </a:spcBef>
              <a:spcAft>
                <a:spcPts val="0"/>
              </a:spcAft>
              <a:buClr>
                <a:srgbClr val="3F3F3F"/>
              </a:buClr>
              <a:buSzPts val="1400"/>
              <a:buChar char="•"/>
              <a:defRPr sz="1400">
                <a:solidFill>
                  <a:srgbClr val="3F3F3F"/>
                </a:solidFill>
                <a:latin typeface="Calibri"/>
                <a:ea typeface="Calibri"/>
                <a:cs typeface="Calibri"/>
                <a:sym typeface="Calibri"/>
              </a:defRPr>
            </a:lvl4pPr>
            <a:lvl5pPr indent="-317500" lvl="4" marL="2286000" algn="l">
              <a:lnSpc>
                <a:spcPct val="90000"/>
              </a:lnSpc>
              <a:spcBef>
                <a:spcPts val="400"/>
              </a:spcBef>
              <a:spcAft>
                <a:spcPts val="0"/>
              </a:spcAft>
              <a:buClr>
                <a:srgbClr val="3F3F3F"/>
              </a:buClr>
              <a:buSzPts val="1400"/>
              <a:buChar char="•"/>
              <a:defRPr sz="1400">
                <a:solidFill>
                  <a:srgbClr val="3F3F3F"/>
                </a:solidFill>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2813209"/>
            <a:ext cx="7382351" cy="608648"/>
          </a:xfrm>
          <a:prstGeom prst="rect">
            <a:avLst/>
          </a:prstGeom>
          <a:noFill/>
          <a:ln>
            <a:noFill/>
          </a:ln>
        </p:spPr>
        <p:txBody>
          <a:bodyPr anchorCtr="0" anchor="b" bIns="34275" lIns="68575" spcFirstLastPara="1" rIns="68575" wrap="square" tIns="34275">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body"/>
          </p:nvPr>
        </p:nvSpPr>
        <p:spPr>
          <a:xfrm>
            <a:off x="623888" y="3457521"/>
            <a:ext cx="5491162" cy="485666"/>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7F7F7F"/>
              </a:buClr>
              <a:buSzPts val="1800"/>
              <a:buNone/>
              <a:defRPr sz="1800">
                <a:solidFill>
                  <a:srgbClr val="7F7F7F"/>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1" name="Google Shape;71;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485775" y="19383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Calibri"/>
              <a:buNone/>
              <a:defRPr b="0" i="0" sz="33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485775" y="1369219"/>
            <a:ext cx="3886200" cy="3263504"/>
          </a:xfrm>
          <a:prstGeom prst="rect">
            <a:avLst/>
          </a:prstGeom>
          <a:noFill/>
          <a:ln>
            <a:noFill/>
          </a:ln>
        </p:spPr>
        <p:txBody>
          <a:bodyPr anchorCtr="0" anchor="t" bIns="34275" lIns="68575" spcFirstLastPara="1" rIns="68575" wrap="square" tIns="34275">
            <a:normAutofit/>
          </a:bodyPr>
          <a:lstStyle>
            <a:lvl1pPr indent="-228600" lvl="0" marL="457200" algn="l">
              <a:lnSpc>
                <a:spcPct val="150000"/>
              </a:lnSpc>
              <a:spcBef>
                <a:spcPts val="800"/>
              </a:spcBef>
              <a:spcAft>
                <a:spcPts val="0"/>
              </a:spcAft>
              <a:buClr>
                <a:srgbClr val="3F3F3F"/>
              </a:buClr>
              <a:buSzPts val="2100"/>
              <a:buNone/>
              <a:defRPr sz="2100">
                <a:solidFill>
                  <a:srgbClr val="3F3F3F"/>
                </a:solidFill>
                <a:latin typeface="Calibri"/>
                <a:ea typeface="Calibri"/>
                <a:cs typeface="Calibri"/>
                <a:sym typeface="Calibri"/>
              </a:defRPr>
            </a:lvl1pPr>
            <a:lvl2pPr indent="-342900" lvl="1" marL="914400" algn="l">
              <a:lnSpc>
                <a:spcPct val="150000"/>
              </a:lnSpc>
              <a:spcBef>
                <a:spcPts val="400"/>
              </a:spcBef>
              <a:spcAft>
                <a:spcPts val="0"/>
              </a:spcAft>
              <a:buClr>
                <a:srgbClr val="3F3F3F"/>
              </a:buClr>
              <a:buSzPts val="1800"/>
              <a:buChar char="•"/>
              <a:defRPr sz="1800">
                <a:solidFill>
                  <a:srgbClr val="3F3F3F"/>
                </a:solidFill>
                <a:latin typeface="Calibri"/>
                <a:ea typeface="Calibri"/>
                <a:cs typeface="Calibri"/>
                <a:sym typeface="Calibri"/>
              </a:defRPr>
            </a:lvl2pPr>
            <a:lvl3pPr indent="-323850" lvl="2" marL="1371600" algn="l">
              <a:lnSpc>
                <a:spcPct val="150000"/>
              </a:lnSpc>
              <a:spcBef>
                <a:spcPts val="400"/>
              </a:spcBef>
              <a:spcAft>
                <a:spcPts val="0"/>
              </a:spcAft>
              <a:buClr>
                <a:srgbClr val="3F3F3F"/>
              </a:buClr>
              <a:buSzPts val="1500"/>
              <a:buChar char="•"/>
              <a:defRPr sz="1500">
                <a:solidFill>
                  <a:srgbClr val="3F3F3F"/>
                </a:solidFill>
                <a:latin typeface="Calibri"/>
                <a:ea typeface="Calibri"/>
                <a:cs typeface="Calibri"/>
                <a:sym typeface="Calibri"/>
              </a:defRPr>
            </a:lvl3pPr>
            <a:lvl4pPr indent="-317500" lvl="3" marL="1828800" algn="l">
              <a:lnSpc>
                <a:spcPct val="150000"/>
              </a:lnSpc>
              <a:spcBef>
                <a:spcPts val="400"/>
              </a:spcBef>
              <a:spcAft>
                <a:spcPts val="0"/>
              </a:spcAft>
              <a:buClr>
                <a:srgbClr val="3F3F3F"/>
              </a:buClr>
              <a:buSzPts val="1400"/>
              <a:buChar char="•"/>
              <a:defRPr sz="1400">
                <a:solidFill>
                  <a:srgbClr val="3F3F3F"/>
                </a:solidFill>
                <a:latin typeface="Calibri"/>
                <a:ea typeface="Calibri"/>
                <a:cs typeface="Calibri"/>
                <a:sym typeface="Calibri"/>
              </a:defRPr>
            </a:lvl4pPr>
            <a:lvl5pPr indent="-317500" lvl="4" marL="2286000" algn="l">
              <a:lnSpc>
                <a:spcPct val="150000"/>
              </a:lnSpc>
              <a:spcBef>
                <a:spcPts val="400"/>
              </a:spcBef>
              <a:spcAft>
                <a:spcPts val="0"/>
              </a:spcAft>
              <a:buClr>
                <a:srgbClr val="3F3F3F"/>
              </a:buClr>
              <a:buSzPts val="1400"/>
              <a:buChar char="•"/>
              <a:defRPr sz="1400">
                <a:solidFill>
                  <a:srgbClr val="3F3F3F"/>
                </a:solidFill>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486275" y="1369219"/>
            <a:ext cx="3886200" cy="3263504"/>
          </a:xfrm>
          <a:prstGeom prst="rect">
            <a:avLst/>
          </a:prstGeom>
          <a:noFill/>
          <a:ln>
            <a:noFill/>
          </a:ln>
        </p:spPr>
        <p:txBody>
          <a:bodyPr anchorCtr="0" anchor="t" bIns="34275" lIns="68575" spcFirstLastPara="1" rIns="68575" wrap="square" tIns="34275">
            <a:normAutofit/>
          </a:bodyPr>
          <a:lstStyle>
            <a:lvl1pPr indent="-228600" lvl="0" marL="457200" algn="l">
              <a:lnSpc>
                <a:spcPct val="150000"/>
              </a:lnSpc>
              <a:spcBef>
                <a:spcPts val="800"/>
              </a:spcBef>
              <a:spcAft>
                <a:spcPts val="0"/>
              </a:spcAft>
              <a:buClr>
                <a:srgbClr val="3F3F3F"/>
              </a:buClr>
              <a:buSzPts val="2100"/>
              <a:buNone/>
              <a:defRPr b="0" i="0" sz="2100" u="none" cap="none" strike="noStrike">
                <a:solidFill>
                  <a:srgbClr val="3F3F3F"/>
                </a:solidFill>
                <a:latin typeface="Calibri"/>
                <a:ea typeface="Calibri"/>
                <a:cs typeface="Calibri"/>
                <a:sym typeface="Calibri"/>
              </a:defRPr>
            </a:lvl1pPr>
            <a:lvl2pPr indent="-342900" lvl="1" marL="914400" algn="l">
              <a:lnSpc>
                <a:spcPct val="150000"/>
              </a:lnSpc>
              <a:spcBef>
                <a:spcPts val="400"/>
              </a:spcBef>
              <a:spcAft>
                <a:spcPts val="0"/>
              </a:spcAft>
              <a:buClr>
                <a:srgbClr val="3F3F3F"/>
              </a:buClr>
              <a:buSzPts val="1800"/>
              <a:buChar char="•"/>
              <a:defRPr sz="1800">
                <a:solidFill>
                  <a:srgbClr val="3F3F3F"/>
                </a:solidFill>
              </a:defRPr>
            </a:lvl2pPr>
            <a:lvl3pPr indent="-323850" lvl="2" marL="1371600" algn="l">
              <a:lnSpc>
                <a:spcPct val="150000"/>
              </a:lnSpc>
              <a:spcBef>
                <a:spcPts val="400"/>
              </a:spcBef>
              <a:spcAft>
                <a:spcPts val="0"/>
              </a:spcAft>
              <a:buClr>
                <a:srgbClr val="3F3F3F"/>
              </a:buClr>
              <a:buSzPts val="1500"/>
              <a:buChar char="•"/>
              <a:defRPr sz="1500">
                <a:solidFill>
                  <a:srgbClr val="3F3F3F"/>
                </a:solidFill>
              </a:defRPr>
            </a:lvl3pPr>
            <a:lvl4pPr indent="-323850" lvl="3" marL="1828800" algn="l">
              <a:lnSpc>
                <a:spcPct val="150000"/>
              </a:lnSpc>
              <a:spcBef>
                <a:spcPts val="400"/>
              </a:spcBef>
              <a:spcAft>
                <a:spcPts val="0"/>
              </a:spcAft>
              <a:buClr>
                <a:srgbClr val="3F3F3F"/>
              </a:buClr>
              <a:buSzPts val="1500"/>
              <a:buChar char="•"/>
              <a:defRPr sz="1500">
                <a:solidFill>
                  <a:srgbClr val="3F3F3F"/>
                </a:solidFill>
              </a:defRPr>
            </a:lvl4pPr>
            <a:lvl5pPr indent="-323850" lvl="4" marL="2286000" algn="l">
              <a:lnSpc>
                <a:spcPct val="150000"/>
              </a:lnSpc>
              <a:spcBef>
                <a:spcPts val="400"/>
              </a:spcBef>
              <a:spcAft>
                <a:spcPts val="0"/>
              </a:spcAft>
              <a:buClr>
                <a:srgbClr val="3F3F3F"/>
              </a:buClr>
              <a:buSzPts val="1500"/>
              <a:buChar char="•"/>
              <a:defRPr sz="1500">
                <a:solidFill>
                  <a:srgbClr val="3F3F3F"/>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Calibri"/>
              <a:buNone/>
              <a:defRPr sz="33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8"/>
          <p:cNvSpPr txBox="1"/>
          <p:nvPr>
            <p:ph idx="1" type="body"/>
          </p:nvPr>
        </p:nvSpPr>
        <p:spPr>
          <a:xfrm>
            <a:off x="629841" y="1308721"/>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961707"/>
            <a:ext cx="3868340" cy="268054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400"/>
              <a:buNone/>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308721"/>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961707"/>
            <a:ext cx="3887391" cy="268054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400"/>
              <a:buNone/>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074664"/>
            <a:ext cx="7886700" cy="994172"/>
          </a:xfrm>
          <a:prstGeom prst="rect">
            <a:avLst/>
          </a:prstGeom>
          <a:noFill/>
          <a:ln>
            <a:noFill/>
          </a:ln>
        </p:spPr>
        <p:txBody>
          <a:bodyPr anchorCtr="0" anchor="ctr" bIns="34275" lIns="68575" spcFirstLastPara="1" rIns="68575" wrap="square" tIns="34275">
            <a:normAutofit/>
          </a:bodyPr>
          <a:lstStyle>
            <a:lvl1pPr lvl="0" algn="ctr">
              <a:lnSpc>
                <a:spcPct val="90000"/>
              </a:lnSpc>
              <a:spcBef>
                <a:spcPts val="0"/>
              </a:spcBef>
              <a:spcAft>
                <a:spcPts val="0"/>
              </a:spcAft>
              <a:buClr>
                <a:schemeClr val="dk1"/>
              </a:buClr>
              <a:buSzPts val="3300"/>
              <a:buFont typeface="Calibri"/>
              <a:buNone/>
              <a:defRPr b="0" sz="3300">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85060" y="95250"/>
            <a:ext cx="3123900" cy="120015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b="0" sz="2400">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p:nvPr>
            <p:ph idx="2" type="pic"/>
          </p:nvPr>
        </p:nvSpPr>
        <p:spPr>
          <a:xfrm>
            <a:off x="3888000" y="574765"/>
            <a:ext cx="4363031" cy="3820834"/>
          </a:xfrm>
          <a:prstGeom prst="rect">
            <a:avLst/>
          </a:prstGeom>
          <a:noFill/>
          <a:ln>
            <a:noFill/>
          </a:ln>
        </p:spPr>
      </p:sp>
      <p:sp>
        <p:nvSpPr>
          <p:cNvPr id="102" name="Google Shape;102;p21"/>
          <p:cNvSpPr txBox="1"/>
          <p:nvPr>
            <p:ph idx="1" type="body"/>
          </p:nvPr>
        </p:nvSpPr>
        <p:spPr>
          <a:xfrm>
            <a:off x="488870" y="1543050"/>
            <a:ext cx="3123900"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15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6" name="Shape 106"/>
        <p:cNvGrpSpPr/>
        <p:nvPr/>
      </p:nvGrpSpPr>
      <p:grpSpPr>
        <a:xfrm>
          <a:off x="0" y="0"/>
          <a:ext cx="0" cy="0"/>
          <a:chOff x="0" y="0"/>
          <a:chExt cx="0" cy="0"/>
        </a:xfrm>
      </p:grpSpPr>
      <p:sp>
        <p:nvSpPr>
          <p:cNvPr id="107" name="Google Shape;107;p22"/>
          <p:cNvSpPr txBox="1"/>
          <p:nvPr>
            <p:ph type="title"/>
          </p:nvPr>
        </p:nvSpPr>
        <p:spPr>
          <a:xfrm rot="5400000">
            <a:off x="5762417" y="1879790"/>
            <a:ext cx="4358879" cy="1146987"/>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Calibri"/>
              <a:buNone/>
              <a:defRPr sz="33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txBox="1"/>
          <p:nvPr>
            <p:ph idx="1" type="body"/>
          </p:nvPr>
        </p:nvSpPr>
        <p:spPr>
          <a:xfrm rot="5400000">
            <a:off x="1779195" y="-876701"/>
            <a:ext cx="4358879" cy="6659969"/>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400"/>
              <a:buNone/>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9" name="Google Shape;109;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0" name="Google Shape;110;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spTree>
      <p:nvGrpSpPr>
        <p:cNvPr id="112" name="Shape 112"/>
        <p:cNvGrpSpPr/>
        <p:nvPr/>
      </p:nvGrpSpPr>
      <p:grpSpPr>
        <a:xfrm>
          <a:off x="0" y="0"/>
          <a:ext cx="0" cy="0"/>
          <a:chOff x="0" y="0"/>
          <a:chExt cx="0" cy="0"/>
        </a:xfrm>
      </p:grpSpPr>
      <p:sp>
        <p:nvSpPr>
          <p:cNvPr id="113" name="Google Shape;113;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4" name="Google Shape;114;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5" name="Google Shape;115;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
        <p:nvSpPr>
          <p:cNvPr id="116" name="Google Shape;116;p23"/>
          <p:cNvSpPr txBox="1"/>
          <p:nvPr>
            <p:ph idx="1" type="body"/>
          </p:nvPr>
        </p:nvSpPr>
        <p:spPr>
          <a:xfrm>
            <a:off x="628650" y="413657"/>
            <a:ext cx="7886700" cy="4169228"/>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400"/>
              <a:buNone/>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7" name="Shape 1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75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accent4"/>
            </a:gs>
            <a:gs pos="13000">
              <a:schemeClr val="accent4"/>
            </a:gs>
            <a:gs pos="66000">
              <a:srgbClr val="FFF2CC"/>
            </a:gs>
            <a:gs pos="100000">
              <a:srgbClr val="FFF2CC"/>
            </a:gs>
          </a:gsLst>
          <a:lin ang="13500000" scaled="0"/>
        </a:gra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000"/>
              <a:buFont typeface="Calibri"/>
              <a:buNone/>
              <a:defRPr b="0" i="0" sz="30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90000"/>
              </a:lnSpc>
              <a:spcBef>
                <a:spcPts val="800"/>
              </a:spcBef>
              <a:spcAft>
                <a:spcPts val="0"/>
              </a:spcAft>
              <a:buClr>
                <a:schemeClr val="dk1"/>
              </a:buClr>
              <a:buSzPts val="2100"/>
              <a:buFont typeface="Arial"/>
              <a:buNone/>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rm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rm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mc:AlternateContent>
    <mc:Choice Requires="p14">
      <p:transition spd="slow" p14:dur="75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4.jpg"/><Relationship Id="rId6" Type="http://schemas.openxmlformats.org/officeDocument/2006/relationships/image" Target="../media/image2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2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4.jpg"/><Relationship Id="rId6" Type="http://schemas.openxmlformats.org/officeDocument/2006/relationships/image" Target="../media/image27.jpg"/><Relationship Id="rId7"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4.jpg"/><Relationship Id="rId6" Type="http://schemas.openxmlformats.org/officeDocument/2006/relationships/image" Target="../media/image27.jpg"/><Relationship Id="rId7" Type="http://schemas.openxmlformats.org/officeDocument/2006/relationships/image" Target="../media/image8.jpg"/><Relationship Id="rId8"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4.jpg"/><Relationship Id="rId9" Type="http://schemas.openxmlformats.org/officeDocument/2006/relationships/image" Target="../media/image2.png"/><Relationship Id="rId5" Type="http://schemas.openxmlformats.org/officeDocument/2006/relationships/image" Target="../media/image27.jpg"/><Relationship Id="rId6" Type="http://schemas.openxmlformats.org/officeDocument/2006/relationships/image" Target="../media/image8.jpg"/><Relationship Id="rId7" Type="http://schemas.openxmlformats.org/officeDocument/2006/relationships/image" Target="../media/image10.jpg"/><Relationship Id="rId8" Type="http://schemas.openxmlformats.org/officeDocument/2006/relationships/image" Target="../media/image5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1.png"/><Relationship Id="rId6" Type="http://schemas.openxmlformats.org/officeDocument/2006/relationships/image" Target="../media/image35.png"/><Relationship Id="rId7"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1.png"/><Relationship Id="rId6" Type="http://schemas.openxmlformats.org/officeDocument/2006/relationships/image" Target="../media/image25.png"/><Relationship Id="rId7" Type="http://schemas.openxmlformats.org/officeDocument/2006/relationships/image" Target="../media/image49.png"/><Relationship Id="rId8"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1.png"/><Relationship Id="rId6" Type="http://schemas.openxmlformats.org/officeDocument/2006/relationships/image" Target="../media/image36.png"/><Relationship Id="rId7"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5.png"/><Relationship Id="rId10" Type="http://schemas.openxmlformats.org/officeDocument/2006/relationships/image" Target="../media/image2.png"/><Relationship Id="rId9" Type="http://schemas.openxmlformats.org/officeDocument/2006/relationships/image" Target="../media/image45.png"/><Relationship Id="rId5" Type="http://schemas.openxmlformats.org/officeDocument/2006/relationships/image" Target="../media/image1.png"/><Relationship Id="rId6" Type="http://schemas.openxmlformats.org/officeDocument/2006/relationships/image" Target="../media/image48.png"/><Relationship Id="rId7" Type="http://schemas.openxmlformats.org/officeDocument/2006/relationships/image" Target="../media/image40.png"/><Relationship Id="rId8"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2.png"/><Relationship Id="rId11" Type="http://schemas.openxmlformats.org/officeDocument/2006/relationships/image" Target="../media/image30.png"/><Relationship Id="rId10" Type="http://schemas.openxmlformats.org/officeDocument/2006/relationships/image" Target="../media/image31.png"/><Relationship Id="rId12" Type="http://schemas.openxmlformats.org/officeDocument/2006/relationships/image" Target="../media/image32.png"/><Relationship Id="rId9" Type="http://schemas.openxmlformats.org/officeDocument/2006/relationships/image" Target="../media/image33.png"/><Relationship Id="rId5" Type="http://schemas.openxmlformats.org/officeDocument/2006/relationships/image" Target="../media/image43.png"/><Relationship Id="rId6" Type="http://schemas.openxmlformats.org/officeDocument/2006/relationships/image" Target="../media/image34.png"/><Relationship Id="rId7" Type="http://schemas.openxmlformats.org/officeDocument/2006/relationships/image" Target="../media/image47.png"/><Relationship Id="rId8"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1.png"/><Relationship Id="rId10" Type="http://schemas.openxmlformats.org/officeDocument/2006/relationships/image" Target="../media/image41.png"/><Relationship Id="rId9" Type="http://schemas.openxmlformats.org/officeDocument/2006/relationships/image" Target="../media/image39.png"/><Relationship Id="rId5" Type="http://schemas.openxmlformats.org/officeDocument/2006/relationships/image" Target="../media/image2.png"/><Relationship Id="rId6" Type="http://schemas.openxmlformats.org/officeDocument/2006/relationships/image" Target="../media/image88.jpg"/><Relationship Id="rId7" Type="http://schemas.openxmlformats.org/officeDocument/2006/relationships/image" Target="../media/image89.jpg"/><Relationship Id="rId8" Type="http://schemas.openxmlformats.org/officeDocument/2006/relationships/image" Target="../media/image8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png"/><Relationship Id="rId10" Type="http://schemas.openxmlformats.org/officeDocument/2006/relationships/image" Target="../media/image44.png"/><Relationship Id="rId9" Type="http://schemas.openxmlformats.org/officeDocument/2006/relationships/image" Target="../media/image12.png"/><Relationship Id="rId5" Type="http://schemas.openxmlformats.org/officeDocument/2006/relationships/image" Target="../media/image37.png"/><Relationship Id="rId6" Type="http://schemas.openxmlformats.org/officeDocument/2006/relationships/image" Target="../media/image60.png"/><Relationship Id="rId7" Type="http://schemas.openxmlformats.org/officeDocument/2006/relationships/image" Target="../media/image53.png"/><Relationship Id="rId8" Type="http://schemas.openxmlformats.org/officeDocument/2006/relationships/image" Target="../media/image52.png"/></Relationships>
</file>

<file path=ppt/slides/_rels/slide20.xml.rels><?xml version="1.0" encoding="UTF-8" standalone="yes"?><Relationships xmlns="http://schemas.openxmlformats.org/package/2006/relationships"><Relationship Id="rId11" Type="http://schemas.openxmlformats.org/officeDocument/2006/relationships/image" Target="../media/image65.png"/><Relationship Id="rId10" Type="http://schemas.openxmlformats.org/officeDocument/2006/relationships/image" Target="../media/image12.png"/><Relationship Id="rId13" Type="http://schemas.openxmlformats.org/officeDocument/2006/relationships/image" Target="../media/image74.png"/><Relationship Id="rId12" Type="http://schemas.openxmlformats.org/officeDocument/2006/relationships/image" Target="../media/image46.png"/><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54.png"/><Relationship Id="rId15" Type="http://schemas.openxmlformats.org/officeDocument/2006/relationships/image" Target="../media/image63.png"/><Relationship Id="rId14" Type="http://schemas.openxmlformats.org/officeDocument/2006/relationships/image" Target="../media/image57.png"/><Relationship Id="rId5" Type="http://schemas.openxmlformats.org/officeDocument/2006/relationships/image" Target="../media/image42.png"/><Relationship Id="rId6" Type="http://schemas.openxmlformats.org/officeDocument/2006/relationships/image" Target="../media/image51.png"/><Relationship Id="rId7" Type="http://schemas.openxmlformats.org/officeDocument/2006/relationships/image" Target="../media/image50.png"/><Relationship Id="rId8" Type="http://schemas.openxmlformats.org/officeDocument/2006/relationships/image" Target="../media/image75.png"/></Relationships>
</file>

<file path=ppt/slides/_rels/slide21.xml.rels><?xml version="1.0" encoding="UTF-8" standalone="yes"?><Relationships xmlns="http://schemas.openxmlformats.org/package/2006/relationships"><Relationship Id="rId11" Type="http://schemas.openxmlformats.org/officeDocument/2006/relationships/image" Target="../media/image72.png"/><Relationship Id="rId10" Type="http://schemas.openxmlformats.org/officeDocument/2006/relationships/image" Target="../media/image64.png"/><Relationship Id="rId12" Type="http://schemas.openxmlformats.org/officeDocument/2006/relationships/image" Target="../media/image66.png"/><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62.png"/><Relationship Id="rId5" Type="http://schemas.openxmlformats.org/officeDocument/2006/relationships/image" Target="../media/image56.png"/><Relationship Id="rId6" Type="http://schemas.openxmlformats.org/officeDocument/2006/relationships/image" Target="../media/image67.png"/><Relationship Id="rId7" Type="http://schemas.openxmlformats.org/officeDocument/2006/relationships/image" Target="../media/image58.png"/><Relationship Id="rId8"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70.png"/><Relationship Id="rId5" Type="http://schemas.openxmlformats.org/officeDocument/2006/relationships/image" Target="../media/image68.png"/><Relationship Id="rId6" Type="http://schemas.openxmlformats.org/officeDocument/2006/relationships/image" Target="../media/image59.png"/><Relationship Id="rId7" Type="http://schemas.openxmlformats.org/officeDocument/2006/relationships/image" Target="../media/image76.png"/><Relationship Id="rId8" Type="http://schemas.openxmlformats.org/officeDocument/2006/relationships/image" Target="../media/image8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91.png"/><Relationship Id="rId4" Type="http://schemas.openxmlformats.org/officeDocument/2006/relationships/image" Target="../media/image82.png"/><Relationship Id="rId5" Type="http://schemas.openxmlformats.org/officeDocument/2006/relationships/image" Target="../media/image1.png"/><Relationship Id="rId6" Type="http://schemas.openxmlformats.org/officeDocument/2006/relationships/image" Target="../media/image90.png"/><Relationship Id="rId7" Type="http://schemas.openxmlformats.org/officeDocument/2006/relationships/image" Target="../media/image2.png"/></Relationships>
</file>

<file path=ppt/slides/_rels/slide24.xml.rels><?xml version="1.0" encoding="UTF-8" standalone="yes"?><Relationships xmlns="http://schemas.openxmlformats.org/package/2006/relationships"><Relationship Id="rId11" Type="http://schemas.openxmlformats.org/officeDocument/2006/relationships/image" Target="../media/image81.png"/><Relationship Id="rId10" Type="http://schemas.openxmlformats.org/officeDocument/2006/relationships/image" Target="../media/image84.png"/><Relationship Id="rId12" Type="http://schemas.openxmlformats.org/officeDocument/2006/relationships/image" Target="../media/image2.png"/><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73.png"/><Relationship Id="rId4" Type="http://schemas.openxmlformats.org/officeDocument/2006/relationships/image" Target="../media/image78.png"/><Relationship Id="rId9" Type="http://schemas.openxmlformats.org/officeDocument/2006/relationships/image" Target="../media/image71.png"/><Relationship Id="rId5" Type="http://schemas.openxmlformats.org/officeDocument/2006/relationships/image" Target="../media/image85.png"/><Relationship Id="rId6" Type="http://schemas.openxmlformats.org/officeDocument/2006/relationships/image" Target="../media/image1.png"/><Relationship Id="rId7" Type="http://schemas.openxmlformats.org/officeDocument/2006/relationships/image" Target="../media/image77.png"/><Relationship Id="rId8" Type="http://schemas.openxmlformats.org/officeDocument/2006/relationships/image" Target="../media/image8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8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5"/>
          <p:cNvSpPr txBox="1"/>
          <p:nvPr>
            <p:ph type="ctrTitle"/>
          </p:nvPr>
        </p:nvSpPr>
        <p:spPr>
          <a:xfrm>
            <a:off x="323850" y="187166"/>
            <a:ext cx="8496776" cy="733901"/>
          </a:xfrm>
          <a:prstGeom prst="rect">
            <a:avLst/>
          </a:prstGeom>
          <a:noFill/>
          <a:ln>
            <a:noFill/>
          </a:ln>
        </p:spPr>
        <p:txBody>
          <a:bodyPr anchorCtr="0" anchor="b" bIns="34275" lIns="68575" spcFirstLastPara="1" rIns="68575" wrap="square" tIns="34275">
            <a:normAutofit fontScale="90000"/>
          </a:bodyPr>
          <a:lstStyle/>
          <a:p>
            <a:pPr indent="0" lvl="0" marL="0" rtl="0" algn="ctr">
              <a:lnSpc>
                <a:spcPct val="130000"/>
              </a:lnSpc>
              <a:spcBef>
                <a:spcPts val="0"/>
              </a:spcBef>
              <a:spcAft>
                <a:spcPts val="0"/>
              </a:spcAft>
              <a:buClr>
                <a:srgbClr val="BF9000"/>
              </a:buClr>
              <a:buSzPct val="100000"/>
              <a:buFont typeface="Arial"/>
              <a:buNone/>
            </a:pPr>
            <a:r>
              <a:rPr b="1" lang="fr">
                <a:solidFill>
                  <a:srgbClr val="BF9000"/>
                </a:solidFill>
                <a:latin typeface="Comic Sans MS"/>
                <a:ea typeface="Comic Sans MS"/>
                <a:cs typeface="Comic Sans MS"/>
                <a:sym typeface="Comic Sans MS"/>
              </a:rPr>
              <a:t>PROJET ELECTRONIQUE :</a:t>
            </a:r>
            <a:endParaRPr b="1">
              <a:solidFill>
                <a:srgbClr val="BF9000"/>
              </a:solidFill>
              <a:latin typeface="Comic Sans MS"/>
              <a:ea typeface="Comic Sans MS"/>
              <a:cs typeface="Comic Sans MS"/>
              <a:sym typeface="Comic Sans MS"/>
            </a:endParaRPr>
          </a:p>
        </p:txBody>
      </p:sp>
      <p:sp>
        <p:nvSpPr>
          <p:cNvPr id="123" name="Google Shape;123;p25"/>
          <p:cNvSpPr txBox="1"/>
          <p:nvPr/>
        </p:nvSpPr>
        <p:spPr>
          <a:xfrm>
            <a:off x="3315652" y="900113"/>
            <a:ext cx="2512219" cy="718661"/>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i="0" lang="fr" sz="3300" u="none" cap="none" strike="noStrike">
                <a:solidFill>
                  <a:srgbClr val="FFC000"/>
                </a:solidFill>
                <a:latin typeface="Comic Sans MS"/>
                <a:ea typeface="Comic Sans MS"/>
                <a:cs typeface="Comic Sans MS"/>
                <a:sym typeface="Comic Sans MS"/>
              </a:rPr>
              <a:t>BEEWARM</a:t>
            </a:r>
            <a:endParaRPr b="1" i="0" sz="3300" u="none" cap="none" strike="noStrike">
              <a:solidFill>
                <a:srgbClr val="FFC000"/>
              </a:solidFill>
              <a:latin typeface="Comic Sans MS"/>
              <a:ea typeface="Comic Sans MS"/>
              <a:cs typeface="Comic Sans MS"/>
              <a:sym typeface="Comic Sans MS"/>
            </a:endParaRPr>
          </a:p>
        </p:txBody>
      </p:sp>
      <p:sp>
        <p:nvSpPr>
          <p:cNvPr id="124" name="Google Shape;124;p25"/>
          <p:cNvSpPr txBox="1"/>
          <p:nvPr/>
        </p:nvSpPr>
        <p:spPr>
          <a:xfrm>
            <a:off x="323850" y="2864175"/>
            <a:ext cx="2582700" cy="2130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i="0" lang="fr" sz="1800" u="none" cap="none" strike="noStrike">
                <a:solidFill>
                  <a:schemeClr val="accent2"/>
                </a:solidFill>
                <a:latin typeface="Calibri"/>
                <a:ea typeface="Calibri"/>
                <a:cs typeface="Calibri"/>
                <a:sym typeface="Calibri"/>
              </a:rPr>
              <a:t>Eya ZAOUN</a:t>
            </a:r>
            <a:endParaRPr b="1" sz="1800">
              <a:solidFill>
                <a:schemeClr val="accent2"/>
              </a:solidFill>
              <a:latin typeface="Calibri"/>
              <a:ea typeface="Calibri"/>
              <a:cs typeface="Calibri"/>
              <a:sym typeface="Calibri"/>
            </a:endParaRPr>
          </a:p>
          <a:p>
            <a:pPr indent="0" lvl="0" marL="0" marR="0" rtl="0" algn="l">
              <a:spcBef>
                <a:spcPts val="0"/>
              </a:spcBef>
              <a:spcAft>
                <a:spcPts val="0"/>
              </a:spcAft>
              <a:buNone/>
            </a:pPr>
            <a:r>
              <a:rPr b="1" lang="fr" sz="1800">
                <a:solidFill>
                  <a:schemeClr val="accent2"/>
                </a:solidFill>
                <a:latin typeface="Calibri"/>
                <a:ea typeface="Calibri"/>
                <a:cs typeface="Calibri"/>
                <a:sym typeface="Calibri"/>
              </a:rPr>
              <a:t>Valentin GIROD-ROUX</a:t>
            </a:r>
            <a:br>
              <a:rPr b="1" lang="fr" sz="1800">
                <a:solidFill>
                  <a:schemeClr val="accent2"/>
                </a:solidFill>
                <a:latin typeface="Calibri"/>
                <a:ea typeface="Calibri"/>
                <a:cs typeface="Calibri"/>
                <a:sym typeface="Calibri"/>
              </a:rPr>
            </a:br>
            <a:r>
              <a:rPr b="1" lang="fr" sz="1800">
                <a:solidFill>
                  <a:schemeClr val="accent2"/>
                </a:solidFill>
                <a:latin typeface="Calibri"/>
                <a:ea typeface="Calibri"/>
                <a:cs typeface="Calibri"/>
                <a:sym typeface="Calibri"/>
              </a:rPr>
              <a:t>Hussein ELSOUDA</a:t>
            </a:r>
            <a:endParaRPr b="1" sz="1800">
              <a:solidFill>
                <a:schemeClr val="accent2"/>
              </a:solidFill>
              <a:latin typeface="Calibri"/>
              <a:ea typeface="Calibri"/>
              <a:cs typeface="Calibri"/>
              <a:sym typeface="Calibri"/>
            </a:endParaRPr>
          </a:p>
          <a:p>
            <a:pPr indent="0" lvl="0" marL="0" marR="0" rtl="0" algn="l">
              <a:spcBef>
                <a:spcPts val="0"/>
              </a:spcBef>
              <a:spcAft>
                <a:spcPts val="0"/>
              </a:spcAft>
              <a:buNone/>
            </a:pPr>
            <a:r>
              <a:rPr b="1" lang="fr" sz="1800">
                <a:solidFill>
                  <a:schemeClr val="accent2"/>
                </a:solidFill>
                <a:latin typeface="Calibri"/>
                <a:ea typeface="Calibri"/>
                <a:cs typeface="Calibri"/>
                <a:sym typeface="Calibri"/>
              </a:rPr>
              <a:t>Anas ESSALIMI</a:t>
            </a:r>
            <a:endParaRPr b="1" sz="1800">
              <a:solidFill>
                <a:schemeClr val="accent2"/>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accent2"/>
              </a:solidFill>
              <a:latin typeface="Calibri"/>
              <a:ea typeface="Calibri"/>
              <a:cs typeface="Calibri"/>
              <a:sym typeface="Calibri"/>
            </a:endParaRPr>
          </a:p>
          <a:p>
            <a:pPr indent="0" lvl="0" marL="0" marR="0" rtl="0" algn="l">
              <a:spcBef>
                <a:spcPts val="0"/>
              </a:spcBef>
              <a:spcAft>
                <a:spcPts val="0"/>
              </a:spcAft>
              <a:buNone/>
            </a:pPr>
            <a:r>
              <a:rPr b="1" lang="fr" sz="1800">
                <a:solidFill>
                  <a:schemeClr val="accent2"/>
                </a:solidFill>
                <a:latin typeface="Calibri"/>
                <a:ea typeface="Calibri"/>
                <a:cs typeface="Calibri"/>
                <a:sym typeface="Calibri"/>
              </a:rPr>
              <a:t>Électronique et Systèmes Embarqués - 2025/2026</a:t>
            </a:r>
            <a:endParaRPr b="1" sz="1800">
              <a:solidFill>
                <a:schemeClr val="accent2"/>
              </a:solidFill>
              <a:latin typeface="Calibri"/>
              <a:ea typeface="Calibri"/>
              <a:cs typeface="Calibri"/>
              <a:sym typeface="Calibri"/>
            </a:endParaRPr>
          </a:p>
        </p:txBody>
      </p:sp>
      <p:pic>
        <p:nvPicPr>
          <p:cNvPr descr="Logo_Reseau_Polytech" id="125" name="Google Shape;125;p25"/>
          <p:cNvPicPr preferRelativeResize="0"/>
          <p:nvPr/>
        </p:nvPicPr>
        <p:blipFill rotWithShape="1">
          <a:blip r:embed="rId3">
            <a:alphaModFix/>
          </a:blip>
          <a:srcRect b="0" l="0" r="0" t="0"/>
          <a:stretch/>
        </p:blipFill>
        <p:spPr>
          <a:xfrm>
            <a:off x="7031355" y="3784283"/>
            <a:ext cx="1657350" cy="1056322"/>
          </a:xfrm>
          <a:prstGeom prst="rect">
            <a:avLst/>
          </a:prstGeom>
          <a:noFill/>
          <a:ln>
            <a:noFill/>
          </a:ln>
        </p:spPr>
      </p:pic>
      <p:pic>
        <p:nvPicPr>
          <p:cNvPr descr="ChatGPT Image 25 oct. 2025, 20_07_55" id="126" name="Google Shape;126;p25"/>
          <p:cNvPicPr preferRelativeResize="0"/>
          <p:nvPr/>
        </p:nvPicPr>
        <p:blipFill rotWithShape="1">
          <a:blip r:embed="rId4">
            <a:alphaModFix/>
          </a:blip>
          <a:srcRect b="23402" l="0" r="52050" t="25959"/>
          <a:stretch/>
        </p:blipFill>
        <p:spPr>
          <a:xfrm>
            <a:off x="710565" y="1371600"/>
            <a:ext cx="1158716" cy="1225391"/>
          </a:xfrm>
          <a:prstGeom prst="rect">
            <a:avLst/>
          </a:prstGeom>
          <a:noFill/>
          <a:ln>
            <a:noFill/>
          </a:ln>
        </p:spPr>
      </p:pic>
      <p:pic>
        <p:nvPicPr>
          <p:cNvPr id="127" name="Google Shape;127;p25"/>
          <p:cNvPicPr preferRelativeResize="0"/>
          <p:nvPr/>
        </p:nvPicPr>
        <p:blipFill rotWithShape="1">
          <a:blip r:embed="rId5">
            <a:alphaModFix/>
          </a:blip>
          <a:srcRect b="26159" l="0" r="0" t="11523"/>
          <a:stretch/>
        </p:blipFill>
        <p:spPr>
          <a:xfrm>
            <a:off x="2742724" y="2864168"/>
            <a:ext cx="3657600" cy="2279332"/>
          </a:xfrm>
          <a:prstGeom prst="rect">
            <a:avLst/>
          </a:prstGeom>
          <a:noFill/>
          <a:ln>
            <a:noFill/>
          </a:ln>
        </p:spPr>
      </p:pic>
      <p:pic>
        <p:nvPicPr>
          <p:cNvPr id="128" name="Google Shape;128;p25"/>
          <p:cNvPicPr preferRelativeResize="0"/>
          <p:nvPr/>
        </p:nvPicPr>
        <p:blipFill rotWithShape="1">
          <a:blip r:embed="rId6">
            <a:alphaModFix/>
          </a:blip>
          <a:srcRect b="0" l="0" r="0" t="0"/>
          <a:stretch/>
        </p:blipFill>
        <p:spPr>
          <a:xfrm>
            <a:off x="3920014" y="1371600"/>
            <a:ext cx="1556861" cy="1556861"/>
          </a:xfrm>
          <a:prstGeom prst="rect">
            <a:avLst/>
          </a:prstGeom>
          <a:noFill/>
          <a:ln>
            <a:noFill/>
          </a:ln>
        </p:spPr>
      </p:pic>
      <p:pic>
        <p:nvPicPr>
          <p:cNvPr descr="dino_poly-removebg-preview" id="129" name="Google Shape;129;p25"/>
          <p:cNvPicPr preferRelativeResize="0"/>
          <p:nvPr/>
        </p:nvPicPr>
        <p:blipFill rotWithShape="1">
          <a:blip r:embed="rId7">
            <a:alphaModFix/>
          </a:blip>
          <a:srcRect b="0" l="0" r="0" t="0"/>
          <a:stretch/>
        </p:blipFill>
        <p:spPr>
          <a:xfrm>
            <a:off x="7644765" y="3884295"/>
            <a:ext cx="924877" cy="705803"/>
          </a:xfrm>
          <a:prstGeom prst="rect">
            <a:avLst/>
          </a:prstGeom>
          <a:noFill/>
          <a:ln>
            <a:noFill/>
          </a:ln>
        </p:spPr>
      </p:pic>
    </p:spTree>
  </p:cSld>
  <p:clrMapOvr>
    <a:masterClrMapping/>
  </p:clrMapOvr>
  <mc:AlternateContent>
    <mc:Choice Requires="p14">
      <p:transition spd="slow" p14:dur="75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29"/>
                                        </p:tgtEl>
                                        <p:attrNameLst>
                                          <p:attrName>style.visibility</p:attrName>
                                        </p:attrNameLst>
                                      </p:cBhvr>
                                      <p:to>
                                        <p:strVal val="visible"/>
                                      </p:to>
                                    </p:set>
                                    <p:anim calcmode="lin" valueType="num">
                                      <p:cBhvr additive="base">
                                        <p:cTn dur="2000"/>
                                        <p:tgtEl>
                                          <p:spTgt spid="12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26"/>
                                        </p:tgtEl>
                                        <p:attrNameLst>
                                          <p:attrName>style.visibility</p:attrName>
                                        </p:attrNameLst>
                                      </p:cBhvr>
                                      <p:to>
                                        <p:strVal val="visible"/>
                                      </p:to>
                                    </p:set>
                                    <p:anim calcmode="lin" valueType="num">
                                      <p:cBhvr additive="base">
                                        <p:cTn dur="2000"/>
                                        <p:tgtEl>
                                          <p:spTgt spid="126"/>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2000"/>
                                        <p:tgtEl>
                                          <p:spTgt spid="1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342900" y="160496"/>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000"/>
              <a:buFont typeface="Algerian"/>
              <a:buNone/>
            </a:pPr>
            <a:r>
              <a:rPr lang="fr" sz="3000">
                <a:solidFill>
                  <a:srgbClr val="BF9000"/>
                </a:solidFill>
                <a:latin typeface="Algerian"/>
                <a:ea typeface="Algerian"/>
                <a:cs typeface="Algerian"/>
                <a:sym typeface="Algerian"/>
              </a:rPr>
              <a:t>SOMMAIRE</a:t>
            </a:r>
            <a:endParaRPr sz="3000">
              <a:solidFill>
                <a:srgbClr val="BF9000"/>
              </a:solidFill>
              <a:latin typeface="Algerian"/>
              <a:ea typeface="Algerian"/>
              <a:cs typeface="Algerian"/>
              <a:sym typeface="Algerian"/>
            </a:endParaRPr>
          </a:p>
        </p:txBody>
      </p:sp>
      <p:pic>
        <p:nvPicPr>
          <p:cNvPr descr="ChatGPT Image 25 oct. 2025, 20_11_13" id="135" name="Google Shape;135;p26"/>
          <p:cNvPicPr preferRelativeResize="0"/>
          <p:nvPr/>
        </p:nvPicPr>
        <p:blipFill rotWithShape="1">
          <a:blip r:embed="rId3">
            <a:alphaModFix/>
          </a:blip>
          <a:srcRect b="0" l="0" r="0" t="0"/>
          <a:stretch/>
        </p:blipFill>
        <p:spPr>
          <a:xfrm>
            <a:off x="4264343" y="4527709"/>
            <a:ext cx="615791" cy="615791"/>
          </a:xfrm>
          <a:prstGeom prst="rect">
            <a:avLst/>
          </a:prstGeom>
          <a:noFill/>
          <a:ln>
            <a:noFill/>
          </a:ln>
        </p:spPr>
      </p:pic>
      <p:pic>
        <p:nvPicPr>
          <p:cNvPr descr="ChatGPT Image 25 oct. 2025, 20_07_55" id="136" name="Google Shape;136;p26"/>
          <p:cNvPicPr preferRelativeResize="0"/>
          <p:nvPr/>
        </p:nvPicPr>
        <p:blipFill rotWithShape="1">
          <a:blip r:embed="rId4">
            <a:alphaModFix/>
          </a:blip>
          <a:srcRect b="23402" l="0" r="52050" t="25959"/>
          <a:stretch/>
        </p:blipFill>
        <p:spPr>
          <a:xfrm flipH="1">
            <a:off x="6298883" y="211455"/>
            <a:ext cx="736282" cy="778669"/>
          </a:xfrm>
          <a:prstGeom prst="rect">
            <a:avLst/>
          </a:prstGeom>
          <a:noFill/>
          <a:ln>
            <a:noFill/>
          </a:ln>
        </p:spPr>
      </p:pic>
      <p:sp>
        <p:nvSpPr>
          <p:cNvPr id="137" name="Google Shape;137;p26"/>
          <p:cNvSpPr txBox="1"/>
          <p:nvPr/>
        </p:nvSpPr>
        <p:spPr>
          <a:xfrm>
            <a:off x="4434840" y="4686300"/>
            <a:ext cx="273844" cy="29908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1</a:t>
            </a:r>
            <a:endParaRPr b="1" sz="1500">
              <a:solidFill>
                <a:srgbClr val="7F6000"/>
              </a:solidFill>
              <a:latin typeface="Arial Rounded"/>
              <a:ea typeface="Arial Rounded"/>
              <a:cs typeface="Arial Rounded"/>
              <a:sym typeface="Arial Rounded"/>
            </a:endParaRPr>
          </a:p>
        </p:txBody>
      </p:sp>
      <p:sp>
        <p:nvSpPr>
          <p:cNvPr id="138" name="Google Shape;138;p26"/>
          <p:cNvSpPr txBox="1"/>
          <p:nvPr/>
        </p:nvSpPr>
        <p:spPr>
          <a:xfrm>
            <a:off x="461486" y="1191577"/>
            <a:ext cx="4110038" cy="2760345"/>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 name="Google Shape;139;p26"/>
          <p:cNvSpPr txBox="1"/>
          <p:nvPr/>
        </p:nvSpPr>
        <p:spPr>
          <a:xfrm>
            <a:off x="461475" y="1087300"/>
            <a:ext cx="5837400" cy="3440400"/>
          </a:xfrm>
          <a:prstGeom prst="rect">
            <a:avLst/>
          </a:prstGeom>
          <a:noFill/>
          <a:ln>
            <a:noFill/>
          </a:ln>
        </p:spPr>
        <p:txBody>
          <a:bodyPr anchorCtr="0" anchor="t" bIns="34275" lIns="68575" spcFirstLastPara="1" rIns="68575" wrap="square" tIns="34275">
            <a:noAutofit/>
          </a:bodyPr>
          <a:lstStyle/>
          <a:p>
            <a:pPr indent="-330200" lvl="0" marL="457200" marR="0" rtl="0" algn="l">
              <a:lnSpc>
                <a:spcPct val="90000"/>
              </a:lnSpc>
              <a:spcBef>
                <a:spcPts val="0"/>
              </a:spcBef>
              <a:spcAft>
                <a:spcPts val="0"/>
              </a:spcAft>
              <a:buClr>
                <a:srgbClr val="85200C"/>
              </a:buClr>
              <a:buSzPts val="1600"/>
              <a:buFont typeface="Algerian"/>
              <a:buAutoNum type="arabicPeriod"/>
            </a:pPr>
            <a:r>
              <a:rPr b="1" lang="fr" sz="1600">
                <a:solidFill>
                  <a:srgbClr val="85200C"/>
                </a:solidFill>
                <a:latin typeface="Algerian"/>
                <a:ea typeface="Algerian"/>
                <a:cs typeface="Algerian"/>
                <a:sym typeface="Algerian"/>
              </a:rPr>
              <a:t>RAPPEL Contexte et problématique</a:t>
            </a:r>
            <a:endParaRPr b="1" sz="1600">
              <a:solidFill>
                <a:srgbClr val="85200C"/>
              </a:solidFill>
              <a:latin typeface="Algerian"/>
              <a:ea typeface="Algerian"/>
              <a:cs typeface="Algerian"/>
              <a:sym typeface="Algerian"/>
            </a:endParaRPr>
          </a:p>
          <a:p>
            <a:pPr indent="0" lvl="0" marL="457200" marR="0" rtl="0" algn="l">
              <a:lnSpc>
                <a:spcPct val="90000"/>
              </a:lnSpc>
              <a:spcBef>
                <a:spcPts val="0"/>
              </a:spcBef>
              <a:spcAft>
                <a:spcPts val="0"/>
              </a:spcAft>
              <a:buNone/>
            </a:pPr>
            <a:r>
              <a:t/>
            </a:r>
            <a:endParaRPr b="1" sz="1600">
              <a:solidFill>
                <a:srgbClr val="85200C"/>
              </a:solidFill>
              <a:latin typeface="Algerian"/>
              <a:ea typeface="Algerian"/>
              <a:cs typeface="Algerian"/>
              <a:sym typeface="Algerian"/>
            </a:endParaRPr>
          </a:p>
          <a:p>
            <a:pPr indent="-330200" lvl="0" marL="457200" marR="0" rtl="0" algn="l">
              <a:lnSpc>
                <a:spcPct val="90000"/>
              </a:lnSpc>
              <a:spcBef>
                <a:spcPts val="0"/>
              </a:spcBef>
              <a:spcAft>
                <a:spcPts val="0"/>
              </a:spcAft>
              <a:buClr>
                <a:srgbClr val="85200C"/>
              </a:buClr>
              <a:buSzPts val="1600"/>
              <a:buFont typeface="Algerian"/>
              <a:buAutoNum type="arabicPeriod"/>
            </a:pPr>
            <a:r>
              <a:rPr b="1" lang="fr" sz="1600">
                <a:solidFill>
                  <a:srgbClr val="85200C"/>
                </a:solidFill>
                <a:latin typeface="Algerian"/>
                <a:ea typeface="Algerian"/>
                <a:cs typeface="Algerian"/>
                <a:sym typeface="Algerian"/>
              </a:rPr>
              <a:t>Fonctionnement du PCB</a:t>
            </a:r>
            <a:endParaRPr b="1" sz="1600">
              <a:solidFill>
                <a:srgbClr val="85200C"/>
              </a:solidFill>
              <a:latin typeface="Algerian"/>
              <a:ea typeface="Algerian"/>
              <a:cs typeface="Algerian"/>
              <a:sym typeface="Algerian"/>
            </a:endParaRPr>
          </a:p>
          <a:p>
            <a:pPr indent="0" lvl="0" marL="457200" marR="0" rtl="0" algn="l">
              <a:lnSpc>
                <a:spcPct val="90000"/>
              </a:lnSpc>
              <a:spcBef>
                <a:spcPts val="0"/>
              </a:spcBef>
              <a:spcAft>
                <a:spcPts val="0"/>
              </a:spcAft>
              <a:buNone/>
            </a:pPr>
            <a:r>
              <a:t/>
            </a:r>
            <a:endParaRPr b="1" sz="1600">
              <a:solidFill>
                <a:srgbClr val="85200C"/>
              </a:solidFill>
              <a:latin typeface="Algerian"/>
              <a:ea typeface="Algerian"/>
              <a:cs typeface="Algerian"/>
              <a:sym typeface="Algerian"/>
            </a:endParaRPr>
          </a:p>
          <a:p>
            <a:pPr indent="-330200" lvl="0" marL="457200" marR="0" rtl="0" algn="l">
              <a:lnSpc>
                <a:spcPct val="90000"/>
              </a:lnSpc>
              <a:spcBef>
                <a:spcPts val="0"/>
              </a:spcBef>
              <a:spcAft>
                <a:spcPts val="0"/>
              </a:spcAft>
              <a:buClr>
                <a:srgbClr val="85200C"/>
              </a:buClr>
              <a:buSzPts val="1600"/>
              <a:buFont typeface="Algerian"/>
              <a:buAutoNum type="arabicPeriod"/>
            </a:pPr>
            <a:r>
              <a:rPr b="1" lang="fr" sz="1600">
                <a:solidFill>
                  <a:srgbClr val="85200C"/>
                </a:solidFill>
                <a:latin typeface="Algerian"/>
                <a:ea typeface="Algerian"/>
                <a:cs typeface="Algerian"/>
                <a:sym typeface="Algerian"/>
              </a:rPr>
              <a:t>Schématique et Layout sur EAGLE</a:t>
            </a:r>
            <a:endParaRPr b="1" sz="1600">
              <a:solidFill>
                <a:srgbClr val="85200C"/>
              </a:solidFill>
              <a:latin typeface="Algerian"/>
              <a:ea typeface="Algerian"/>
              <a:cs typeface="Algerian"/>
              <a:sym typeface="Algerian"/>
            </a:endParaRPr>
          </a:p>
          <a:p>
            <a:pPr indent="0" lvl="0" marL="457200" marR="0" rtl="0" algn="l">
              <a:lnSpc>
                <a:spcPct val="90000"/>
              </a:lnSpc>
              <a:spcBef>
                <a:spcPts val="0"/>
              </a:spcBef>
              <a:spcAft>
                <a:spcPts val="0"/>
              </a:spcAft>
              <a:buNone/>
            </a:pPr>
            <a:r>
              <a:t/>
            </a:r>
            <a:endParaRPr b="1" sz="1600">
              <a:solidFill>
                <a:srgbClr val="85200C"/>
              </a:solidFill>
              <a:latin typeface="Algerian"/>
              <a:ea typeface="Algerian"/>
              <a:cs typeface="Algerian"/>
              <a:sym typeface="Algerian"/>
            </a:endParaRPr>
          </a:p>
          <a:p>
            <a:pPr indent="-330200" lvl="0" marL="457200" marR="0" rtl="0" algn="l">
              <a:lnSpc>
                <a:spcPct val="90000"/>
              </a:lnSpc>
              <a:spcBef>
                <a:spcPts val="0"/>
              </a:spcBef>
              <a:spcAft>
                <a:spcPts val="0"/>
              </a:spcAft>
              <a:buClr>
                <a:srgbClr val="85200C"/>
              </a:buClr>
              <a:buSzPts val="1600"/>
              <a:buFont typeface="Algerian"/>
              <a:buAutoNum type="arabicPeriod"/>
            </a:pPr>
            <a:r>
              <a:rPr b="1" lang="fr" sz="1600">
                <a:solidFill>
                  <a:srgbClr val="85200C"/>
                </a:solidFill>
                <a:latin typeface="Algerian"/>
                <a:ea typeface="Algerian"/>
                <a:cs typeface="Algerian"/>
                <a:sym typeface="Algerian"/>
              </a:rPr>
              <a:t>Modélisation et impression 3D des pièces mécaniques</a:t>
            </a:r>
            <a:endParaRPr b="1" sz="1600">
              <a:solidFill>
                <a:srgbClr val="85200C"/>
              </a:solidFill>
              <a:latin typeface="Algerian"/>
              <a:ea typeface="Algerian"/>
              <a:cs typeface="Algerian"/>
              <a:sym typeface="Algerian"/>
            </a:endParaRPr>
          </a:p>
          <a:p>
            <a:pPr indent="0" lvl="0" marL="457200" marR="0" rtl="0" algn="l">
              <a:lnSpc>
                <a:spcPct val="90000"/>
              </a:lnSpc>
              <a:spcBef>
                <a:spcPts val="0"/>
              </a:spcBef>
              <a:spcAft>
                <a:spcPts val="0"/>
              </a:spcAft>
              <a:buNone/>
            </a:pPr>
            <a:r>
              <a:t/>
            </a:r>
            <a:endParaRPr b="1" sz="1600">
              <a:solidFill>
                <a:srgbClr val="85200C"/>
              </a:solidFill>
              <a:latin typeface="Algerian"/>
              <a:ea typeface="Algerian"/>
              <a:cs typeface="Algerian"/>
              <a:sym typeface="Algerian"/>
            </a:endParaRPr>
          </a:p>
          <a:p>
            <a:pPr indent="-330200" lvl="0" marL="457200" marR="0" rtl="0" algn="l">
              <a:lnSpc>
                <a:spcPct val="90000"/>
              </a:lnSpc>
              <a:spcBef>
                <a:spcPts val="0"/>
              </a:spcBef>
              <a:spcAft>
                <a:spcPts val="0"/>
              </a:spcAft>
              <a:buClr>
                <a:srgbClr val="85200C"/>
              </a:buClr>
              <a:buSzPts val="1600"/>
              <a:buFont typeface="Algerian"/>
              <a:buAutoNum type="arabicPeriod"/>
            </a:pPr>
            <a:r>
              <a:rPr b="1" lang="fr" sz="1600">
                <a:solidFill>
                  <a:srgbClr val="85200C"/>
                </a:solidFill>
                <a:latin typeface="Algerian"/>
                <a:ea typeface="Algerian"/>
                <a:cs typeface="Algerian"/>
                <a:sym typeface="Algerian"/>
              </a:rPr>
              <a:t>Assemblage des composants du PCB</a:t>
            </a:r>
            <a:endParaRPr b="1" sz="1600">
              <a:solidFill>
                <a:srgbClr val="85200C"/>
              </a:solidFill>
              <a:latin typeface="Algerian"/>
              <a:ea typeface="Algerian"/>
              <a:cs typeface="Algerian"/>
              <a:sym typeface="Algerian"/>
            </a:endParaRPr>
          </a:p>
          <a:p>
            <a:pPr indent="0" lvl="0" marL="457200" marR="0" rtl="0" algn="l">
              <a:lnSpc>
                <a:spcPct val="90000"/>
              </a:lnSpc>
              <a:spcBef>
                <a:spcPts val="0"/>
              </a:spcBef>
              <a:spcAft>
                <a:spcPts val="0"/>
              </a:spcAft>
              <a:buNone/>
            </a:pPr>
            <a:r>
              <a:t/>
            </a:r>
            <a:endParaRPr b="1" sz="1600">
              <a:solidFill>
                <a:srgbClr val="85200C"/>
              </a:solidFill>
              <a:latin typeface="Algerian"/>
              <a:ea typeface="Algerian"/>
              <a:cs typeface="Algerian"/>
              <a:sym typeface="Algerian"/>
            </a:endParaRPr>
          </a:p>
          <a:p>
            <a:pPr indent="-330200" lvl="0" marL="457200" marR="0" rtl="0" algn="l">
              <a:lnSpc>
                <a:spcPct val="90000"/>
              </a:lnSpc>
              <a:spcBef>
                <a:spcPts val="0"/>
              </a:spcBef>
              <a:spcAft>
                <a:spcPts val="0"/>
              </a:spcAft>
              <a:buClr>
                <a:srgbClr val="85200C"/>
              </a:buClr>
              <a:buSzPts val="1600"/>
              <a:buFont typeface="Algerian"/>
              <a:buAutoNum type="arabicPeriod"/>
            </a:pPr>
            <a:r>
              <a:rPr b="1" lang="fr" sz="1600">
                <a:solidFill>
                  <a:srgbClr val="85200C"/>
                </a:solidFill>
                <a:latin typeface="Algerian"/>
                <a:ea typeface="Algerian"/>
                <a:cs typeface="Algerian"/>
                <a:sym typeface="Algerian"/>
              </a:rPr>
              <a:t>Algorithme MPPT et optimisation de l’énergie</a:t>
            </a:r>
            <a:endParaRPr b="1" sz="1600">
              <a:solidFill>
                <a:srgbClr val="85200C"/>
              </a:solidFill>
              <a:latin typeface="Algerian"/>
              <a:ea typeface="Algerian"/>
              <a:cs typeface="Algerian"/>
              <a:sym typeface="Algerian"/>
            </a:endParaRPr>
          </a:p>
          <a:p>
            <a:pPr indent="0" lvl="0" marL="457200" marR="0" rtl="0" algn="l">
              <a:lnSpc>
                <a:spcPct val="90000"/>
              </a:lnSpc>
              <a:spcBef>
                <a:spcPts val="0"/>
              </a:spcBef>
              <a:spcAft>
                <a:spcPts val="0"/>
              </a:spcAft>
              <a:buNone/>
            </a:pPr>
            <a:r>
              <a:t/>
            </a:r>
            <a:endParaRPr b="1" sz="1600">
              <a:solidFill>
                <a:srgbClr val="85200C"/>
              </a:solidFill>
              <a:latin typeface="Algerian"/>
              <a:ea typeface="Algerian"/>
              <a:cs typeface="Algerian"/>
              <a:sym typeface="Algerian"/>
            </a:endParaRPr>
          </a:p>
          <a:p>
            <a:pPr indent="-330200" lvl="0" marL="457200" marR="0" rtl="0" algn="l">
              <a:lnSpc>
                <a:spcPct val="90000"/>
              </a:lnSpc>
              <a:spcBef>
                <a:spcPts val="0"/>
              </a:spcBef>
              <a:spcAft>
                <a:spcPts val="0"/>
              </a:spcAft>
              <a:buClr>
                <a:srgbClr val="85200C"/>
              </a:buClr>
              <a:buSzPts val="1600"/>
              <a:buFont typeface="Algerian"/>
              <a:buAutoNum type="arabicPeriod"/>
            </a:pPr>
            <a:r>
              <a:rPr b="1" lang="fr" sz="1600">
                <a:solidFill>
                  <a:srgbClr val="85200C"/>
                </a:solidFill>
                <a:latin typeface="Algerian"/>
                <a:ea typeface="Algerian"/>
                <a:cs typeface="Algerian"/>
                <a:sym typeface="Algerian"/>
              </a:rPr>
              <a:t>Conclusion et perspectives</a:t>
            </a:r>
            <a:endParaRPr sz="1600">
              <a:solidFill>
                <a:srgbClr val="85200C"/>
              </a:solidFill>
              <a:latin typeface="Calibri"/>
              <a:ea typeface="Calibri"/>
              <a:cs typeface="Calibri"/>
              <a:sym typeface="Calibri"/>
            </a:endParaRPr>
          </a:p>
        </p:txBody>
      </p:sp>
      <p:pic>
        <p:nvPicPr>
          <p:cNvPr id="140" name="Google Shape;140;p26" title="image_2026-01-17_162542477-removebg-preview.png"/>
          <p:cNvPicPr preferRelativeResize="0"/>
          <p:nvPr/>
        </p:nvPicPr>
        <p:blipFill>
          <a:blip r:embed="rId5">
            <a:alphaModFix/>
          </a:blip>
          <a:stretch>
            <a:fillRect/>
          </a:stretch>
        </p:blipFill>
        <p:spPr>
          <a:xfrm>
            <a:off x="8149825" y="2700145"/>
            <a:ext cx="994175" cy="994175"/>
          </a:xfrm>
          <a:prstGeom prst="rect">
            <a:avLst/>
          </a:prstGeom>
          <a:noFill/>
          <a:ln>
            <a:noFill/>
          </a:ln>
        </p:spPr>
      </p:pic>
      <p:pic>
        <p:nvPicPr>
          <p:cNvPr id="141" name="Google Shape;141;p26"/>
          <p:cNvPicPr preferRelativeResize="0"/>
          <p:nvPr/>
        </p:nvPicPr>
        <p:blipFill rotWithShape="1">
          <a:blip r:embed="rId6">
            <a:alphaModFix/>
          </a:blip>
          <a:srcRect b="26161" l="0" r="0" t="11522"/>
          <a:stretch/>
        </p:blipFill>
        <p:spPr>
          <a:xfrm>
            <a:off x="6220975" y="3321935"/>
            <a:ext cx="2923025" cy="1821565"/>
          </a:xfrm>
          <a:prstGeom prst="rect">
            <a:avLst/>
          </a:prstGeom>
          <a:noFill/>
          <a:ln>
            <a:noFill/>
          </a:ln>
        </p:spPr>
      </p:pic>
      <p:pic>
        <p:nvPicPr>
          <p:cNvPr id="142" name="Google Shape;142;p26"/>
          <p:cNvPicPr preferRelativeResize="0"/>
          <p:nvPr/>
        </p:nvPicPr>
        <p:blipFill rotWithShape="1">
          <a:blip r:embed="rId7">
            <a:alphaModFix/>
          </a:blip>
          <a:srcRect b="0" l="0" r="0" t="0"/>
          <a:stretch/>
        </p:blipFill>
        <p:spPr>
          <a:xfrm>
            <a:off x="7161824" y="2129125"/>
            <a:ext cx="1244188" cy="124418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42900" y="160496"/>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000"/>
              <a:buFont typeface="Algerian"/>
              <a:buNone/>
            </a:pPr>
            <a:r>
              <a:rPr lang="fr" sz="3000">
                <a:solidFill>
                  <a:srgbClr val="BF9000"/>
                </a:solidFill>
                <a:latin typeface="Algerian"/>
                <a:ea typeface="Algerian"/>
                <a:cs typeface="Algerian"/>
                <a:sym typeface="Algerian"/>
              </a:rPr>
              <a:t>Contexte et problématique</a:t>
            </a:r>
            <a:endParaRPr sz="3000">
              <a:solidFill>
                <a:srgbClr val="BF9000"/>
              </a:solidFill>
              <a:latin typeface="Algerian"/>
              <a:ea typeface="Algerian"/>
              <a:cs typeface="Algerian"/>
              <a:sym typeface="Algerian"/>
            </a:endParaRPr>
          </a:p>
        </p:txBody>
      </p:sp>
      <p:pic>
        <p:nvPicPr>
          <p:cNvPr descr="ChatGPT Image 25 oct. 2025, 20_11_13" id="148" name="Google Shape;148;p27"/>
          <p:cNvPicPr preferRelativeResize="0"/>
          <p:nvPr/>
        </p:nvPicPr>
        <p:blipFill rotWithShape="1">
          <a:blip r:embed="rId3">
            <a:alphaModFix/>
          </a:blip>
          <a:srcRect b="0" l="0" r="0" t="0"/>
          <a:stretch/>
        </p:blipFill>
        <p:spPr>
          <a:xfrm>
            <a:off x="4264343" y="4527709"/>
            <a:ext cx="615791" cy="615791"/>
          </a:xfrm>
          <a:prstGeom prst="rect">
            <a:avLst/>
          </a:prstGeom>
          <a:noFill/>
          <a:ln>
            <a:noFill/>
          </a:ln>
        </p:spPr>
      </p:pic>
      <p:pic>
        <p:nvPicPr>
          <p:cNvPr descr="ChatGPT Image 25 oct. 2025, 20_07_55" id="149" name="Google Shape;149;p27"/>
          <p:cNvPicPr preferRelativeResize="0"/>
          <p:nvPr/>
        </p:nvPicPr>
        <p:blipFill rotWithShape="1">
          <a:blip r:embed="rId4">
            <a:alphaModFix/>
          </a:blip>
          <a:srcRect b="23405" l="0" r="52050" t="25957"/>
          <a:stretch/>
        </p:blipFill>
        <p:spPr>
          <a:xfrm flipH="1">
            <a:off x="6298883" y="211455"/>
            <a:ext cx="736282" cy="778668"/>
          </a:xfrm>
          <a:prstGeom prst="rect">
            <a:avLst/>
          </a:prstGeom>
          <a:noFill/>
          <a:ln>
            <a:noFill/>
          </a:ln>
        </p:spPr>
      </p:pic>
      <p:sp>
        <p:nvSpPr>
          <p:cNvPr id="150" name="Google Shape;150;p27"/>
          <p:cNvSpPr txBox="1"/>
          <p:nvPr/>
        </p:nvSpPr>
        <p:spPr>
          <a:xfrm>
            <a:off x="4434840" y="4686300"/>
            <a:ext cx="2739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2</a:t>
            </a:r>
            <a:endParaRPr b="1" sz="1500">
              <a:solidFill>
                <a:srgbClr val="7F6000"/>
              </a:solidFill>
              <a:latin typeface="Arial Rounded"/>
              <a:ea typeface="Arial Rounded"/>
              <a:cs typeface="Arial Rounded"/>
              <a:sym typeface="Arial Rounded"/>
            </a:endParaRPr>
          </a:p>
        </p:txBody>
      </p:sp>
      <p:sp>
        <p:nvSpPr>
          <p:cNvPr id="151" name="Google Shape;151;p27"/>
          <p:cNvSpPr txBox="1"/>
          <p:nvPr/>
        </p:nvSpPr>
        <p:spPr>
          <a:xfrm>
            <a:off x="461486" y="1191578"/>
            <a:ext cx="4110000" cy="2760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2" name="Google Shape;152;p27"/>
          <p:cNvSpPr txBox="1"/>
          <p:nvPr/>
        </p:nvSpPr>
        <p:spPr>
          <a:xfrm>
            <a:off x="461475" y="1087300"/>
            <a:ext cx="5837400" cy="34404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rPr b="1" lang="fr" sz="1600">
                <a:solidFill>
                  <a:srgbClr val="85200C"/>
                </a:solidFill>
                <a:latin typeface="Algerian"/>
                <a:ea typeface="Algerian"/>
                <a:cs typeface="Algerian"/>
                <a:sym typeface="Algerian"/>
              </a:rPr>
              <a:t>-Système de chauffage utilisant l'énergie solaire facilitant le développement d'essaim</a:t>
            </a:r>
            <a:endParaRPr b="1" sz="1600">
              <a:solidFill>
                <a:srgbClr val="85200C"/>
              </a:solidFill>
              <a:latin typeface="Algerian"/>
              <a:ea typeface="Algerian"/>
              <a:cs typeface="Algerian"/>
              <a:sym typeface="Algerian"/>
            </a:endParaRPr>
          </a:p>
          <a:p>
            <a:pPr indent="0" lvl="0" marL="0" marR="0" rtl="0" algn="l">
              <a:lnSpc>
                <a:spcPct val="90000"/>
              </a:lnSpc>
              <a:spcBef>
                <a:spcPts val="0"/>
              </a:spcBef>
              <a:spcAft>
                <a:spcPts val="0"/>
              </a:spcAft>
              <a:buNone/>
            </a:pPr>
            <a:r>
              <a:t/>
            </a:r>
            <a:endParaRPr b="1" sz="1600">
              <a:solidFill>
                <a:srgbClr val="85200C"/>
              </a:solidFill>
              <a:latin typeface="Algerian"/>
              <a:ea typeface="Algerian"/>
              <a:cs typeface="Algerian"/>
              <a:sym typeface="Algerian"/>
            </a:endParaRPr>
          </a:p>
          <a:p>
            <a:pPr indent="0" lvl="0" marL="0" marR="0" rtl="0" algn="l">
              <a:lnSpc>
                <a:spcPct val="90000"/>
              </a:lnSpc>
              <a:spcBef>
                <a:spcPts val="0"/>
              </a:spcBef>
              <a:spcAft>
                <a:spcPts val="0"/>
              </a:spcAft>
              <a:buNone/>
            </a:pPr>
            <a:r>
              <a:rPr b="1" lang="fr" sz="1600">
                <a:solidFill>
                  <a:srgbClr val="85200C"/>
                </a:solidFill>
                <a:latin typeface="Algerian"/>
                <a:ea typeface="Algerian"/>
                <a:cs typeface="Algerian"/>
                <a:sym typeface="Algerian"/>
              </a:rPr>
              <a:t>-Sensibilité des abeilles aux variations de température</a:t>
            </a:r>
            <a:endParaRPr b="1" sz="1600">
              <a:solidFill>
                <a:srgbClr val="85200C"/>
              </a:solidFill>
              <a:latin typeface="Algerian"/>
              <a:ea typeface="Algerian"/>
              <a:cs typeface="Algerian"/>
              <a:sym typeface="Algerian"/>
            </a:endParaRPr>
          </a:p>
          <a:p>
            <a:pPr indent="0" lvl="0" marL="0" marR="0" rtl="0" algn="l">
              <a:lnSpc>
                <a:spcPct val="90000"/>
              </a:lnSpc>
              <a:spcBef>
                <a:spcPts val="0"/>
              </a:spcBef>
              <a:spcAft>
                <a:spcPts val="0"/>
              </a:spcAft>
              <a:buNone/>
            </a:pPr>
            <a:r>
              <a:t/>
            </a:r>
            <a:endParaRPr b="1" sz="1600">
              <a:solidFill>
                <a:srgbClr val="85200C"/>
              </a:solidFill>
              <a:latin typeface="Algerian"/>
              <a:ea typeface="Algerian"/>
              <a:cs typeface="Algerian"/>
              <a:sym typeface="Algerian"/>
            </a:endParaRPr>
          </a:p>
          <a:p>
            <a:pPr indent="0" lvl="0" marL="0" marR="0" rtl="0" algn="l">
              <a:lnSpc>
                <a:spcPct val="90000"/>
              </a:lnSpc>
              <a:spcBef>
                <a:spcPts val="0"/>
              </a:spcBef>
              <a:spcAft>
                <a:spcPts val="0"/>
              </a:spcAft>
              <a:buNone/>
            </a:pPr>
            <a:r>
              <a:rPr b="1" lang="fr" sz="1600">
                <a:solidFill>
                  <a:srgbClr val="85200C"/>
                </a:solidFill>
                <a:latin typeface="Algerian"/>
                <a:ea typeface="Algerian"/>
                <a:cs typeface="Algerian"/>
                <a:sym typeface="Algerian"/>
              </a:rPr>
              <a:t>-Besoin de maintien thermique en hiver</a:t>
            </a:r>
            <a:endParaRPr b="1" sz="1600">
              <a:solidFill>
                <a:srgbClr val="85200C"/>
              </a:solidFill>
              <a:latin typeface="Algerian"/>
              <a:ea typeface="Algerian"/>
              <a:cs typeface="Algerian"/>
              <a:sym typeface="Algerian"/>
            </a:endParaRPr>
          </a:p>
          <a:p>
            <a:pPr indent="0" lvl="0" marL="0" marR="0" rtl="0" algn="l">
              <a:lnSpc>
                <a:spcPct val="90000"/>
              </a:lnSpc>
              <a:spcBef>
                <a:spcPts val="0"/>
              </a:spcBef>
              <a:spcAft>
                <a:spcPts val="0"/>
              </a:spcAft>
              <a:buNone/>
            </a:pPr>
            <a:r>
              <a:t/>
            </a:r>
            <a:endParaRPr b="1" sz="1600">
              <a:solidFill>
                <a:srgbClr val="85200C"/>
              </a:solidFill>
              <a:latin typeface="Algerian"/>
              <a:ea typeface="Algerian"/>
              <a:cs typeface="Algerian"/>
              <a:sym typeface="Algerian"/>
            </a:endParaRPr>
          </a:p>
          <a:p>
            <a:pPr indent="0" lvl="0" marL="0" marR="0" rtl="0" algn="l">
              <a:lnSpc>
                <a:spcPct val="90000"/>
              </a:lnSpc>
              <a:spcBef>
                <a:spcPts val="0"/>
              </a:spcBef>
              <a:spcAft>
                <a:spcPts val="0"/>
              </a:spcAft>
              <a:buNone/>
            </a:pPr>
            <a:r>
              <a:rPr b="1" lang="fr" sz="1600">
                <a:solidFill>
                  <a:srgbClr val="85200C"/>
                </a:solidFill>
                <a:latin typeface="Algerian"/>
                <a:ea typeface="Algerian"/>
                <a:cs typeface="Algerian"/>
                <a:sym typeface="Algerian"/>
              </a:rPr>
              <a:t>-Système autonome (sans réseau électrique / sans batterie)</a:t>
            </a:r>
            <a:endParaRPr b="1" sz="1600">
              <a:solidFill>
                <a:srgbClr val="85200C"/>
              </a:solidFill>
              <a:latin typeface="Algerian"/>
              <a:ea typeface="Algerian"/>
              <a:cs typeface="Algerian"/>
              <a:sym typeface="Algerian"/>
            </a:endParaRPr>
          </a:p>
          <a:p>
            <a:pPr indent="0" lvl="0" marL="0" marR="0" rtl="0" algn="l">
              <a:lnSpc>
                <a:spcPct val="90000"/>
              </a:lnSpc>
              <a:spcBef>
                <a:spcPts val="0"/>
              </a:spcBef>
              <a:spcAft>
                <a:spcPts val="0"/>
              </a:spcAft>
              <a:buNone/>
            </a:pPr>
            <a:r>
              <a:t/>
            </a:r>
            <a:endParaRPr b="1" sz="1600">
              <a:solidFill>
                <a:srgbClr val="85200C"/>
              </a:solidFill>
              <a:latin typeface="Algerian"/>
              <a:ea typeface="Algerian"/>
              <a:cs typeface="Algerian"/>
              <a:sym typeface="Algerian"/>
            </a:endParaRPr>
          </a:p>
          <a:p>
            <a:pPr indent="0" lvl="0" marL="0" marR="0" rtl="0" algn="l">
              <a:lnSpc>
                <a:spcPct val="90000"/>
              </a:lnSpc>
              <a:spcBef>
                <a:spcPts val="0"/>
              </a:spcBef>
              <a:spcAft>
                <a:spcPts val="0"/>
              </a:spcAft>
              <a:buNone/>
            </a:pPr>
            <a:r>
              <a:rPr b="1" lang="fr" sz="1600">
                <a:solidFill>
                  <a:srgbClr val="85200C"/>
                </a:solidFill>
                <a:latin typeface="Algerian"/>
                <a:ea typeface="Algerian"/>
                <a:cs typeface="Algerian"/>
                <a:sym typeface="Algerian"/>
              </a:rPr>
              <a:t>-Suivi et réglage à distance</a:t>
            </a:r>
            <a:endParaRPr sz="1800">
              <a:solidFill>
                <a:schemeClr val="dk1"/>
              </a:solidFill>
              <a:latin typeface="Calibri"/>
              <a:ea typeface="Calibri"/>
              <a:cs typeface="Calibri"/>
              <a:sym typeface="Calibri"/>
            </a:endParaRPr>
          </a:p>
        </p:txBody>
      </p:sp>
      <p:pic>
        <p:nvPicPr>
          <p:cNvPr id="153" name="Google Shape;153;p27" title="image_2026-01-17_162542477-removebg-preview.png"/>
          <p:cNvPicPr preferRelativeResize="0"/>
          <p:nvPr/>
        </p:nvPicPr>
        <p:blipFill>
          <a:blip r:embed="rId5">
            <a:alphaModFix/>
          </a:blip>
          <a:stretch>
            <a:fillRect/>
          </a:stretch>
        </p:blipFill>
        <p:spPr>
          <a:xfrm>
            <a:off x="8149825" y="2700145"/>
            <a:ext cx="994175" cy="994175"/>
          </a:xfrm>
          <a:prstGeom prst="rect">
            <a:avLst/>
          </a:prstGeom>
          <a:noFill/>
          <a:ln>
            <a:noFill/>
          </a:ln>
        </p:spPr>
      </p:pic>
      <p:pic>
        <p:nvPicPr>
          <p:cNvPr id="154" name="Google Shape;154;p27"/>
          <p:cNvPicPr preferRelativeResize="0"/>
          <p:nvPr/>
        </p:nvPicPr>
        <p:blipFill rotWithShape="1">
          <a:blip r:embed="rId6">
            <a:alphaModFix/>
          </a:blip>
          <a:srcRect b="26161" l="0" r="0" t="11522"/>
          <a:stretch/>
        </p:blipFill>
        <p:spPr>
          <a:xfrm>
            <a:off x="6220975" y="3321935"/>
            <a:ext cx="2923025" cy="1821565"/>
          </a:xfrm>
          <a:prstGeom prst="rect">
            <a:avLst/>
          </a:prstGeom>
          <a:noFill/>
          <a:ln>
            <a:noFill/>
          </a:ln>
        </p:spPr>
      </p:pic>
      <p:pic>
        <p:nvPicPr>
          <p:cNvPr id="155" name="Google Shape;155;p27"/>
          <p:cNvPicPr preferRelativeResize="0"/>
          <p:nvPr/>
        </p:nvPicPr>
        <p:blipFill rotWithShape="1">
          <a:blip r:embed="rId7">
            <a:alphaModFix/>
          </a:blip>
          <a:srcRect b="0" l="0" r="0" t="0"/>
          <a:stretch/>
        </p:blipFill>
        <p:spPr>
          <a:xfrm>
            <a:off x="7161824" y="2129125"/>
            <a:ext cx="1244188" cy="124418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485775" y="19383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000"/>
              <a:buFont typeface="Algerian"/>
              <a:buNone/>
            </a:pPr>
            <a:r>
              <a:rPr lang="fr" sz="3000">
                <a:solidFill>
                  <a:srgbClr val="BF9000"/>
                </a:solidFill>
                <a:latin typeface="Algerian"/>
                <a:ea typeface="Algerian"/>
                <a:cs typeface="Algerian"/>
                <a:sym typeface="Algerian"/>
              </a:rPr>
              <a:t>FONCTIONNEMENT DU PCB</a:t>
            </a:r>
            <a:endParaRPr sz="3000">
              <a:solidFill>
                <a:srgbClr val="BF9000"/>
              </a:solidFill>
              <a:latin typeface="Algerian"/>
              <a:ea typeface="Algerian"/>
              <a:cs typeface="Algerian"/>
              <a:sym typeface="Algerian"/>
            </a:endParaRPr>
          </a:p>
        </p:txBody>
      </p:sp>
      <p:pic>
        <p:nvPicPr>
          <p:cNvPr descr="ChatGPT Image 25 oct. 2025, 20_11_13" id="161" name="Google Shape;161;p28"/>
          <p:cNvPicPr preferRelativeResize="0"/>
          <p:nvPr/>
        </p:nvPicPr>
        <p:blipFill rotWithShape="1">
          <a:blip r:embed="rId3">
            <a:alphaModFix/>
          </a:blip>
          <a:srcRect b="0" l="0" r="0" t="0"/>
          <a:stretch/>
        </p:blipFill>
        <p:spPr>
          <a:xfrm>
            <a:off x="4264343" y="4527709"/>
            <a:ext cx="615791" cy="615791"/>
          </a:xfrm>
          <a:prstGeom prst="rect">
            <a:avLst/>
          </a:prstGeom>
          <a:noFill/>
          <a:ln>
            <a:noFill/>
          </a:ln>
        </p:spPr>
      </p:pic>
      <p:pic>
        <p:nvPicPr>
          <p:cNvPr descr="ChatGPT Image 25 oct. 2025, 20_07_55" id="162" name="Google Shape;162;p28"/>
          <p:cNvPicPr preferRelativeResize="0"/>
          <p:nvPr/>
        </p:nvPicPr>
        <p:blipFill rotWithShape="1">
          <a:blip r:embed="rId4">
            <a:alphaModFix/>
          </a:blip>
          <a:srcRect b="23405" l="0" r="52050" t="25957"/>
          <a:stretch/>
        </p:blipFill>
        <p:spPr>
          <a:xfrm flipH="1">
            <a:off x="2511558" y="2182417"/>
            <a:ext cx="736282" cy="778668"/>
          </a:xfrm>
          <a:prstGeom prst="rect">
            <a:avLst/>
          </a:prstGeom>
          <a:noFill/>
          <a:ln>
            <a:noFill/>
          </a:ln>
        </p:spPr>
      </p:pic>
      <p:sp>
        <p:nvSpPr>
          <p:cNvPr id="163" name="Google Shape;163;p28"/>
          <p:cNvSpPr txBox="1"/>
          <p:nvPr/>
        </p:nvSpPr>
        <p:spPr>
          <a:xfrm>
            <a:off x="4434840" y="4686300"/>
            <a:ext cx="2739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3</a:t>
            </a:r>
            <a:endParaRPr b="1" sz="1500">
              <a:solidFill>
                <a:srgbClr val="7F6000"/>
              </a:solidFill>
              <a:latin typeface="Arial Rounded"/>
              <a:ea typeface="Arial Rounded"/>
              <a:cs typeface="Arial Rounded"/>
              <a:sym typeface="Arial Rounded"/>
            </a:endParaRPr>
          </a:p>
        </p:txBody>
      </p:sp>
      <p:sp>
        <p:nvSpPr>
          <p:cNvPr id="164" name="Google Shape;164;p28"/>
          <p:cNvSpPr txBox="1"/>
          <p:nvPr>
            <p:ph idx="1" type="body"/>
          </p:nvPr>
        </p:nvSpPr>
        <p:spPr>
          <a:xfrm>
            <a:off x="485775" y="1369219"/>
            <a:ext cx="7886700" cy="3263400"/>
          </a:xfrm>
          <a:prstGeom prst="rect">
            <a:avLst/>
          </a:prstGeom>
        </p:spPr>
        <p:txBody>
          <a:bodyPr anchorCtr="0" anchor="t" bIns="34275" lIns="68575" spcFirstLastPara="1" rIns="68575" wrap="square" tIns="34275">
            <a:normAutofit/>
          </a:bodyPr>
          <a:lstStyle/>
          <a:p>
            <a:pPr indent="0" lvl="0" marL="0" marR="0" rtl="0" algn="l">
              <a:lnSpc>
                <a:spcPct val="90000"/>
              </a:lnSpc>
              <a:spcBef>
                <a:spcPts val="0"/>
              </a:spcBef>
              <a:spcAft>
                <a:spcPts val="0"/>
              </a:spcAft>
              <a:buNone/>
            </a:pPr>
            <a:r>
              <a:rPr b="1" lang="fr" sz="1600">
                <a:solidFill>
                  <a:srgbClr val="85200C"/>
                </a:solidFill>
                <a:latin typeface="Algerian"/>
                <a:ea typeface="Algerian"/>
                <a:cs typeface="Algerian"/>
                <a:sym typeface="Algerian"/>
              </a:rPr>
              <a:t>Quatres parties principales : </a:t>
            </a:r>
            <a:endParaRPr b="1" sz="1600">
              <a:solidFill>
                <a:srgbClr val="85200C"/>
              </a:solidFill>
              <a:latin typeface="Algerian"/>
              <a:ea typeface="Algerian"/>
              <a:cs typeface="Algerian"/>
              <a:sym typeface="Algerian"/>
            </a:endParaRPr>
          </a:p>
          <a:p>
            <a:pPr indent="0" lvl="0" marL="0" marR="0" rtl="0" algn="l">
              <a:lnSpc>
                <a:spcPct val="90000"/>
              </a:lnSpc>
              <a:spcBef>
                <a:spcPts val="0"/>
              </a:spcBef>
              <a:spcAft>
                <a:spcPts val="0"/>
              </a:spcAft>
              <a:buNone/>
            </a:pPr>
            <a:r>
              <a:t/>
            </a:r>
            <a:endParaRPr b="1" sz="1600">
              <a:solidFill>
                <a:srgbClr val="85200C"/>
              </a:solidFill>
              <a:latin typeface="Algerian"/>
              <a:ea typeface="Algerian"/>
              <a:cs typeface="Algerian"/>
              <a:sym typeface="Algerian"/>
            </a:endParaRPr>
          </a:p>
          <a:p>
            <a:pPr indent="0" lvl="0" marL="457200" marR="0" rtl="0" algn="l">
              <a:lnSpc>
                <a:spcPct val="90000"/>
              </a:lnSpc>
              <a:spcBef>
                <a:spcPts val="0"/>
              </a:spcBef>
              <a:spcAft>
                <a:spcPts val="0"/>
              </a:spcAft>
              <a:buNone/>
            </a:pPr>
            <a:r>
              <a:rPr b="1" lang="fr" sz="1600">
                <a:solidFill>
                  <a:srgbClr val="85200C"/>
                </a:solidFill>
                <a:latin typeface="Algerian"/>
                <a:ea typeface="Algerian"/>
                <a:cs typeface="Algerian"/>
                <a:sym typeface="Algerian"/>
              </a:rPr>
              <a:t>-Alimentation</a:t>
            </a:r>
            <a:endParaRPr b="1" sz="1600">
              <a:solidFill>
                <a:srgbClr val="85200C"/>
              </a:solidFill>
              <a:latin typeface="Algerian"/>
              <a:ea typeface="Algerian"/>
              <a:cs typeface="Algerian"/>
              <a:sym typeface="Algerian"/>
            </a:endParaRPr>
          </a:p>
          <a:p>
            <a:pPr indent="0" lvl="0" marL="457200" marR="0" rtl="0" algn="l">
              <a:lnSpc>
                <a:spcPct val="90000"/>
              </a:lnSpc>
              <a:spcBef>
                <a:spcPts val="0"/>
              </a:spcBef>
              <a:spcAft>
                <a:spcPts val="0"/>
              </a:spcAft>
              <a:buNone/>
            </a:pPr>
            <a:r>
              <a:t/>
            </a:r>
            <a:endParaRPr b="1" sz="1600">
              <a:solidFill>
                <a:srgbClr val="85200C"/>
              </a:solidFill>
              <a:latin typeface="Algerian"/>
              <a:ea typeface="Algerian"/>
              <a:cs typeface="Algerian"/>
              <a:sym typeface="Algerian"/>
            </a:endParaRPr>
          </a:p>
          <a:p>
            <a:pPr indent="0" lvl="0" marL="457200" marR="0" rtl="0" algn="l">
              <a:lnSpc>
                <a:spcPct val="90000"/>
              </a:lnSpc>
              <a:spcBef>
                <a:spcPts val="0"/>
              </a:spcBef>
              <a:spcAft>
                <a:spcPts val="0"/>
              </a:spcAft>
              <a:buNone/>
            </a:pPr>
            <a:r>
              <a:rPr b="1" lang="fr" sz="1600">
                <a:solidFill>
                  <a:srgbClr val="85200C"/>
                </a:solidFill>
                <a:latin typeface="Algerian"/>
                <a:ea typeface="Algerian"/>
                <a:cs typeface="Algerian"/>
                <a:sym typeface="Algerian"/>
              </a:rPr>
              <a:t>-</a:t>
            </a:r>
            <a:r>
              <a:rPr b="1" lang="fr" sz="1600">
                <a:solidFill>
                  <a:srgbClr val="85200C"/>
                </a:solidFill>
                <a:latin typeface="Algerian"/>
                <a:ea typeface="Algerian"/>
                <a:cs typeface="Algerian"/>
                <a:sym typeface="Algerian"/>
              </a:rPr>
              <a:t>Contrôle</a:t>
            </a:r>
            <a:endParaRPr b="1" sz="1600">
              <a:solidFill>
                <a:srgbClr val="85200C"/>
              </a:solidFill>
              <a:latin typeface="Algerian"/>
              <a:ea typeface="Algerian"/>
              <a:cs typeface="Algerian"/>
              <a:sym typeface="Algerian"/>
            </a:endParaRPr>
          </a:p>
          <a:p>
            <a:pPr indent="0" lvl="0" marL="457200" marR="0" rtl="0" algn="l">
              <a:lnSpc>
                <a:spcPct val="90000"/>
              </a:lnSpc>
              <a:spcBef>
                <a:spcPts val="0"/>
              </a:spcBef>
              <a:spcAft>
                <a:spcPts val="0"/>
              </a:spcAft>
              <a:buNone/>
            </a:pPr>
            <a:r>
              <a:t/>
            </a:r>
            <a:endParaRPr b="1" sz="1600">
              <a:solidFill>
                <a:srgbClr val="85200C"/>
              </a:solidFill>
              <a:latin typeface="Algerian"/>
              <a:ea typeface="Algerian"/>
              <a:cs typeface="Algerian"/>
              <a:sym typeface="Algerian"/>
            </a:endParaRPr>
          </a:p>
          <a:p>
            <a:pPr indent="0" lvl="0" marL="457200" marR="0" rtl="0" algn="l">
              <a:lnSpc>
                <a:spcPct val="90000"/>
              </a:lnSpc>
              <a:spcBef>
                <a:spcPts val="0"/>
              </a:spcBef>
              <a:spcAft>
                <a:spcPts val="0"/>
              </a:spcAft>
              <a:buNone/>
            </a:pPr>
            <a:r>
              <a:rPr b="1" lang="fr" sz="1600">
                <a:solidFill>
                  <a:srgbClr val="85200C"/>
                </a:solidFill>
                <a:latin typeface="Algerian"/>
                <a:ea typeface="Algerian"/>
                <a:cs typeface="Algerian"/>
                <a:sym typeface="Algerian"/>
              </a:rPr>
              <a:t>-Capteurs</a:t>
            </a:r>
            <a:endParaRPr b="1" sz="1600">
              <a:solidFill>
                <a:srgbClr val="85200C"/>
              </a:solidFill>
              <a:latin typeface="Algerian"/>
              <a:ea typeface="Algerian"/>
              <a:cs typeface="Algerian"/>
              <a:sym typeface="Algerian"/>
            </a:endParaRPr>
          </a:p>
          <a:p>
            <a:pPr indent="0" lvl="0" marL="457200" marR="0" rtl="0" algn="l">
              <a:lnSpc>
                <a:spcPct val="90000"/>
              </a:lnSpc>
              <a:spcBef>
                <a:spcPts val="0"/>
              </a:spcBef>
              <a:spcAft>
                <a:spcPts val="0"/>
              </a:spcAft>
              <a:buNone/>
            </a:pPr>
            <a:r>
              <a:t/>
            </a:r>
            <a:endParaRPr b="1" sz="1600">
              <a:solidFill>
                <a:srgbClr val="85200C"/>
              </a:solidFill>
              <a:latin typeface="Algerian"/>
              <a:ea typeface="Algerian"/>
              <a:cs typeface="Algerian"/>
              <a:sym typeface="Algerian"/>
            </a:endParaRPr>
          </a:p>
          <a:p>
            <a:pPr indent="0" lvl="0" marL="457200" marR="0" rtl="0" algn="l">
              <a:lnSpc>
                <a:spcPct val="90000"/>
              </a:lnSpc>
              <a:spcBef>
                <a:spcPts val="0"/>
              </a:spcBef>
              <a:spcAft>
                <a:spcPts val="0"/>
              </a:spcAft>
              <a:buNone/>
            </a:pPr>
            <a:r>
              <a:rPr b="1" lang="fr" sz="1600">
                <a:solidFill>
                  <a:srgbClr val="85200C"/>
                </a:solidFill>
                <a:latin typeface="Algerian"/>
                <a:ea typeface="Algerian"/>
                <a:cs typeface="Algerian"/>
                <a:sym typeface="Algerian"/>
              </a:rPr>
              <a:t>-Résistances chauffantes</a:t>
            </a:r>
            <a:endParaRPr b="1" sz="1600">
              <a:solidFill>
                <a:srgbClr val="85200C"/>
              </a:solidFill>
              <a:latin typeface="Algerian"/>
              <a:ea typeface="Algerian"/>
              <a:cs typeface="Algerian"/>
              <a:sym typeface="Algerian"/>
            </a:endParaRPr>
          </a:p>
        </p:txBody>
      </p:sp>
      <p:pic>
        <p:nvPicPr>
          <p:cNvPr id="165" name="Google Shape;165;p28" title="image_2026-01-17_162542477-removebg-preview.png"/>
          <p:cNvPicPr preferRelativeResize="0"/>
          <p:nvPr/>
        </p:nvPicPr>
        <p:blipFill>
          <a:blip r:embed="rId5">
            <a:alphaModFix/>
          </a:blip>
          <a:stretch>
            <a:fillRect/>
          </a:stretch>
        </p:blipFill>
        <p:spPr>
          <a:xfrm>
            <a:off x="8149825" y="2700145"/>
            <a:ext cx="994175" cy="994175"/>
          </a:xfrm>
          <a:prstGeom prst="rect">
            <a:avLst/>
          </a:prstGeom>
          <a:noFill/>
          <a:ln>
            <a:noFill/>
          </a:ln>
        </p:spPr>
      </p:pic>
      <p:pic>
        <p:nvPicPr>
          <p:cNvPr id="166" name="Google Shape;166;p28"/>
          <p:cNvPicPr preferRelativeResize="0"/>
          <p:nvPr/>
        </p:nvPicPr>
        <p:blipFill rotWithShape="1">
          <a:blip r:embed="rId6">
            <a:alphaModFix/>
          </a:blip>
          <a:srcRect b="26161" l="0" r="0" t="11522"/>
          <a:stretch/>
        </p:blipFill>
        <p:spPr>
          <a:xfrm>
            <a:off x="6220975" y="3321935"/>
            <a:ext cx="2923025" cy="1821565"/>
          </a:xfrm>
          <a:prstGeom prst="rect">
            <a:avLst/>
          </a:prstGeom>
          <a:noFill/>
          <a:ln>
            <a:noFill/>
          </a:ln>
        </p:spPr>
      </p:pic>
      <p:pic>
        <p:nvPicPr>
          <p:cNvPr id="167" name="Google Shape;167;p28"/>
          <p:cNvPicPr preferRelativeResize="0"/>
          <p:nvPr/>
        </p:nvPicPr>
        <p:blipFill rotWithShape="1">
          <a:blip r:embed="rId7">
            <a:alphaModFix/>
          </a:blip>
          <a:srcRect b="0" l="0" r="0" t="0"/>
          <a:stretch/>
        </p:blipFill>
        <p:spPr>
          <a:xfrm>
            <a:off x="7161824" y="2129125"/>
            <a:ext cx="1244188" cy="124418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485775" y="19383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000"/>
              <a:buFont typeface="Algerian"/>
              <a:buNone/>
            </a:pPr>
            <a:r>
              <a:rPr lang="fr" sz="3000">
                <a:solidFill>
                  <a:srgbClr val="BF9000"/>
                </a:solidFill>
                <a:latin typeface="Algerian"/>
                <a:ea typeface="Algerian"/>
                <a:cs typeface="Algerian"/>
                <a:sym typeface="Algerian"/>
              </a:rPr>
              <a:t>FONCTIONNEMENT DU PCB</a:t>
            </a:r>
            <a:endParaRPr sz="3000">
              <a:solidFill>
                <a:srgbClr val="BF9000"/>
              </a:solidFill>
              <a:latin typeface="Algerian"/>
              <a:ea typeface="Algerian"/>
              <a:cs typeface="Algerian"/>
              <a:sym typeface="Algerian"/>
            </a:endParaRPr>
          </a:p>
        </p:txBody>
      </p:sp>
      <p:pic>
        <p:nvPicPr>
          <p:cNvPr descr="ChatGPT Image 25 oct. 2025, 20_11_13" id="173" name="Google Shape;173;p29"/>
          <p:cNvPicPr preferRelativeResize="0"/>
          <p:nvPr/>
        </p:nvPicPr>
        <p:blipFill rotWithShape="1">
          <a:blip r:embed="rId3">
            <a:alphaModFix/>
          </a:blip>
          <a:srcRect b="0" l="0" r="0" t="0"/>
          <a:stretch/>
        </p:blipFill>
        <p:spPr>
          <a:xfrm>
            <a:off x="4264343" y="4527709"/>
            <a:ext cx="615791" cy="615791"/>
          </a:xfrm>
          <a:prstGeom prst="rect">
            <a:avLst/>
          </a:prstGeom>
          <a:noFill/>
          <a:ln>
            <a:noFill/>
          </a:ln>
        </p:spPr>
      </p:pic>
      <p:pic>
        <p:nvPicPr>
          <p:cNvPr descr="ChatGPT Image 25 oct. 2025, 20_07_55" id="174" name="Google Shape;174;p29"/>
          <p:cNvPicPr preferRelativeResize="0"/>
          <p:nvPr/>
        </p:nvPicPr>
        <p:blipFill rotWithShape="1">
          <a:blip r:embed="rId4">
            <a:alphaModFix/>
          </a:blip>
          <a:srcRect b="23405" l="0" r="52050" t="25957"/>
          <a:stretch/>
        </p:blipFill>
        <p:spPr>
          <a:xfrm flipH="1">
            <a:off x="8101808" y="4021455"/>
            <a:ext cx="736282" cy="778668"/>
          </a:xfrm>
          <a:prstGeom prst="rect">
            <a:avLst/>
          </a:prstGeom>
          <a:noFill/>
          <a:ln>
            <a:noFill/>
          </a:ln>
        </p:spPr>
      </p:pic>
      <p:sp>
        <p:nvSpPr>
          <p:cNvPr id="175" name="Google Shape;175;p29"/>
          <p:cNvSpPr txBox="1"/>
          <p:nvPr/>
        </p:nvSpPr>
        <p:spPr>
          <a:xfrm>
            <a:off x="4434840" y="4686300"/>
            <a:ext cx="2739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4</a:t>
            </a:r>
            <a:endParaRPr b="1" sz="1500">
              <a:solidFill>
                <a:srgbClr val="7F6000"/>
              </a:solidFill>
              <a:latin typeface="Arial Rounded"/>
              <a:ea typeface="Arial Rounded"/>
              <a:cs typeface="Arial Rounded"/>
              <a:sym typeface="Arial Rounded"/>
            </a:endParaRPr>
          </a:p>
        </p:txBody>
      </p:sp>
      <p:sp>
        <p:nvSpPr>
          <p:cNvPr id="176" name="Google Shape;176;p29"/>
          <p:cNvSpPr txBox="1"/>
          <p:nvPr>
            <p:ph idx="1" type="body"/>
          </p:nvPr>
        </p:nvSpPr>
        <p:spPr>
          <a:xfrm>
            <a:off x="485775"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fr" sz="1600">
                <a:solidFill>
                  <a:srgbClr val="85200C"/>
                </a:solidFill>
                <a:latin typeface="Algerian"/>
                <a:ea typeface="Algerian"/>
                <a:cs typeface="Algerian"/>
                <a:sym typeface="Algerian"/>
              </a:rPr>
              <a:t>Alimentation :</a:t>
            </a:r>
            <a:endParaRPr b="1" sz="1600">
              <a:solidFill>
                <a:srgbClr val="85200C"/>
              </a:solidFill>
              <a:latin typeface="Algerian"/>
              <a:ea typeface="Algerian"/>
              <a:cs typeface="Algerian"/>
              <a:sym typeface="Algerian"/>
            </a:endParaRPr>
          </a:p>
        </p:txBody>
      </p:sp>
      <p:pic>
        <p:nvPicPr>
          <p:cNvPr id="177" name="Google Shape;177;p29" title="alimentation.jpg"/>
          <p:cNvPicPr preferRelativeResize="0"/>
          <p:nvPr/>
        </p:nvPicPr>
        <p:blipFill>
          <a:blip r:embed="rId5">
            <a:alphaModFix/>
          </a:blip>
          <a:stretch>
            <a:fillRect/>
          </a:stretch>
        </p:blipFill>
        <p:spPr>
          <a:xfrm>
            <a:off x="1152742" y="1914524"/>
            <a:ext cx="6552781" cy="2552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1000"/>
                                        <p:tgtEl>
                                          <p:spTgt spid="177"/>
                                        </p:tgtEl>
                                        <p:attrNameLst>
                                          <p:attrName>ppt_w</p:attrName>
                                        </p:attrNameLst>
                                      </p:cBhvr>
                                      <p:tavLst>
                                        <p:tav fmla="" tm="0">
                                          <p:val>
                                            <p:strVal val="0"/>
                                          </p:val>
                                        </p:tav>
                                        <p:tav fmla="" tm="100000">
                                          <p:val>
                                            <p:strVal val="#ppt_w"/>
                                          </p:val>
                                        </p:tav>
                                      </p:tavLst>
                                    </p:anim>
                                    <p:anim calcmode="lin" valueType="num">
                                      <p:cBhvr additive="base">
                                        <p:cTn dur="1000"/>
                                        <p:tgtEl>
                                          <p:spTgt spid="17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485775" y="19383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000"/>
              <a:buFont typeface="Algerian"/>
              <a:buNone/>
            </a:pPr>
            <a:r>
              <a:rPr lang="fr" sz="3000">
                <a:solidFill>
                  <a:srgbClr val="BF9000"/>
                </a:solidFill>
                <a:latin typeface="Algerian"/>
                <a:ea typeface="Algerian"/>
                <a:cs typeface="Algerian"/>
                <a:sym typeface="Algerian"/>
              </a:rPr>
              <a:t>FONCTIONNEMENT DU PCB</a:t>
            </a:r>
            <a:endParaRPr sz="3000">
              <a:solidFill>
                <a:srgbClr val="BF9000"/>
              </a:solidFill>
              <a:latin typeface="Algerian"/>
              <a:ea typeface="Algerian"/>
              <a:cs typeface="Algerian"/>
              <a:sym typeface="Algerian"/>
            </a:endParaRPr>
          </a:p>
        </p:txBody>
      </p:sp>
      <p:pic>
        <p:nvPicPr>
          <p:cNvPr descr="ChatGPT Image 25 oct. 2025, 20_11_13" id="183" name="Google Shape;183;p30"/>
          <p:cNvPicPr preferRelativeResize="0"/>
          <p:nvPr/>
        </p:nvPicPr>
        <p:blipFill rotWithShape="1">
          <a:blip r:embed="rId3">
            <a:alphaModFix/>
          </a:blip>
          <a:srcRect b="0" l="0" r="0" t="0"/>
          <a:stretch/>
        </p:blipFill>
        <p:spPr>
          <a:xfrm>
            <a:off x="4264343" y="4527709"/>
            <a:ext cx="615791" cy="615791"/>
          </a:xfrm>
          <a:prstGeom prst="rect">
            <a:avLst/>
          </a:prstGeom>
          <a:noFill/>
          <a:ln>
            <a:noFill/>
          </a:ln>
        </p:spPr>
      </p:pic>
      <p:pic>
        <p:nvPicPr>
          <p:cNvPr descr="ChatGPT Image 25 oct. 2025, 20_07_55" id="184" name="Google Shape;184;p30"/>
          <p:cNvPicPr preferRelativeResize="0"/>
          <p:nvPr/>
        </p:nvPicPr>
        <p:blipFill rotWithShape="1">
          <a:blip r:embed="rId4">
            <a:alphaModFix/>
          </a:blip>
          <a:srcRect b="23405" l="0" r="52050" t="25957"/>
          <a:stretch/>
        </p:blipFill>
        <p:spPr>
          <a:xfrm flipH="1">
            <a:off x="441283" y="3907630"/>
            <a:ext cx="736282" cy="778668"/>
          </a:xfrm>
          <a:prstGeom prst="rect">
            <a:avLst/>
          </a:prstGeom>
          <a:noFill/>
          <a:ln>
            <a:noFill/>
          </a:ln>
        </p:spPr>
      </p:pic>
      <p:sp>
        <p:nvSpPr>
          <p:cNvPr id="185" name="Google Shape;185;p30"/>
          <p:cNvSpPr txBox="1"/>
          <p:nvPr/>
        </p:nvSpPr>
        <p:spPr>
          <a:xfrm>
            <a:off x="4434840" y="4686300"/>
            <a:ext cx="2739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5</a:t>
            </a:r>
            <a:endParaRPr b="1" sz="1500">
              <a:solidFill>
                <a:srgbClr val="7F6000"/>
              </a:solidFill>
              <a:latin typeface="Arial Rounded"/>
              <a:ea typeface="Arial Rounded"/>
              <a:cs typeface="Arial Rounded"/>
              <a:sym typeface="Arial Rounded"/>
            </a:endParaRPr>
          </a:p>
        </p:txBody>
      </p:sp>
      <p:sp>
        <p:nvSpPr>
          <p:cNvPr id="186" name="Google Shape;186;p30"/>
          <p:cNvSpPr txBox="1"/>
          <p:nvPr>
            <p:ph idx="1" type="body"/>
          </p:nvPr>
        </p:nvSpPr>
        <p:spPr>
          <a:xfrm>
            <a:off x="485775"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fr" sz="1600">
                <a:solidFill>
                  <a:srgbClr val="85200C"/>
                </a:solidFill>
                <a:latin typeface="Algerian"/>
                <a:ea typeface="Algerian"/>
                <a:cs typeface="Algerian"/>
                <a:sym typeface="Algerian"/>
              </a:rPr>
              <a:t>Alimentation + Résistances Chauffantes :</a:t>
            </a:r>
            <a:endParaRPr/>
          </a:p>
        </p:txBody>
      </p:sp>
      <p:pic>
        <p:nvPicPr>
          <p:cNvPr id="187" name="Google Shape;187;p30" title="alimentation.jpg"/>
          <p:cNvPicPr preferRelativeResize="0"/>
          <p:nvPr/>
        </p:nvPicPr>
        <p:blipFill>
          <a:blip r:embed="rId5">
            <a:alphaModFix/>
          </a:blip>
          <a:stretch>
            <a:fillRect/>
          </a:stretch>
        </p:blipFill>
        <p:spPr>
          <a:xfrm>
            <a:off x="441278" y="1914525"/>
            <a:ext cx="3823075" cy="1488925"/>
          </a:xfrm>
          <a:prstGeom prst="rect">
            <a:avLst/>
          </a:prstGeom>
          <a:noFill/>
          <a:ln>
            <a:noFill/>
          </a:ln>
        </p:spPr>
      </p:pic>
      <p:pic>
        <p:nvPicPr>
          <p:cNvPr id="188" name="Google Shape;188;p30" title="IMG_1337.jpg"/>
          <p:cNvPicPr preferRelativeResize="0"/>
          <p:nvPr/>
        </p:nvPicPr>
        <p:blipFill>
          <a:blip r:embed="rId6">
            <a:alphaModFix/>
          </a:blip>
          <a:stretch>
            <a:fillRect/>
          </a:stretch>
        </p:blipFill>
        <p:spPr>
          <a:xfrm>
            <a:off x="4505575" y="1914525"/>
            <a:ext cx="2672050" cy="1488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8"/>
                                        </p:tgtEl>
                                        <p:attrNameLst>
                                          <p:attrName>style.visibility</p:attrName>
                                        </p:attrNameLst>
                                      </p:cBhvr>
                                      <p:to>
                                        <p:strVal val="visible"/>
                                      </p:to>
                                    </p:set>
                                    <p:anim calcmode="lin" valueType="num">
                                      <p:cBhvr additive="base">
                                        <p:cTn dur="1000"/>
                                        <p:tgtEl>
                                          <p:spTgt spid="188"/>
                                        </p:tgtEl>
                                        <p:attrNameLst>
                                          <p:attrName>ppt_w</p:attrName>
                                        </p:attrNameLst>
                                      </p:cBhvr>
                                      <p:tavLst>
                                        <p:tav fmla="" tm="0">
                                          <p:val>
                                            <p:strVal val="0"/>
                                          </p:val>
                                        </p:tav>
                                        <p:tav fmla="" tm="100000">
                                          <p:val>
                                            <p:strVal val="#ppt_w"/>
                                          </p:val>
                                        </p:tav>
                                      </p:tavLst>
                                    </p:anim>
                                    <p:anim calcmode="lin" valueType="num">
                                      <p:cBhvr additive="base">
                                        <p:cTn dur="1000"/>
                                        <p:tgtEl>
                                          <p:spTgt spid="18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1000"/>
                                        <p:tgtEl>
                                          <p:spTgt spid="187"/>
                                        </p:tgtEl>
                                        <p:attrNameLst>
                                          <p:attrName>ppt_w</p:attrName>
                                        </p:attrNameLst>
                                      </p:cBhvr>
                                      <p:tavLst>
                                        <p:tav fmla="" tm="0">
                                          <p:val>
                                            <p:strVal val="#ppt_w"/>
                                          </p:val>
                                        </p:tav>
                                        <p:tav fmla="" tm="100000">
                                          <p:val>
                                            <p:strVal val="0"/>
                                          </p:val>
                                        </p:tav>
                                      </p:tavLst>
                                    </p:anim>
                                    <p:anim calcmode="lin" valueType="num">
                                      <p:cBhvr additive="base">
                                        <p:cTn dur="1000"/>
                                        <p:tgtEl>
                                          <p:spTgt spid="187"/>
                                        </p:tgtEl>
                                        <p:attrNameLst>
                                          <p:attrName>ppt_h</p:attrName>
                                        </p:attrNameLst>
                                      </p:cBhvr>
                                      <p:tavLst>
                                        <p:tav fmla="" tm="0">
                                          <p:val>
                                            <p:strVal val="#ppt_h"/>
                                          </p:val>
                                        </p:tav>
                                        <p:tav fmla="" tm="100000">
                                          <p:val>
                                            <p:strVal val="0"/>
                                          </p:val>
                                        </p:tav>
                                      </p:tavLst>
                                    </p:anim>
                                    <p:set>
                                      <p:cBhvr>
                                        <p:cTn dur="1" fill="hold">
                                          <p:stCondLst>
                                            <p:cond delay="1000"/>
                                          </p:stCondLst>
                                        </p:cTn>
                                        <p:tgtEl>
                                          <p:spTgt spid="18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485775" y="19383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000"/>
              <a:buFont typeface="Algerian"/>
              <a:buNone/>
            </a:pPr>
            <a:r>
              <a:rPr lang="fr" sz="3000">
                <a:solidFill>
                  <a:srgbClr val="BF9000"/>
                </a:solidFill>
                <a:latin typeface="Algerian"/>
                <a:ea typeface="Algerian"/>
                <a:cs typeface="Algerian"/>
                <a:sym typeface="Algerian"/>
              </a:rPr>
              <a:t>FONCTIONNEMENT DU PCB</a:t>
            </a:r>
            <a:endParaRPr sz="3000">
              <a:solidFill>
                <a:srgbClr val="BF9000"/>
              </a:solidFill>
              <a:latin typeface="Algerian"/>
              <a:ea typeface="Algerian"/>
              <a:cs typeface="Algerian"/>
              <a:sym typeface="Algerian"/>
            </a:endParaRPr>
          </a:p>
        </p:txBody>
      </p:sp>
      <p:pic>
        <p:nvPicPr>
          <p:cNvPr descr="ChatGPT Image 25 oct. 2025, 20_11_13" id="194" name="Google Shape;194;p31"/>
          <p:cNvPicPr preferRelativeResize="0"/>
          <p:nvPr/>
        </p:nvPicPr>
        <p:blipFill rotWithShape="1">
          <a:blip r:embed="rId3">
            <a:alphaModFix/>
          </a:blip>
          <a:srcRect b="0" l="0" r="0" t="0"/>
          <a:stretch/>
        </p:blipFill>
        <p:spPr>
          <a:xfrm>
            <a:off x="4264343" y="4527709"/>
            <a:ext cx="615791" cy="615791"/>
          </a:xfrm>
          <a:prstGeom prst="rect">
            <a:avLst/>
          </a:prstGeom>
          <a:noFill/>
          <a:ln>
            <a:noFill/>
          </a:ln>
        </p:spPr>
      </p:pic>
      <p:pic>
        <p:nvPicPr>
          <p:cNvPr descr="ChatGPT Image 25 oct. 2025, 20_07_55" id="195" name="Google Shape;195;p31"/>
          <p:cNvPicPr preferRelativeResize="0"/>
          <p:nvPr/>
        </p:nvPicPr>
        <p:blipFill rotWithShape="1">
          <a:blip r:embed="rId4">
            <a:alphaModFix/>
          </a:blip>
          <a:srcRect b="23405" l="0" r="52050" t="25957"/>
          <a:stretch/>
        </p:blipFill>
        <p:spPr>
          <a:xfrm flipH="1">
            <a:off x="289058" y="1923705"/>
            <a:ext cx="736282" cy="778668"/>
          </a:xfrm>
          <a:prstGeom prst="rect">
            <a:avLst/>
          </a:prstGeom>
          <a:noFill/>
          <a:ln>
            <a:noFill/>
          </a:ln>
        </p:spPr>
      </p:pic>
      <p:sp>
        <p:nvSpPr>
          <p:cNvPr id="196" name="Google Shape;196;p31"/>
          <p:cNvSpPr txBox="1"/>
          <p:nvPr/>
        </p:nvSpPr>
        <p:spPr>
          <a:xfrm>
            <a:off x="4434840" y="4686300"/>
            <a:ext cx="2739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6</a:t>
            </a:r>
            <a:endParaRPr b="1" sz="1500">
              <a:solidFill>
                <a:srgbClr val="7F6000"/>
              </a:solidFill>
              <a:latin typeface="Arial Rounded"/>
              <a:ea typeface="Arial Rounded"/>
              <a:cs typeface="Arial Rounded"/>
              <a:sym typeface="Arial Rounded"/>
            </a:endParaRPr>
          </a:p>
        </p:txBody>
      </p:sp>
      <p:sp>
        <p:nvSpPr>
          <p:cNvPr id="197" name="Google Shape;197;p31"/>
          <p:cNvSpPr txBox="1"/>
          <p:nvPr>
            <p:ph idx="1" type="body"/>
          </p:nvPr>
        </p:nvSpPr>
        <p:spPr>
          <a:xfrm>
            <a:off x="485775"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fr" sz="1600">
                <a:solidFill>
                  <a:srgbClr val="85200C"/>
                </a:solidFill>
                <a:latin typeface="Algerian"/>
                <a:ea typeface="Algerian"/>
                <a:cs typeface="Algerian"/>
                <a:sym typeface="Algerian"/>
              </a:rPr>
              <a:t>Résistances Chauffantes :</a:t>
            </a:r>
            <a:endParaRPr/>
          </a:p>
        </p:txBody>
      </p:sp>
      <p:pic>
        <p:nvPicPr>
          <p:cNvPr id="198" name="Google Shape;198;p31" title="IMG_1337.jpg"/>
          <p:cNvPicPr preferRelativeResize="0"/>
          <p:nvPr/>
        </p:nvPicPr>
        <p:blipFill>
          <a:blip r:embed="rId5">
            <a:alphaModFix/>
          </a:blip>
          <a:stretch>
            <a:fillRect/>
          </a:stretch>
        </p:blipFill>
        <p:spPr>
          <a:xfrm>
            <a:off x="2383587" y="2000224"/>
            <a:ext cx="4091075" cy="2279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type="title"/>
          </p:nvPr>
        </p:nvSpPr>
        <p:spPr>
          <a:xfrm>
            <a:off x="485775" y="19383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000"/>
              <a:buFont typeface="Algerian"/>
              <a:buNone/>
            </a:pPr>
            <a:r>
              <a:rPr lang="fr" sz="3000">
                <a:solidFill>
                  <a:srgbClr val="BF9000"/>
                </a:solidFill>
                <a:latin typeface="Algerian"/>
                <a:ea typeface="Algerian"/>
                <a:cs typeface="Algerian"/>
                <a:sym typeface="Algerian"/>
              </a:rPr>
              <a:t>FONCTIONNEMENT DU PCB</a:t>
            </a:r>
            <a:endParaRPr sz="3000">
              <a:solidFill>
                <a:srgbClr val="BF9000"/>
              </a:solidFill>
              <a:latin typeface="Algerian"/>
              <a:ea typeface="Algerian"/>
              <a:cs typeface="Algerian"/>
              <a:sym typeface="Algerian"/>
            </a:endParaRPr>
          </a:p>
        </p:txBody>
      </p:sp>
      <p:pic>
        <p:nvPicPr>
          <p:cNvPr descr="ChatGPT Image 25 oct. 2025, 20_11_13" id="204" name="Google Shape;204;p32"/>
          <p:cNvPicPr preferRelativeResize="0"/>
          <p:nvPr/>
        </p:nvPicPr>
        <p:blipFill rotWithShape="1">
          <a:blip r:embed="rId3">
            <a:alphaModFix/>
          </a:blip>
          <a:srcRect b="0" l="0" r="0" t="0"/>
          <a:stretch/>
        </p:blipFill>
        <p:spPr>
          <a:xfrm>
            <a:off x="4264343" y="4527709"/>
            <a:ext cx="615791" cy="615791"/>
          </a:xfrm>
          <a:prstGeom prst="rect">
            <a:avLst/>
          </a:prstGeom>
          <a:noFill/>
          <a:ln>
            <a:noFill/>
          </a:ln>
        </p:spPr>
      </p:pic>
      <p:pic>
        <p:nvPicPr>
          <p:cNvPr descr="ChatGPT Image 25 oct. 2025, 20_07_55" id="205" name="Google Shape;205;p32"/>
          <p:cNvPicPr preferRelativeResize="0"/>
          <p:nvPr/>
        </p:nvPicPr>
        <p:blipFill rotWithShape="1">
          <a:blip r:embed="rId4">
            <a:alphaModFix/>
          </a:blip>
          <a:srcRect b="23405" l="0" r="52050" t="25957"/>
          <a:stretch/>
        </p:blipFill>
        <p:spPr>
          <a:xfrm flipH="1">
            <a:off x="2153758" y="3662605"/>
            <a:ext cx="736282" cy="778668"/>
          </a:xfrm>
          <a:prstGeom prst="rect">
            <a:avLst/>
          </a:prstGeom>
          <a:noFill/>
          <a:ln>
            <a:noFill/>
          </a:ln>
        </p:spPr>
      </p:pic>
      <p:sp>
        <p:nvSpPr>
          <p:cNvPr id="206" name="Google Shape;206;p32"/>
          <p:cNvSpPr txBox="1"/>
          <p:nvPr/>
        </p:nvSpPr>
        <p:spPr>
          <a:xfrm>
            <a:off x="4434840" y="4686300"/>
            <a:ext cx="2739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7</a:t>
            </a:r>
            <a:endParaRPr b="1" sz="1500">
              <a:solidFill>
                <a:srgbClr val="7F6000"/>
              </a:solidFill>
              <a:latin typeface="Arial Rounded"/>
              <a:ea typeface="Arial Rounded"/>
              <a:cs typeface="Arial Rounded"/>
              <a:sym typeface="Arial Rounded"/>
            </a:endParaRPr>
          </a:p>
        </p:txBody>
      </p:sp>
      <p:sp>
        <p:nvSpPr>
          <p:cNvPr id="207" name="Google Shape;207;p32"/>
          <p:cNvSpPr txBox="1"/>
          <p:nvPr>
            <p:ph idx="1" type="body"/>
          </p:nvPr>
        </p:nvSpPr>
        <p:spPr>
          <a:xfrm>
            <a:off x="485775"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fr" sz="1600">
                <a:solidFill>
                  <a:srgbClr val="85200C"/>
                </a:solidFill>
                <a:latin typeface="Algerian"/>
                <a:ea typeface="Algerian"/>
                <a:cs typeface="Algerian"/>
                <a:sym typeface="Algerian"/>
              </a:rPr>
              <a:t>Alimentation + Résistances Chauffantes + Capteurs :</a:t>
            </a:r>
            <a:endParaRPr/>
          </a:p>
        </p:txBody>
      </p:sp>
      <p:pic>
        <p:nvPicPr>
          <p:cNvPr id="208" name="Google Shape;208;p32" title="alimentation.jpg"/>
          <p:cNvPicPr preferRelativeResize="0"/>
          <p:nvPr/>
        </p:nvPicPr>
        <p:blipFill>
          <a:blip r:embed="rId5">
            <a:alphaModFix/>
          </a:blip>
          <a:stretch>
            <a:fillRect/>
          </a:stretch>
        </p:blipFill>
        <p:spPr>
          <a:xfrm>
            <a:off x="1972078" y="1914525"/>
            <a:ext cx="3823075" cy="1488925"/>
          </a:xfrm>
          <a:prstGeom prst="rect">
            <a:avLst/>
          </a:prstGeom>
          <a:noFill/>
          <a:ln>
            <a:noFill/>
          </a:ln>
        </p:spPr>
      </p:pic>
      <p:pic>
        <p:nvPicPr>
          <p:cNvPr id="209" name="Google Shape;209;p32" title="IMG_1337.jpg"/>
          <p:cNvPicPr preferRelativeResize="0"/>
          <p:nvPr/>
        </p:nvPicPr>
        <p:blipFill>
          <a:blip r:embed="rId6">
            <a:alphaModFix/>
          </a:blip>
          <a:stretch>
            <a:fillRect/>
          </a:stretch>
        </p:blipFill>
        <p:spPr>
          <a:xfrm>
            <a:off x="5979675" y="1914525"/>
            <a:ext cx="2672050" cy="1488925"/>
          </a:xfrm>
          <a:prstGeom prst="rect">
            <a:avLst/>
          </a:prstGeom>
          <a:noFill/>
          <a:ln>
            <a:noFill/>
          </a:ln>
        </p:spPr>
      </p:pic>
      <p:pic>
        <p:nvPicPr>
          <p:cNvPr id="210" name="Google Shape;210;p32" title="capteurs.jpg"/>
          <p:cNvPicPr preferRelativeResize="0"/>
          <p:nvPr/>
        </p:nvPicPr>
        <p:blipFill>
          <a:blip r:embed="rId7">
            <a:alphaModFix/>
          </a:blip>
          <a:stretch>
            <a:fillRect/>
          </a:stretch>
        </p:blipFill>
        <p:spPr>
          <a:xfrm>
            <a:off x="232896" y="1914525"/>
            <a:ext cx="1444600" cy="31742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0"/>
                                        </p:tgtEl>
                                        <p:attrNameLst>
                                          <p:attrName>style.visibility</p:attrName>
                                        </p:attrNameLst>
                                      </p:cBhvr>
                                      <p:to>
                                        <p:strVal val="visible"/>
                                      </p:to>
                                    </p:set>
                                    <p:anim calcmode="lin" valueType="num">
                                      <p:cBhvr additive="base">
                                        <p:cTn dur="1000"/>
                                        <p:tgtEl>
                                          <p:spTgt spid="210"/>
                                        </p:tgtEl>
                                        <p:attrNameLst>
                                          <p:attrName>ppt_w</p:attrName>
                                        </p:attrNameLst>
                                      </p:cBhvr>
                                      <p:tavLst>
                                        <p:tav fmla="" tm="0">
                                          <p:val>
                                            <p:strVal val="0"/>
                                          </p:val>
                                        </p:tav>
                                        <p:tav fmla="" tm="100000">
                                          <p:val>
                                            <p:strVal val="#ppt_w"/>
                                          </p:val>
                                        </p:tav>
                                      </p:tavLst>
                                    </p:anim>
                                    <p:anim calcmode="lin" valueType="num">
                                      <p:cBhvr additive="base">
                                        <p:cTn dur="1000"/>
                                        <p:tgtEl>
                                          <p:spTgt spid="21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1000"/>
                                        <p:tgtEl>
                                          <p:spTgt spid="208"/>
                                        </p:tgtEl>
                                        <p:attrNameLst>
                                          <p:attrName>ppt_w</p:attrName>
                                        </p:attrNameLst>
                                      </p:cBhvr>
                                      <p:tavLst>
                                        <p:tav fmla="" tm="0">
                                          <p:val>
                                            <p:strVal val="#ppt_w"/>
                                          </p:val>
                                        </p:tav>
                                        <p:tav fmla="" tm="100000">
                                          <p:val>
                                            <p:strVal val="0"/>
                                          </p:val>
                                        </p:tav>
                                      </p:tavLst>
                                    </p:anim>
                                    <p:anim calcmode="lin" valueType="num">
                                      <p:cBhvr additive="base">
                                        <p:cTn dur="1000"/>
                                        <p:tgtEl>
                                          <p:spTgt spid="208"/>
                                        </p:tgtEl>
                                        <p:attrNameLst>
                                          <p:attrName>ppt_h</p:attrName>
                                        </p:attrNameLst>
                                      </p:cBhvr>
                                      <p:tavLst>
                                        <p:tav fmla="" tm="0">
                                          <p:val>
                                            <p:strVal val="#ppt_h"/>
                                          </p:val>
                                        </p:tav>
                                        <p:tav fmla="" tm="100000">
                                          <p:val>
                                            <p:strVal val="0"/>
                                          </p:val>
                                        </p:tav>
                                      </p:tavLst>
                                    </p:anim>
                                    <p:set>
                                      <p:cBhvr>
                                        <p:cTn dur="1" fill="hold">
                                          <p:stCondLst>
                                            <p:cond delay="1000"/>
                                          </p:stCondLst>
                                        </p:cTn>
                                        <p:tgtEl>
                                          <p:spTgt spid="208"/>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1000"/>
                                        <p:tgtEl>
                                          <p:spTgt spid="209"/>
                                        </p:tgtEl>
                                        <p:attrNameLst>
                                          <p:attrName>ppt_w</p:attrName>
                                        </p:attrNameLst>
                                      </p:cBhvr>
                                      <p:tavLst>
                                        <p:tav fmla="" tm="0">
                                          <p:val>
                                            <p:strVal val="#ppt_w"/>
                                          </p:val>
                                        </p:tav>
                                        <p:tav fmla="" tm="100000">
                                          <p:val>
                                            <p:strVal val="0"/>
                                          </p:val>
                                        </p:tav>
                                      </p:tavLst>
                                    </p:anim>
                                    <p:anim calcmode="lin" valueType="num">
                                      <p:cBhvr additive="base">
                                        <p:cTn dur="1000"/>
                                        <p:tgtEl>
                                          <p:spTgt spid="209"/>
                                        </p:tgtEl>
                                        <p:attrNameLst>
                                          <p:attrName>ppt_h</p:attrName>
                                        </p:attrNameLst>
                                      </p:cBhvr>
                                      <p:tavLst>
                                        <p:tav fmla="" tm="0">
                                          <p:val>
                                            <p:strVal val="#ppt_h"/>
                                          </p:val>
                                        </p:tav>
                                        <p:tav fmla="" tm="100000">
                                          <p:val>
                                            <p:strVal val="0"/>
                                          </p:val>
                                        </p:tav>
                                      </p:tavLst>
                                    </p:anim>
                                    <p:set>
                                      <p:cBhvr>
                                        <p:cTn dur="1" fill="hold">
                                          <p:stCondLst>
                                            <p:cond delay="1000"/>
                                          </p:stCondLst>
                                        </p:cTn>
                                        <p:tgtEl>
                                          <p:spTgt spid="20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3"/>
          <p:cNvSpPr txBox="1"/>
          <p:nvPr>
            <p:ph type="title"/>
          </p:nvPr>
        </p:nvSpPr>
        <p:spPr>
          <a:xfrm>
            <a:off x="485775" y="19383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000"/>
              <a:buFont typeface="Algerian"/>
              <a:buNone/>
            </a:pPr>
            <a:r>
              <a:rPr lang="fr" sz="3000">
                <a:solidFill>
                  <a:srgbClr val="BF9000"/>
                </a:solidFill>
                <a:latin typeface="Algerian"/>
                <a:ea typeface="Algerian"/>
                <a:cs typeface="Algerian"/>
                <a:sym typeface="Algerian"/>
              </a:rPr>
              <a:t>FONCTIONNEMENT DU PCB</a:t>
            </a:r>
            <a:endParaRPr sz="3000">
              <a:solidFill>
                <a:srgbClr val="BF9000"/>
              </a:solidFill>
              <a:latin typeface="Algerian"/>
              <a:ea typeface="Algerian"/>
              <a:cs typeface="Algerian"/>
              <a:sym typeface="Algerian"/>
            </a:endParaRPr>
          </a:p>
        </p:txBody>
      </p:sp>
      <p:pic>
        <p:nvPicPr>
          <p:cNvPr descr="ChatGPT Image 25 oct. 2025, 20_11_13" id="216" name="Google Shape;216;p33"/>
          <p:cNvPicPr preferRelativeResize="0"/>
          <p:nvPr/>
        </p:nvPicPr>
        <p:blipFill rotWithShape="1">
          <a:blip r:embed="rId3">
            <a:alphaModFix/>
          </a:blip>
          <a:srcRect b="0" l="0" r="0" t="0"/>
          <a:stretch/>
        </p:blipFill>
        <p:spPr>
          <a:xfrm>
            <a:off x="5602393" y="4437009"/>
            <a:ext cx="615791" cy="615791"/>
          </a:xfrm>
          <a:prstGeom prst="rect">
            <a:avLst/>
          </a:prstGeom>
          <a:noFill/>
          <a:ln>
            <a:noFill/>
          </a:ln>
        </p:spPr>
      </p:pic>
      <p:pic>
        <p:nvPicPr>
          <p:cNvPr descr="ChatGPT Image 25 oct. 2025, 20_07_55" id="217" name="Google Shape;217;p33"/>
          <p:cNvPicPr preferRelativeResize="0"/>
          <p:nvPr/>
        </p:nvPicPr>
        <p:blipFill rotWithShape="1">
          <a:blip r:embed="rId4">
            <a:alphaModFix/>
          </a:blip>
          <a:srcRect b="23405" l="0" r="52050" t="25957"/>
          <a:stretch/>
        </p:blipFill>
        <p:spPr>
          <a:xfrm flipH="1">
            <a:off x="6457633" y="767080"/>
            <a:ext cx="736282" cy="778668"/>
          </a:xfrm>
          <a:prstGeom prst="rect">
            <a:avLst/>
          </a:prstGeom>
          <a:noFill/>
          <a:ln>
            <a:noFill/>
          </a:ln>
        </p:spPr>
      </p:pic>
      <p:sp>
        <p:nvSpPr>
          <p:cNvPr id="218" name="Google Shape;218;p33"/>
          <p:cNvSpPr txBox="1"/>
          <p:nvPr/>
        </p:nvSpPr>
        <p:spPr>
          <a:xfrm>
            <a:off x="5772890" y="4595600"/>
            <a:ext cx="2739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8</a:t>
            </a:r>
            <a:endParaRPr b="1" sz="1500">
              <a:solidFill>
                <a:srgbClr val="7F6000"/>
              </a:solidFill>
              <a:latin typeface="Arial Rounded"/>
              <a:ea typeface="Arial Rounded"/>
              <a:cs typeface="Arial Rounded"/>
              <a:sym typeface="Arial Rounded"/>
            </a:endParaRPr>
          </a:p>
        </p:txBody>
      </p:sp>
      <p:sp>
        <p:nvSpPr>
          <p:cNvPr id="219" name="Google Shape;219;p33"/>
          <p:cNvSpPr txBox="1"/>
          <p:nvPr>
            <p:ph idx="1" type="body"/>
          </p:nvPr>
        </p:nvSpPr>
        <p:spPr>
          <a:xfrm>
            <a:off x="485775"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fr" sz="1600">
                <a:solidFill>
                  <a:srgbClr val="85200C"/>
                </a:solidFill>
                <a:latin typeface="Algerian"/>
                <a:ea typeface="Algerian"/>
                <a:cs typeface="Algerian"/>
                <a:sym typeface="Algerian"/>
              </a:rPr>
              <a:t>Capteurs :</a:t>
            </a:r>
            <a:endParaRPr/>
          </a:p>
        </p:txBody>
      </p:sp>
      <p:pic>
        <p:nvPicPr>
          <p:cNvPr id="220" name="Google Shape;220;p33" title="capteurs.jpg"/>
          <p:cNvPicPr preferRelativeResize="0"/>
          <p:nvPr/>
        </p:nvPicPr>
        <p:blipFill>
          <a:blip r:embed="rId5">
            <a:alphaModFix/>
          </a:blip>
          <a:stretch>
            <a:fillRect/>
          </a:stretch>
        </p:blipFill>
        <p:spPr>
          <a:xfrm>
            <a:off x="3566675" y="1095150"/>
            <a:ext cx="1755225" cy="38568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4"/>
          <p:cNvSpPr txBox="1"/>
          <p:nvPr>
            <p:ph type="title"/>
          </p:nvPr>
        </p:nvSpPr>
        <p:spPr>
          <a:xfrm>
            <a:off x="485775" y="19383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000"/>
              <a:buFont typeface="Algerian"/>
              <a:buNone/>
            </a:pPr>
            <a:r>
              <a:rPr lang="fr" sz="3000">
                <a:solidFill>
                  <a:srgbClr val="BF9000"/>
                </a:solidFill>
                <a:latin typeface="Algerian"/>
                <a:ea typeface="Algerian"/>
                <a:cs typeface="Algerian"/>
                <a:sym typeface="Algerian"/>
              </a:rPr>
              <a:t>FONCTIONNEMENT DU PCB</a:t>
            </a:r>
            <a:endParaRPr sz="3000">
              <a:solidFill>
                <a:srgbClr val="BF9000"/>
              </a:solidFill>
              <a:latin typeface="Algerian"/>
              <a:ea typeface="Algerian"/>
              <a:cs typeface="Algerian"/>
              <a:sym typeface="Algerian"/>
            </a:endParaRPr>
          </a:p>
        </p:txBody>
      </p:sp>
      <p:pic>
        <p:nvPicPr>
          <p:cNvPr descr="ChatGPT Image 25 oct. 2025, 20_11_13" id="226" name="Google Shape;226;p34"/>
          <p:cNvPicPr preferRelativeResize="0"/>
          <p:nvPr/>
        </p:nvPicPr>
        <p:blipFill rotWithShape="1">
          <a:blip r:embed="rId3">
            <a:alphaModFix/>
          </a:blip>
          <a:srcRect b="0" l="0" r="0" t="0"/>
          <a:stretch/>
        </p:blipFill>
        <p:spPr>
          <a:xfrm>
            <a:off x="4264343" y="4527709"/>
            <a:ext cx="615791" cy="615791"/>
          </a:xfrm>
          <a:prstGeom prst="rect">
            <a:avLst/>
          </a:prstGeom>
          <a:noFill/>
          <a:ln>
            <a:noFill/>
          </a:ln>
        </p:spPr>
      </p:pic>
      <p:pic>
        <p:nvPicPr>
          <p:cNvPr descr="ChatGPT Image 25 oct. 2025, 20_07_55" id="227" name="Google Shape;227;p34"/>
          <p:cNvPicPr preferRelativeResize="0"/>
          <p:nvPr/>
        </p:nvPicPr>
        <p:blipFill rotWithShape="1">
          <a:blip r:embed="rId4">
            <a:alphaModFix/>
          </a:blip>
          <a:srcRect b="23405" l="0" r="52050" t="25957"/>
          <a:stretch/>
        </p:blipFill>
        <p:spPr>
          <a:xfrm flipH="1">
            <a:off x="2069333" y="3685255"/>
            <a:ext cx="736282" cy="778668"/>
          </a:xfrm>
          <a:prstGeom prst="rect">
            <a:avLst/>
          </a:prstGeom>
          <a:noFill/>
          <a:ln>
            <a:noFill/>
          </a:ln>
        </p:spPr>
      </p:pic>
      <p:sp>
        <p:nvSpPr>
          <p:cNvPr id="228" name="Google Shape;228;p34"/>
          <p:cNvSpPr txBox="1"/>
          <p:nvPr/>
        </p:nvSpPr>
        <p:spPr>
          <a:xfrm>
            <a:off x="4434840" y="4686300"/>
            <a:ext cx="2739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9</a:t>
            </a:r>
            <a:endParaRPr b="1" sz="1500">
              <a:solidFill>
                <a:srgbClr val="7F6000"/>
              </a:solidFill>
              <a:latin typeface="Arial Rounded"/>
              <a:ea typeface="Arial Rounded"/>
              <a:cs typeface="Arial Rounded"/>
              <a:sym typeface="Arial Rounded"/>
            </a:endParaRPr>
          </a:p>
        </p:txBody>
      </p:sp>
      <p:sp>
        <p:nvSpPr>
          <p:cNvPr id="229" name="Google Shape;229;p34"/>
          <p:cNvSpPr txBox="1"/>
          <p:nvPr>
            <p:ph idx="1" type="body"/>
          </p:nvPr>
        </p:nvSpPr>
        <p:spPr>
          <a:xfrm>
            <a:off x="485775"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fr" sz="1600">
                <a:solidFill>
                  <a:srgbClr val="85200C"/>
                </a:solidFill>
                <a:latin typeface="Algerian"/>
                <a:ea typeface="Algerian"/>
                <a:cs typeface="Algerian"/>
                <a:sym typeface="Algerian"/>
              </a:rPr>
              <a:t>Alimentation + Résistances Chauffantes + Capteurs + </a:t>
            </a:r>
            <a:r>
              <a:rPr b="1" lang="fr" sz="1600">
                <a:solidFill>
                  <a:srgbClr val="85200C"/>
                </a:solidFill>
                <a:latin typeface="Algerian"/>
                <a:ea typeface="Algerian"/>
                <a:cs typeface="Algerian"/>
                <a:sym typeface="Algerian"/>
              </a:rPr>
              <a:t>Contrôle</a:t>
            </a:r>
            <a:r>
              <a:rPr b="1" lang="fr" sz="1600">
                <a:solidFill>
                  <a:srgbClr val="85200C"/>
                </a:solidFill>
                <a:latin typeface="Algerian"/>
                <a:ea typeface="Algerian"/>
                <a:cs typeface="Algerian"/>
                <a:sym typeface="Algerian"/>
              </a:rPr>
              <a:t> :</a:t>
            </a:r>
            <a:endParaRPr b="1" sz="1600">
              <a:solidFill>
                <a:srgbClr val="85200C"/>
              </a:solidFill>
              <a:latin typeface="Algerian"/>
              <a:ea typeface="Algerian"/>
              <a:cs typeface="Algerian"/>
              <a:sym typeface="Algerian"/>
            </a:endParaRPr>
          </a:p>
        </p:txBody>
      </p:sp>
      <p:pic>
        <p:nvPicPr>
          <p:cNvPr id="230" name="Google Shape;230;p34" title="alimentation.jpg"/>
          <p:cNvPicPr preferRelativeResize="0"/>
          <p:nvPr/>
        </p:nvPicPr>
        <p:blipFill>
          <a:blip r:embed="rId5">
            <a:alphaModFix/>
          </a:blip>
          <a:stretch>
            <a:fillRect/>
          </a:stretch>
        </p:blipFill>
        <p:spPr>
          <a:xfrm>
            <a:off x="1972078" y="1914525"/>
            <a:ext cx="3823075" cy="1488925"/>
          </a:xfrm>
          <a:prstGeom prst="rect">
            <a:avLst/>
          </a:prstGeom>
          <a:noFill/>
          <a:ln>
            <a:noFill/>
          </a:ln>
        </p:spPr>
      </p:pic>
      <p:pic>
        <p:nvPicPr>
          <p:cNvPr id="231" name="Google Shape;231;p34" title="IMG_1337.jpg"/>
          <p:cNvPicPr preferRelativeResize="0"/>
          <p:nvPr/>
        </p:nvPicPr>
        <p:blipFill>
          <a:blip r:embed="rId6">
            <a:alphaModFix/>
          </a:blip>
          <a:stretch>
            <a:fillRect/>
          </a:stretch>
        </p:blipFill>
        <p:spPr>
          <a:xfrm>
            <a:off x="5979675" y="1914525"/>
            <a:ext cx="2672050" cy="1488925"/>
          </a:xfrm>
          <a:prstGeom prst="rect">
            <a:avLst/>
          </a:prstGeom>
          <a:noFill/>
          <a:ln>
            <a:noFill/>
          </a:ln>
        </p:spPr>
      </p:pic>
      <p:pic>
        <p:nvPicPr>
          <p:cNvPr id="232" name="Google Shape;232;p34" title="capteurs.jpg"/>
          <p:cNvPicPr preferRelativeResize="0"/>
          <p:nvPr/>
        </p:nvPicPr>
        <p:blipFill>
          <a:blip r:embed="rId7">
            <a:alphaModFix/>
          </a:blip>
          <a:stretch>
            <a:fillRect/>
          </a:stretch>
        </p:blipFill>
        <p:spPr>
          <a:xfrm>
            <a:off x="232896" y="1914525"/>
            <a:ext cx="1444600" cy="3174249"/>
          </a:xfrm>
          <a:prstGeom prst="rect">
            <a:avLst/>
          </a:prstGeom>
          <a:noFill/>
          <a:ln>
            <a:noFill/>
          </a:ln>
        </p:spPr>
      </p:pic>
      <p:pic>
        <p:nvPicPr>
          <p:cNvPr id="233" name="Google Shape;233;p34" title="controle.jpg"/>
          <p:cNvPicPr preferRelativeResize="0"/>
          <p:nvPr/>
        </p:nvPicPr>
        <p:blipFill>
          <a:blip r:embed="rId8">
            <a:alphaModFix/>
          </a:blip>
          <a:stretch>
            <a:fillRect/>
          </a:stretch>
        </p:blipFill>
        <p:spPr>
          <a:xfrm>
            <a:off x="5144100" y="3685253"/>
            <a:ext cx="3507626" cy="1091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3"/>
                                        </p:tgtEl>
                                        <p:attrNameLst>
                                          <p:attrName>style.visibility</p:attrName>
                                        </p:attrNameLst>
                                      </p:cBhvr>
                                      <p:to>
                                        <p:strVal val="visible"/>
                                      </p:to>
                                    </p:set>
                                    <p:anim calcmode="lin" valueType="num">
                                      <p:cBhvr additive="base">
                                        <p:cTn dur="1000"/>
                                        <p:tgtEl>
                                          <p:spTgt spid="233"/>
                                        </p:tgtEl>
                                        <p:attrNameLst>
                                          <p:attrName>ppt_w</p:attrName>
                                        </p:attrNameLst>
                                      </p:cBhvr>
                                      <p:tavLst>
                                        <p:tav fmla="" tm="0">
                                          <p:val>
                                            <p:strVal val="0"/>
                                          </p:val>
                                        </p:tav>
                                        <p:tav fmla="" tm="100000">
                                          <p:val>
                                            <p:strVal val="#ppt_w"/>
                                          </p:val>
                                        </p:tav>
                                      </p:tavLst>
                                    </p:anim>
                                    <p:anim calcmode="lin" valueType="num">
                                      <p:cBhvr additive="base">
                                        <p:cTn dur="1000"/>
                                        <p:tgtEl>
                                          <p:spTgt spid="23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1000"/>
                                        <p:tgtEl>
                                          <p:spTgt spid="232"/>
                                        </p:tgtEl>
                                        <p:attrNameLst>
                                          <p:attrName>ppt_w</p:attrName>
                                        </p:attrNameLst>
                                      </p:cBhvr>
                                      <p:tavLst>
                                        <p:tav fmla="" tm="0">
                                          <p:val>
                                            <p:strVal val="#ppt_w"/>
                                          </p:val>
                                        </p:tav>
                                        <p:tav fmla="" tm="100000">
                                          <p:val>
                                            <p:strVal val="0"/>
                                          </p:val>
                                        </p:tav>
                                      </p:tavLst>
                                    </p:anim>
                                    <p:anim calcmode="lin" valueType="num">
                                      <p:cBhvr additive="base">
                                        <p:cTn dur="1000"/>
                                        <p:tgtEl>
                                          <p:spTgt spid="232"/>
                                        </p:tgtEl>
                                        <p:attrNameLst>
                                          <p:attrName>ppt_h</p:attrName>
                                        </p:attrNameLst>
                                      </p:cBhvr>
                                      <p:tavLst>
                                        <p:tav fmla="" tm="0">
                                          <p:val>
                                            <p:strVal val="#ppt_h"/>
                                          </p:val>
                                        </p:tav>
                                        <p:tav fmla="" tm="100000">
                                          <p:val>
                                            <p:strVal val="0"/>
                                          </p:val>
                                        </p:tav>
                                      </p:tavLst>
                                    </p:anim>
                                    <p:set>
                                      <p:cBhvr>
                                        <p:cTn dur="1" fill="hold">
                                          <p:stCondLst>
                                            <p:cond delay="1000"/>
                                          </p:stCondLst>
                                        </p:cTn>
                                        <p:tgtEl>
                                          <p:spTgt spid="232"/>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1000"/>
                                        <p:tgtEl>
                                          <p:spTgt spid="230"/>
                                        </p:tgtEl>
                                        <p:attrNameLst>
                                          <p:attrName>ppt_w</p:attrName>
                                        </p:attrNameLst>
                                      </p:cBhvr>
                                      <p:tavLst>
                                        <p:tav fmla="" tm="0">
                                          <p:val>
                                            <p:strVal val="#ppt_w"/>
                                          </p:val>
                                        </p:tav>
                                        <p:tav fmla="" tm="100000">
                                          <p:val>
                                            <p:strVal val="0"/>
                                          </p:val>
                                        </p:tav>
                                      </p:tavLst>
                                    </p:anim>
                                    <p:anim calcmode="lin" valueType="num">
                                      <p:cBhvr additive="base">
                                        <p:cTn dur="1000"/>
                                        <p:tgtEl>
                                          <p:spTgt spid="230"/>
                                        </p:tgtEl>
                                        <p:attrNameLst>
                                          <p:attrName>ppt_h</p:attrName>
                                        </p:attrNameLst>
                                      </p:cBhvr>
                                      <p:tavLst>
                                        <p:tav fmla="" tm="0">
                                          <p:val>
                                            <p:strVal val="#ppt_h"/>
                                          </p:val>
                                        </p:tav>
                                        <p:tav fmla="" tm="100000">
                                          <p:val>
                                            <p:strVal val="0"/>
                                          </p:val>
                                        </p:tav>
                                      </p:tavLst>
                                    </p:anim>
                                    <p:set>
                                      <p:cBhvr>
                                        <p:cTn dur="1" fill="hold">
                                          <p:stCondLst>
                                            <p:cond delay="1000"/>
                                          </p:stCondLst>
                                        </p:cTn>
                                        <p:tgtEl>
                                          <p:spTgt spid="230"/>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1000"/>
                                        <p:tgtEl>
                                          <p:spTgt spid="231"/>
                                        </p:tgtEl>
                                        <p:attrNameLst>
                                          <p:attrName>ppt_w</p:attrName>
                                        </p:attrNameLst>
                                      </p:cBhvr>
                                      <p:tavLst>
                                        <p:tav fmla="" tm="0">
                                          <p:val>
                                            <p:strVal val="#ppt_w"/>
                                          </p:val>
                                        </p:tav>
                                        <p:tav fmla="" tm="100000">
                                          <p:val>
                                            <p:strVal val="0"/>
                                          </p:val>
                                        </p:tav>
                                      </p:tavLst>
                                    </p:anim>
                                    <p:anim calcmode="lin" valueType="num">
                                      <p:cBhvr additive="base">
                                        <p:cTn dur="1000"/>
                                        <p:tgtEl>
                                          <p:spTgt spid="231"/>
                                        </p:tgtEl>
                                        <p:attrNameLst>
                                          <p:attrName>ppt_h</p:attrName>
                                        </p:attrNameLst>
                                      </p:cBhvr>
                                      <p:tavLst>
                                        <p:tav fmla="" tm="0">
                                          <p:val>
                                            <p:strVal val="#ppt_h"/>
                                          </p:val>
                                        </p:tav>
                                        <p:tav fmla="" tm="100000">
                                          <p:val>
                                            <p:strVal val="0"/>
                                          </p:val>
                                        </p:tav>
                                      </p:tavLst>
                                    </p:anim>
                                    <p:set>
                                      <p:cBhvr>
                                        <p:cTn dur="1" fill="hold">
                                          <p:stCondLst>
                                            <p:cond delay="1000"/>
                                          </p:stCondLst>
                                        </p:cTn>
                                        <p:tgtEl>
                                          <p:spTgt spid="23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5"/>
          <p:cNvSpPr txBox="1"/>
          <p:nvPr>
            <p:ph type="title"/>
          </p:nvPr>
        </p:nvSpPr>
        <p:spPr>
          <a:xfrm>
            <a:off x="485775" y="19383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000"/>
              <a:buFont typeface="Algerian"/>
              <a:buNone/>
            </a:pPr>
            <a:r>
              <a:rPr lang="fr" sz="3000">
                <a:solidFill>
                  <a:srgbClr val="BF9000"/>
                </a:solidFill>
                <a:latin typeface="Algerian"/>
                <a:ea typeface="Algerian"/>
                <a:cs typeface="Algerian"/>
                <a:sym typeface="Algerian"/>
              </a:rPr>
              <a:t>FONCTIONNEMENT DU PCB</a:t>
            </a:r>
            <a:endParaRPr sz="3000">
              <a:solidFill>
                <a:srgbClr val="BF9000"/>
              </a:solidFill>
              <a:latin typeface="Algerian"/>
              <a:ea typeface="Algerian"/>
              <a:cs typeface="Algerian"/>
              <a:sym typeface="Algerian"/>
            </a:endParaRPr>
          </a:p>
        </p:txBody>
      </p:sp>
      <p:pic>
        <p:nvPicPr>
          <p:cNvPr descr="ChatGPT Image 25 oct. 2025, 20_11_13" id="239" name="Google Shape;239;p35"/>
          <p:cNvPicPr preferRelativeResize="0"/>
          <p:nvPr/>
        </p:nvPicPr>
        <p:blipFill rotWithShape="1">
          <a:blip r:embed="rId3">
            <a:alphaModFix/>
          </a:blip>
          <a:srcRect b="0" l="0" r="0" t="0"/>
          <a:stretch/>
        </p:blipFill>
        <p:spPr>
          <a:xfrm>
            <a:off x="5602393" y="4437009"/>
            <a:ext cx="615791" cy="615791"/>
          </a:xfrm>
          <a:prstGeom prst="rect">
            <a:avLst/>
          </a:prstGeom>
          <a:noFill/>
          <a:ln>
            <a:noFill/>
          </a:ln>
        </p:spPr>
      </p:pic>
      <p:pic>
        <p:nvPicPr>
          <p:cNvPr descr="ChatGPT Image 25 oct. 2025, 20_07_55" id="240" name="Google Shape;240;p35"/>
          <p:cNvPicPr preferRelativeResize="0"/>
          <p:nvPr/>
        </p:nvPicPr>
        <p:blipFill rotWithShape="1">
          <a:blip r:embed="rId4">
            <a:alphaModFix/>
          </a:blip>
          <a:srcRect b="23405" l="0" r="52050" t="25957"/>
          <a:stretch/>
        </p:blipFill>
        <p:spPr>
          <a:xfrm flipH="1">
            <a:off x="5310508" y="1188030"/>
            <a:ext cx="736282" cy="778668"/>
          </a:xfrm>
          <a:prstGeom prst="rect">
            <a:avLst/>
          </a:prstGeom>
          <a:noFill/>
          <a:ln>
            <a:noFill/>
          </a:ln>
        </p:spPr>
      </p:pic>
      <p:sp>
        <p:nvSpPr>
          <p:cNvPr id="241" name="Google Shape;241;p35"/>
          <p:cNvSpPr txBox="1"/>
          <p:nvPr/>
        </p:nvSpPr>
        <p:spPr>
          <a:xfrm>
            <a:off x="5710642" y="4594900"/>
            <a:ext cx="3993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10</a:t>
            </a:r>
            <a:endParaRPr b="1" sz="1500">
              <a:solidFill>
                <a:srgbClr val="7F6000"/>
              </a:solidFill>
              <a:latin typeface="Arial Rounded"/>
              <a:ea typeface="Arial Rounded"/>
              <a:cs typeface="Arial Rounded"/>
              <a:sym typeface="Arial Rounded"/>
            </a:endParaRPr>
          </a:p>
        </p:txBody>
      </p:sp>
      <p:sp>
        <p:nvSpPr>
          <p:cNvPr id="242" name="Google Shape;242;p35"/>
          <p:cNvSpPr txBox="1"/>
          <p:nvPr>
            <p:ph idx="1" type="body"/>
          </p:nvPr>
        </p:nvSpPr>
        <p:spPr>
          <a:xfrm>
            <a:off x="485775"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fr" sz="1600">
                <a:solidFill>
                  <a:srgbClr val="85200C"/>
                </a:solidFill>
                <a:latin typeface="Algerian"/>
                <a:ea typeface="Algerian"/>
                <a:cs typeface="Algerian"/>
                <a:sym typeface="Algerian"/>
              </a:rPr>
              <a:t>Contrôle</a:t>
            </a:r>
            <a:r>
              <a:rPr b="1" lang="fr" sz="1600">
                <a:solidFill>
                  <a:srgbClr val="85200C"/>
                </a:solidFill>
                <a:latin typeface="Algerian"/>
                <a:ea typeface="Algerian"/>
                <a:cs typeface="Algerian"/>
                <a:sym typeface="Algerian"/>
              </a:rPr>
              <a:t> :</a:t>
            </a:r>
            <a:endParaRPr/>
          </a:p>
        </p:txBody>
      </p:sp>
      <p:pic>
        <p:nvPicPr>
          <p:cNvPr id="243" name="Google Shape;243;p35" title="controle.jpg"/>
          <p:cNvPicPr preferRelativeResize="0"/>
          <p:nvPr/>
        </p:nvPicPr>
        <p:blipFill>
          <a:blip r:embed="rId5">
            <a:alphaModFix/>
          </a:blip>
          <a:stretch>
            <a:fillRect/>
          </a:stretch>
        </p:blipFill>
        <p:spPr>
          <a:xfrm>
            <a:off x="788400" y="1946599"/>
            <a:ext cx="7567199" cy="2353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6"/>
          <p:cNvSpPr txBox="1"/>
          <p:nvPr>
            <p:ph type="title"/>
          </p:nvPr>
        </p:nvSpPr>
        <p:spPr>
          <a:xfrm>
            <a:off x="485775" y="19383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000"/>
              <a:buFont typeface="Algerian"/>
              <a:buNone/>
            </a:pPr>
            <a:r>
              <a:rPr lang="fr" sz="3000">
                <a:solidFill>
                  <a:srgbClr val="BF9000"/>
                </a:solidFill>
                <a:latin typeface="Algerian"/>
                <a:ea typeface="Algerian"/>
                <a:cs typeface="Algerian"/>
                <a:sym typeface="Algerian"/>
              </a:rPr>
              <a:t>FONCTIONNEMENT DU PCB</a:t>
            </a:r>
            <a:endParaRPr sz="3000">
              <a:solidFill>
                <a:srgbClr val="BF9000"/>
              </a:solidFill>
              <a:latin typeface="Algerian"/>
              <a:ea typeface="Algerian"/>
              <a:cs typeface="Algerian"/>
              <a:sym typeface="Algerian"/>
            </a:endParaRPr>
          </a:p>
        </p:txBody>
      </p:sp>
      <p:pic>
        <p:nvPicPr>
          <p:cNvPr descr="ChatGPT Image 25 oct. 2025, 20_07_55" id="249" name="Google Shape;249;p36"/>
          <p:cNvPicPr preferRelativeResize="0"/>
          <p:nvPr/>
        </p:nvPicPr>
        <p:blipFill rotWithShape="1">
          <a:blip r:embed="rId3">
            <a:alphaModFix/>
          </a:blip>
          <a:srcRect b="23405" l="0" r="52050" t="25957"/>
          <a:stretch/>
        </p:blipFill>
        <p:spPr>
          <a:xfrm flipH="1">
            <a:off x="1899258" y="4310105"/>
            <a:ext cx="736282" cy="778668"/>
          </a:xfrm>
          <a:prstGeom prst="rect">
            <a:avLst/>
          </a:prstGeom>
          <a:noFill/>
          <a:ln>
            <a:noFill/>
          </a:ln>
        </p:spPr>
      </p:pic>
      <p:sp>
        <p:nvSpPr>
          <p:cNvPr id="250" name="Google Shape;250;p36"/>
          <p:cNvSpPr txBox="1"/>
          <p:nvPr>
            <p:ph idx="1" type="body"/>
          </p:nvPr>
        </p:nvSpPr>
        <p:spPr>
          <a:xfrm>
            <a:off x="485775"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fr" sz="1600">
                <a:solidFill>
                  <a:srgbClr val="85200C"/>
                </a:solidFill>
                <a:latin typeface="Algerian"/>
                <a:ea typeface="Algerian"/>
                <a:cs typeface="Algerian"/>
                <a:sym typeface="Algerian"/>
              </a:rPr>
              <a:t>PCB :</a:t>
            </a:r>
            <a:endParaRPr/>
          </a:p>
        </p:txBody>
      </p:sp>
      <p:pic>
        <p:nvPicPr>
          <p:cNvPr id="251" name="Google Shape;251;p36" title="alimentation.jpg"/>
          <p:cNvPicPr preferRelativeResize="0"/>
          <p:nvPr/>
        </p:nvPicPr>
        <p:blipFill>
          <a:blip r:embed="rId4">
            <a:alphaModFix/>
          </a:blip>
          <a:stretch>
            <a:fillRect/>
          </a:stretch>
        </p:blipFill>
        <p:spPr>
          <a:xfrm>
            <a:off x="1972078" y="1914525"/>
            <a:ext cx="3823075" cy="1488925"/>
          </a:xfrm>
          <a:prstGeom prst="rect">
            <a:avLst/>
          </a:prstGeom>
          <a:noFill/>
          <a:ln>
            <a:noFill/>
          </a:ln>
        </p:spPr>
      </p:pic>
      <p:pic>
        <p:nvPicPr>
          <p:cNvPr id="252" name="Google Shape;252;p36" title="IMG_1337.jpg"/>
          <p:cNvPicPr preferRelativeResize="0"/>
          <p:nvPr/>
        </p:nvPicPr>
        <p:blipFill>
          <a:blip r:embed="rId5">
            <a:alphaModFix/>
          </a:blip>
          <a:stretch>
            <a:fillRect/>
          </a:stretch>
        </p:blipFill>
        <p:spPr>
          <a:xfrm>
            <a:off x="5979675" y="1914525"/>
            <a:ext cx="2672050" cy="1488925"/>
          </a:xfrm>
          <a:prstGeom prst="rect">
            <a:avLst/>
          </a:prstGeom>
          <a:noFill/>
          <a:ln>
            <a:noFill/>
          </a:ln>
        </p:spPr>
      </p:pic>
      <p:pic>
        <p:nvPicPr>
          <p:cNvPr id="253" name="Google Shape;253;p36" title="capteurs.jpg"/>
          <p:cNvPicPr preferRelativeResize="0"/>
          <p:nvPr/>
        </p:nvPicPr>
        <p:blipFill>
          <a:blip r:embed="rId6">
            <a:alphaModFix/>
          </a:blip>
          <a:stretch>
            <a:fillRect/>
          </a:stretch>
        </p:blipFill>
        <p:spPr>
          <a:xfrm>
            <a:off x="232896" y="1914525"/>
            <a:ext cx="1444600" cy="3174249"/>
          </a:xfrm>
          <a:prstGeom prst="rect">
            <a:avLst/>
          </a:prstGeom>
          <a:noFill/>
          <a:ln>
            <a:noFill/>
          </a:ln>
        </p:spPr>
      </p:pic>
      <p:pic>
        <p:nvPicPr>
          <p:cNvPr id="254" name="Google Shape;254;p36" title="controle.jpg"/>
          <p:cNvPicPr preferRelativeResize="0"/>
          <p:nvPr/>
        </p:nvPicPr>
        <p:blipFill>
          <a:blip r:embed="rId7">
            <a:alphaModFix/>
          </a:blip>
          <a:stretch>
            <a:fillRect/>
          </a:stretch>
        </p:blipFill>
        <p:spPr>
          <a:xfrm>
            <a:off x="5144100" y="3685253"/>
            <a:ext cx="3507626" cy="1091025"/>
          </a:xfrm>
          <a:prstGeom prst="rect">
            <a:avLst/>
          </a:prstGeom>
          <a:noFill/>
          <a:ln>
            <a:noFill/>
          </a:ln>
        </p:spPr>
      </p:pic>
      <p:pic>
        <p:nvPicPr>
          <p:cNvPr id="255" name="Google Shape;255;p36" title="SCHEMATIC 2026 FINAL_page-0001.jpg"/>
          <p:cNvPicPr preferRelativeResize="0"/>
          <p:nvPr/>
        </p:nvPicPr>
        <p:blipFill>
          <a:blip r:embed="rId8">
            <a:alphaModFix/>
          </a:blip>
          <a:stretch>
            <a:fillRect/>
          </a:stretch>
        </p:blipFill>
        <p:spPr>
          <a:xfrm>
            <a:off x="2122887" y="1226152"/>
            <a:ext cx="4612465" cy="3263402"/>
          </a:xfrm>
          <a:prstGeom prst="rect">
            <a:avLst/>
          </a:prstGeom>
          <a:noFill/>
          <a:ln>
            <a:noFill/>
          </a:ln>
        </p:spPr>
      </p:pic>
      <p:pic>
        <p:nvPicPr>
          <p:cNvPr descr="ChatGPT Image 25 oct. 2025, 20_11_13" id="256" name="Google Shape;256;p36"/>
          <p:cNvPicPr preferRelativeResize="0"/>
          <p:nvPr/>
        </p:nvPicPr>
        <p:blipFill rotWithShape="1">
          <a:blip r:embed="rId9">
            <a:alphaModFix/>
          </a:blip>
          <a:srcRect b="0" l="0" r="0" t="0"/>
          <a:stretch/>
        </p:blipFill>
        <p:spPr>
          <a:xfrm>
            <a:off x="4264105" y="4527684"/>
            <a:ext cx="615791" cy="615791"/>
          </a:xfrm>
          <a:prstGeom prst="rect">
            <a:avLst/>
          </a:prstGeom>
          <a:noFill/>
          <a:ln>
            <a:noFill/>
          </a:ln>
        </p:spPr>
      </p:pic>
      <p:sp>
        <p:nvSpPr>
          <p:cNvPr id="257" name="Google Shape;257;p36"/>
          <p:cNvSpPr txBox="1"/>
          <p:nvPr/>
        </p:nvSpPr>
        <p:spPr>
          <a:xfrm>
            <a:off x="4372355" y="4685575"/>
            <a:ext cx="3993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11</a:t>
            </a:r>
            <a:endParaRPr b="1" sz="1500">
              <a:solidFill>
                <a:srgbClr val="7F6000"/>
              </a:solidFill>
              <a:latin typeface="Arial Rounded"/>
              <a:ea typeface="Arial Rounded"/>
              <a:cs typeface="Arial Rounded"/>
              <a:sym typeface="Arial Round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1000"/>
                                        <p:tgtEl>
                                          <p:spTgt spid="254"/>
                                        </p:tgtEl>
                                        <p:attrNameLst>
                                          <p:attrName>ppt_w</p:attrName>
                                        </p:attrNameLst>
                                      </p:cBhvr>
                                      <p:tavLst>
                                        <p:tav fmla="" tm="0">
                                          <p:val>
                                            <p:strVal val="#ppt_w"/>
                                          </p:val>
                                        </p:tav>
                                        <p:tav fmla="" tm="100000">
                                          <p:val>
                                            <p:strVal val="0"/>
                                          </p:val>
                                        </p:tav>
                                      </p:tavLst>
                                    </p:anim>
                                    <p:anim calcmode="lin" valueType="num">
                                      <p:cBhvr additive="base">
                                        <p:cTn dur="1000"/>
                                        <p:tgtEl>
                                          <p:spTgt spid="254"/>
                                        </p:tgtEl>
                                        <p:attrNameLst>
                                          <p:attrName>ppt_h</p:attrName>
                                        </p:attrNameLst>
                                      </p:cBhvr>
                                      <p:tavLst>
                                        <p:tav fmla="" tm="0">
                                          <p:val>
                                            <p:strVal val="#ppt_h"/>
                                          </p:val>
                                        </p:tav>
                                        <p:tav fmla="" tm="100000">
                                          <p:val>
                                            <p:strVal val="0"/>
                                          </p:val>
                                        </p:tav>
                                      </p:tavLst>
                                    </p:anim>
                                    <p:set>
                                      <p:cBhvr>
                                        <p:cTn dur="1" fill="hold">
                                          <p:stCondLst>
                                            <p:cond delay="1000"/>
                                          </p:stCondLst>
                                        </p:cTn>
                                        <p:tgtEl>
                                          <p:spTgt spid="254"/>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1000"/>
                                        <p:tgtEl>
                                          <p:spTgt spid="253"/>
                                        </p:tgtEl>
                                        <p:attrNameLst>
                                          <p:attrName>ppt_w</p:attrName>
                                        </p:attrNameLst>
                                      </p:cBhvr>
                                      <p:tavLst>
                                        <p:tav fmla="" tm="0">
                                          <p:val>
                                            <p:strVal val="#ppt_w"/>
                                          </p:val>
                                        </p:tav>
                                        <p:tav fmla="" tm="100000">
                                          <p:val>
                                            <p:strVal val="0"/>
                                          </p:val>
                                        </p:tav>
                                      </p:tavLst>
                                    </p:anim>
                                    <p:anim calcmode="lin" valueType="num">
                                      <p:cBhvr additive="base">
                                        <p:cTn dur="1000"/>
                                        <p:tgtEl>
                                          <p:spTgt spid="253"/>
                                        </p:tgtEl>
                                        <p:attrNameLst>
                                          <p:attrName>ppt_h</p:attrName>
                                        </p:attrNameLst>
                                      </p:cBhvr>
                                      <p:tavLst>
                                        <p:tav fmla="" tm="0">
                                          <p:val>
                                            <p:strVal val="#ppt_h"/>
                                          </p:val>
                                        </p:tav>
                                        <p:tav fmla="" tm="100000">
                                          <p:val>
                                            <p:strVal val="0"/>
                                          </p:val>
                                        </p:tav>
                                      </p:tavLst>
                                    </p:anim>
                                    <p:set>
                                      <p:cBhvr>
                                        <p:cTn dur="1" fill="hold">
                                          <p:stCondLst>
                                            <p:cond delay="1000"/>
                                          </p:stCondLst>
                                        </p:cTn>
                                        <p:tgtEl>
                                          <p:spTgt spid="253"/>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1000"/>
                                        <p:tgtEl>
                                          <p:spTgt spid="251"/>
                                        </p:tgtEl>
                                        <p:attrNameLst>
                                          <p:attrName>ppt_w</p:attrName>
                                        </p:attrNameLst>
                                      </p:cBhvr>
                                      <p:tavLst>
                                        <p:tav fmla="" tm="0">
                                          <p:val>
                                            <p:strVal val="#ppt_w"/>
                                          </p:val>
                                        </p:tav>
                                        <p:tav fmla="" tm="100000">
                                          <p:val>
                                            <p:strVal val="0"/>
                                          </p:val>
                                        </p:tav>
                                      </p:tavLst>
                                    </p:anim>
                                    <p:anim calcmode="lin" valueType="num">
                                      <p:cBhvr additive="base">
                                        <p:cTn dur="1000"/>
                                        <p:tgtEl>
                                          <p:spTgt spid="251"/>
                                        </p:tgtEl>
                                        <p:attrNameLst>
                                          <p:attrName>ppt_h</p:attrName>
                                        </p:attrNameLst>
                                      </p:cBhvr>
                                      <p:tavLst>
                                        <p:tav fmla="" tm="0">
                                          <p:val>
                                            <p:strVal val="#ppt_h"/>
                                          </p:val>
                                        </p:tav>
                                        <p:tav fmla="" tm="100000">
                                          <p:val>
                                            <p:strVal val="0"/>
                                          </p:val>
                                        </p:tav>
                                      </p:tavLst>
                                    </p:anim>
                                    <p:set>
                                      <p:cBhvr>
                                        <p:cTn dur="1" fill="hold">
                                          <p:stCondLst>
                                            <p:cond delay="1000"/>
                                          </p:stCondLst>
                                        </p:cTn>
                                        <p:tgtEl>
                                          <p:spTgt spid="251"/>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1000"/>
                                        <p:tgtEl>
                                          <p:spTgt spid="252"/>
                                        </p:tgtEl>
                                        <p:attrNameLst>
                                          <p:attrName>ppt_w</p:attrName>
                                        </p:attrNameLst>
                                      </p:cBhvr>
                                      <p:tavLst>
                                        <p:tav fmla="" tm="0">
                                          <p:val>
                                            <p:strVal val="#ppt_w"/>
                                          </p:val>
                                        </p:tav>
                                        <p:tav fmla="" tm="100000">
                                          <p:val>
                                            <p:strVal val="0"/>
                                          </p:val>
                                        </p:tav>
                                      </p:tavLst>
                                    </p:anim>
                                    <p:anim calcmode="lin" valueType="num">
                                      <p:cBhvr additive="base">
                                        <p:cTn dur="1000"/>
                                        <p:tgtEl>
                                          <p:spTgt spid="252"/>
                                        </p:tgtEl>
                                        <p:attrNameLst>
                                          <p:attrName>ppt_h</p:attrName>
                                        </p:attrNameLst>
                                      </p:cBhvr>
                                      <p:tavLst>
                                        <p:tav fmla="" tm="0">
                                          <p:val>
                                            <p:strVal val="#ppt_h"/>
                                          </p:val>
                                        </p:tav>
                                        <p:tav fmla="" tm="100000">
                                          <p:val>
                                            <p:strVal val="0"/>
                                          </p:val>
                                        </p:tav>
                                      </p:tavLst>
                                    </p:anim>
                                    <p:set>
                                      <p:cBhvr>
                                        <p:cTn dur="1" fill="hold">
                                          <p:stCondLst>
                                            <p:cond delay="1000"/>
                                          </p:stCondLst>
                                        </p:cTn>
                                        <p:tgtEl>
                                          <p:spTgt spid="2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5"/>
                                        </p:tgtEl>
                                        <p:attrNameLst>
                                          <p:attrName>style.visibility</p:attrName>
                                        </p:attrNameLst>
                                      </p:cBhvr>
                                      <p:to>
                                        <p:strVal val="visible"/>
                                      </p:to>
                                    </p:set>
                                    <p:anim calcmode="lin" valueType="num">
                                      <p:cBhvr additive="base">
                                        <p:cTn dur="1000"/>
                                        <p:tgtEl>
                                          <p:spTgt spid="255"/>
                                        </p:tgtEl>
                                        <p:attrNameLst>
                                          <p:attrName>ppt_w</p:attrName>
                                        </p:attrNameLst>
                                      </p:cBhvr>
                                      <p:tavLst>
                                        <p:tav fmla="" tm="0">
                                          <p:val>
                                            <p:strVal val="0"/>
                                          </p:val>
                                        </p:tav>
                                        <p:tav fmla="" tm="100000">
                                          <p:val>
                                            <p:strVal val="#ppt_w"/>
                                          </p:val>
                                        </p:tav>
                                      </p:tavLst>
                                    </p:anim>
                                    <p:anim calcmode="lin" valueType="num">
                                      <p:cBhvr additive="base">
                                        <p:cTn dur="1000"/>
                                        <p:tgtEl>
                                          <p:spTgt spid="25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descr="/mnt/data/template_media/beewarm_blank_bg.png" id="263" name="Google Shape;263;p37"/>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mnt/data/template_media/image7.png" id="264" name="Google Shape;264;p37"/>
          <p:cNvPicPr preferRelativeResize="0"/>
          <p:nvPr/>
        </p:nvPicPr>
        <p:blipFill rotWithShape="1">
          <a:blip r:embed="rId4">
            <a:alphaModFix amt="88000"/>
          </a:blip>
          <a:srcRect b="0" l="0" r="0" t="0"/>
          <a:stretch/>
        </p:blipFill>
        <p:spPr>
          <a:xfrm>
            <a:off x="8302752" y="384048"/>
            <a:ext cx="219456" cy="219456"/>
          </a:xfrm>
          <a:prstGeom prst="rect">
            <a:avLst/>
          </a:prstGeom>
          <a:noFill/>
          <a:ln>
            <a:noFill/>
          </a:ln>
        </p:spPr>
      </p:pic>
      <p:pic>
        <p:nvPicPr>
          <p:cNvPr descr="/mnt/data/template_media/image6.png" id="265" name="Google Shape;265;p37"/>
          <p:cNvPicPr preferRelativeResize="0"/>
          <p:nvPr/>
        </p:nvPicPr>
        <p:blipFill rotWithShape="1">
          <a:blip r:embed="rId5">
            <a:alphaModFix amt="85000"/>
          </a:blip>
          <a:srcRect b="0" l="0" r="0" t="0"/>
          <a:stretch/>
        </p:blipFill>
        <p:spPr>
          <a:xfrm>
            <a:off x="8202112" y="4151323"/>
            <a:ext cx="932687" cy="932687"/>
          </a:xfrm>
          <a:prstGeom prst="rect">
            <a:avLst/>
          </a:prstGeom>
          <a:noFill/>
          <a:ln>
            <a:noFill/>
          </a:ln>
        </p:spPr>
      </p:pic>
      <p:sp>
        <p:nvSpPr>
          <p:cNvPr id="266" name="Google Shape;266;p37"/>
          <p:cNvSpPr/>
          <p:nvPr/>
        </p:nvSpPr>
        <p:spPr>
          <a:xfrm>
            <a:off x="8394192" y="822960"/>
            <a:ext cx="2286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5D00"/>
              </a:buClr>
              <a:buSzPts val="750"/>
              <a:buFont typeface="Arial"/>
              <a:buNone/>
            </a:pPr>
            <a:r>
              <a:rPr b="1" i="0" lang="fr" sz="750" u="none" cap="none" strike="noStrike">
                <a:solidFill>
                  <a:srgbClr val="9A5D00"/>
                </a:solidFill>
                <a:latin typeface="Arial"/>
                <a:ea typeface="Arial"/>
                <a:cs typeface="Arial"/>
                <a:sym typeface="Arial"/>
              </a:rPr>
              <a:t>18</a:t>
            </a:r>
            <a:endParaRPr b="0" i="0" sz="750" u="none" cap="none" strike="noStrike">
              <a:solidFill>
                <a:schemeClr val="dk1"/>
              </a:solidFill>
              <a:latin typeface="Arial Rounded"/>
              <a:ea typeface="Arial Rounded"/>
              <a:cs typeface="Arial Rounded"/>
              <a:sym typeface="Arial Rounded"/>
            </a:endParaRPr>
          </a:p>
        </p:txBody>
      </p:sp>
      <p:sp>
        <p:nvSpPr>
          <p:cNvPr id="267" name="Google Shape;267;p37"/>
          <p:cNvSpPr/>
          <p:nvPr/>
        </p:nvSpPr>
        <p:spPr>
          <a:xfrm>
            <a:off x="329184" y="246888"/>
            <a:ext cx="80925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6700"/>
              </a:buClr>
              <a:buSzPts val="2200"/>
              <a:buFont typeface="Algerian"/>
              <a:buNone/>
            </a:pPr>
            <a:r>
              <a:rPr b="1" i="0" lang="fr" sz="2200" u="none" cap="none" strike="noStrike">
                <a:solidFill>
                  <a:srgbClr val="9C6700"/>
                </a:solidFill>
                <a:latin typeface="Algerian"/>
                <a:ea typeface="Algerian"/>
                <a:cs typeface="Algerian"/>
                <a:sym typeface="Algerian"/>
              </a:rPr>
              <a:t>1. SCHÉMATIQUE : SÉCURISER LA BASE</a:t>
            </a:r>
            <a:endParaRPr b="0" i="0" sz="2200" u="none" cap="none" strike="noStrike">
              <a:solidFill>
                <a:schemeClr val="dk1"/>
              </a:solidFill>
              <a:latin typeface="Arial Rounded"/>
              <a:ea typeface="Arial Rounded"/>
              <a:cs typeface="Arial Rounded"/>
              <a:sym typeface="Arial Rounded"/>
            </a:endParaRPr>
          </a:p>
        </p:txBody>
      </p:sp>
      <p:cxnSp>
        <p:nvCxnSpPr>
          <p:cNvPr id="268" name="Google Shape;268;p37"/>
          <p:cNvCxnSpPr/>
          <p:nvPr/>
        </p:nvCxnSpPr>
        <p:spPr>
          <a:xfrm>
            <a:off x="347472" y="832104"/>
            <a:ext cx="4800600" cy="0"/>
          </a:xfrm>
          <a:prstGeom prst="straightConnector1">
            <a:avLst/>
          </a:prstGeom>
          <a:noFill/>
          <a:ln cap="flat" cmpd="sng" w="13950">
            <a:solidFill>
              <a:srgbClr val="D99A00">
                <a:alpha val="85100"/>
              </a:srgbClr>
            </a:solidFill>
            <a:prstDash val="solid"/>
            <a:round/>
            <a:headEnd len="sm" w="sm" type="none"/>
            <a:tailEnd len="sm" w="sm" type="none"/>
          </a:ln>
        </p:spPr>
      </p:cxnSp>
      <p:sp>
        <p:nvSpPr>
          <p:cNvPr id="269" name="Google Shape;269;p37"/>
          <p:cNvSpPr/>
          <p:nvPr/>
        </p:nvSpPr>
        <p:spPr>
          <a:xfrm>
            <a:off x="429768" y="1033272"/>
            <a:ext cx="4443900" cy="3026700"/>
          </a:xfrm>
          <a:prstGeom prst="roundRect">
            <a:avLst>
              <a:gd fmla="val 3625" name="adj"/>
            </a:avLst>
          </a:prstGeom>
          <a:solidFill>
            <a:srgbClr val="FFFFFF">
              <a:alpha val="96860"/>
            </a:srgbClr>
          </a:solidFill>
          <a:ln cap="flat" cmpd="sng" w="10150">
            <a:solidFill>
              <a:srgbClr val="E8B546">
                <a:alpha val="878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pcb_assets_cropped/schematic_overview_crop.png" id="270" name="Google Shape;270;p37"/>
          <p:cNvPicPr preferRelativeResize="0"/>
          <p:nvPr/>
        </p:nvPicPr>
        <p:blipFill rotWithShape="1">
          <a:blip r:embed="rId6">
            <a:alphaModFix/>
          </a:blip>
          <a:srcRect b="0" l="0" r="0" t="0"/>
          <a:stretch/>
        </p:blipFill>
        <p:spPr>
          <a:xfrm>
            <a:off x="457200" y="1392968"/>
            <a:ext cx="4389120" cy="2307273"/>
          </a:xfrm>
          <a:prstGeom prst="rect">
            <a:avLst/>
          </a:prstGeom>
          <a:noFill/>
          <a:ln>
            <a:noFill/>
          </a:ln>
        </p:spPr>
      </p:pic>
      <p:sp>
        <p:nvSpPr>
          <p:cNvPr id="271" name="Google Shape;271;p37"/>
          <p:cNvSpPr/>
          <p:nvPr/>
        </p:nvSpPr>
        <p:spPr>
          <a:xfrm>
            <a:off x="457200" y="4069080"/>
            <a:ext cx="43890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4E00"/>
              </a:buClr>
              <a:buSzPts val="740"/>
              <a:buFont typeface="Arial"/>
              <a:buNone/>
            </a:pPr>
            <a:r>
              <a:rPr b="0" i="1" lang="fr" sz="740" u="none" cap="none" strike="noStrike">
                <a:solidFill>
                  <a:srgbClr val="6B4E00"/>
                </a:solidFill>
                <a:latin typeface="Arial"/>
                <a:ea typeface="Arial"/>
                <a:cs typeface="Arial"/>
                <a:sym typeface="Arial"/>
              </a:rPr>
              <a:t>Schéma Eagle révisé : blocs alimentation, ESP32, capteurs et chauffage</a:t>
            </a:r>
            <a:endParaRPr b="0" i="0" sz="740" u="none" cap="none" strike="noStrike">
              <a:solidFill>
                <a:schemeClr val="dk1"/>
              </a:solidFill>
              <a:latin typeface="Arial Rounded"/>
              <a:ea typeface="Arial Rounded"/>
              <a:cs typeface="Arial Rounded"/>
              <a:sym typeface="Arial Rounded"/>
            </a:endParaRPr>
          </a:p>
        </p:txBody>
      </p:sp>
      <p:sp>
        <p:nvSpPr>
          <p:cNvPr id="272" name="Google Shape;272;p37"/>
          <p:cNvSpPr/>
          <p:nvPr/>
        </p:nvSpPr>
        <p:spPr>
          <a:xfrm>
            <a:off x="5138928" y="987552"/>
            <a:ext cx="3365100" cy="1079100"/>
          </a:xfrm>
          <a:prstGeom prst="roundRect">
            <a:avLst>
              <a:gd fmla="val 10169" name="adj"/>
            </a:avLst>
          </a:prstGeom>
          <a:solidFill>
            <a:srgbClr val="FFF9E6">
              <a:alpha val="94120"/>
            </a:srgbClr>
          </a:solidFill>
          <a:ln cap="flat" cmpd="sng" w="11425">
            <a:solidFill>
              <a:srgbClr val="E6B85C">
                <a:alpha val="9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7"/>
          <p:cNvSpPr/>
          <p:nvPr/>
        </p:nvSpPr>
        <p:spPr>
          <a:xfrm>
            <a:off x="5321808" y="1143000"/>
            <a:ext cx="749700" cy="219600"/>
          </a:xfrm>
          <a:prstGeom prst="roundRect">
            <a:avLst>
              <a:gd fmla="val 33333" name="adj"/>
            </a:avLst>
          </a:prstGeom>
          <a:solidFill>
            <a:srgbClr val="D97706"/>
          </a:solidFill>
          <a:ln cap="flat" cmpd="sng" w="12700">
            <a:solidFill>
              <a:srgbClr val="D9770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7"/>
          <p:cNvSpPr/>
          <p:nvPr/>
        </p:nvSpPr>
        <p:spPr>
          <a:xfrm>
            <a:off x="5367528" y="1193292"/>
            <a:ext cx="6585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Arial"/>
              <a:buNone/>
            </a:pPr>
            <a:r>
              <a:rPr b="1" i="0" lang="fr" sz="720" u="none" cap="none" strike="noStrike">
                <a:solidFill>
                  <a:srgbClr val="FFFFFF"/>
                </a:solidFill>
                <a:latin typeface="Arial"/>
                <a:ea typeface="Arial"/>
                <a:cs typeface="Arial"/>
                <a:sym typeface="Arial"/>
              </a:rPr>
              <a:t>ACTIONS</a:t>
            </a:r>
            <a:endParaRPr b="0" i="0" sz="720" u="none" cap="none" strike="noStrike">
              <a:solidFill>
                <a:schemeClr val="dk1"/>
              </a:solidFill>
              <a:latin typeface="Arial Rounded"/>
              <a:ea typeface="Arial Rounded"/>
              <a:cs typeface="Arial Rounded"/>
              <a:sym typeface="Arial Rounded"/>
            </a:endParaRPr>
          </a:p>
        </p:txBody>
      </p:sp>
      <p:sp>
        <p:nvSpPr>
          <p:cNvPr id="275" name="Google Shape;275;p37"/>
          <p:cNvSpPr/>
          <p:nvPr/>
        </p:nvSpPr>
        <p:spPr>
          <a:xfrm>
            <a:off x="5321808" y="1444752"/>
            <a:ext cx="2944500" cy="5304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None/>
            </a:pPr>
            <a:r>
              <a:rPr b="0" i="0" lang="fr" sz="940" u="none" cap="none" strike="noStrike">
                <a:solidFill>
                  <a:srgbClr val="111111"/>
                </a:solidFill>
                <a:latin typeface="Arial Rounded"/>
                <a:ea typeface="Arial Rounded"/>
                <a:cs typeface="Arial Rounded"/>
                <a:sym typeface="Arial Rounded"/>
              </a:rPr>
              <a:t>Retranscription Altium vers Eagle.</a:t>
            </a:r>
            <a:endParaRPr sz="94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940">
                <a:solidFill>
                  <a:srgbClr val="111111"/>
                </a:solidFill>
                <a:latin typeface="Arial Rounded"/>
                <a:ea typeface="Arial Rounded"/>
                <a:cs typeface="Arial Rounded"/>
                <a:sym typeface="Arial Rounded"/>
              </a:rPr>
              <a:t>Contrôle symbole + footprint PCB.</a:t>
            </a:r>
            <a:endParaRPr sz="94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940">
                <a:solidFill>
                  <a:srgbClr val="111111"/>
                </a:solidFill>
                <a:latin typeface="Arial Rounded"/>
                <a:ea typeface="Arial Rounded"/>
                <a:cs typeface="Arial Rounded"/>
                <a:sym typeface="Arial Rounded"/>
              </a:rPr>
              <a:t>Vérification connectiques et références.</a:t>
            </a:r>
            <a:endParaRPr sz="940">
              <a:solidFill>
                <a:schemeClr val="dk1"/>
              </a:solidFill>
              <a:latin typeface="Arial Rounded"/>
              <a:ea typeface="Arial Rounded"/>
              <a:cs typeface="Arial Rounded"/>
              <a:sym typeface="Arial Rounded"/>
            </a:endParaRPr>
          </a:p>
        </p:txBody>
      </p:sp>
      <p:sp>
        <p:nvSpPr>
          <p:cNvPr id="276" name="Google Shape;276;p37"/>
          <p:cNvSpPr/>
          <p:nvPr/>
        </p:nvSpPr>
        <p:spPr>
          <a:xfrm>
            <a:off x="5138928" y="2267712"/>
            <a:ext cx="3365100" cy="841200"/>
          </a:xfrm>
          <a:prstGeom prst="roundRect">
            <a:avLst>
              <a:gd fmla="val 13043" name="adj"/>
            </a:avLst>
          </a:prstGeom>
          <a:solidFill>
            <a:srgbClr val="FFF1D6">
              <a:alpha val="94120"/>
            </a:srgbClr>
          </a:solidFill>
          <a:ln cap="flat" cmpd="sng" w="11425">
            <a:solidFill>
              <a:srgbClr val="E0A228">
                <a:alpha val="9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7"/>
          <p:cNvSpPr/>
          <p:nvPr/>
        </p:nvSpPr>
        <p:spPr>
          <a:xfrm>
            <a:off x="5321808" y="2404872"/>
            <a:ext cx="1143000" cy="219600"/>
          </a:xfrm>
          <a:prstGeom prst="roundRect">
            <a:avLst>
              <a:gd fmla="val 33333" name="adj"/>
            </a:avLst>
          </a:prstGeom>
          <a:solidFill>
            <a:srgbClr val="C2410C"/>
          </a:solidFill>
          <a:ln cap="flat" cmpd="sng" w="12700">
            <a:solidFill>
              <a:srgbClr val="C2410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7"/>
          <p:cNvSpPr/>
          <p:nvPr/>
        </p:nvSpPr>
        <p:spPr>
          <a:xfrm>
            <a:off x="5367528" y="2455164"/>
            <a:ext cx="10515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Arial"/>
              <a:buNone/>
            </a:pPr>
            <a:r>
              <a:rPr b="1" lang="fr" sz="720">
                <a:solidFill>
                  <a:srgbClr val="FFFFFF"/>
                </a:solidFill>
                <a:latin typeface="Arial"/>
                <a:ea typeface="Arial"/>
                <a:cs typeface="Arial"/>
                <a:sym typeface="Arial"/>
              </a:rPr>
              <a:t>ERREURS À ÉVITER</a:t>
            </a:r>
            <a:endParaRPr sz="720">
              <a:solidFill>
                <a:schemeClr val="dk1"/>
              </a:solidFill>
              <a:latin typeface="Arial Rounded"/>
              <a:ea typeface="Arial Rounded"/>
              <a:cs typeface="Arial Rounded"/>
              <a:sym typeface="Arial Rounded"/>
            </a:endParaRPr>
          </a:p>
        </p:txBody>
      </p:sp>
      <p:sp>
        <p:nvSpPr>
          <p:cNvPr id="279" name="Google Shape;279;p37"/>
          <p:cNvSpPr/>
          <p:nvPr/>
        </p:nvSpPr>
        <p:spPr>
          <a:xfrm>
            <a:off x="5321808" y="2706624"/>
            <a:ext cx="2926200" cy="3384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None/>
            </a:pPr>
            <a:r>
              <a:rPr lang="fr" sz="880">
                <a:solidFill>
                  <a:srgbClr val="111111"/>
                </a:solidFill>
                <a:latin typeface="Arial Rounded"/>
                <a:ea typeface="Arial Rounded"/>
                <a:cs typeface="Arial Rounded"/>
                <a:sym typeface="Arial Rounded"/>
              </a:rPr>
              <a:t>Composant avec symbole mais sans empreinte exploitable.</a:t>
            </a:r>
            <a:endParaRPr sz="88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880">
                <a:solidFill>
                  <a:srgbClr val="111111"/>
                </a:solidFill>
                <a:latin typeface="Arial Rounded"/>
                <a:ea typeface="Arial Rounded"/>
                <a:cs typeface="Arial Rounded"/>
                <a:sym typeface="Arial Rounded"/>
              </a:rPr>
              <a:t>Référence proche mais boîtier/pinout différent.</a:t>
            </a:r>
            <a:endParaRPr sz="880">
              <a:solidFill>
                <a:schemeClr val="dk1"/>
              </a:solidFill>
              <a:latin typeface="Arial Rounded"/>
              <a:ea typeface="Arial Rounded"/>
              <a:cs typeface="Arial Rounded"/>
              <a:sym typeface="Arial Rounded"/>
            </a:endParaRPr>
          </a:p>
        </p:txBody>
      </p:sp>
      <p:sp>
        <p:nvSpPr>
          <p:cNvPr id="280" name="Google Shape;280;p37"/>
          <p:cNvSpPr/>
          <p:nvPr/>
        </p:nvSpPr>
        <p:spPr>
          <a:xfrm>
            <a:off x="5138925" y="3310125"/>
            <a:ext cx="3365100" cy="841200"/>
          </a:xfrm>
          <a:prstGeom prst="roundRect">
            <a:avLst>
              <a:gd fmla="val 14634" name="adj"/>
            </a:avLst>
          </a:prstGeom>
          <a:solidFill>
            <a:srgbClr val="ECFDF5">
              <a:alpha val="94120"/>
            </a:srgbClr>
          </a:solidFill>
          <a:ln cap="flat" cmpd="sng" w="11425">
            <a:solidFill>
              <a:srgbClr val="86C896">
                <a:alpha val="9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7"/>
          <p:cNvSpPr/>
          <p:nvPr/>
        </p:nvSpPr>
        <p:spPr>
          <a:xfrm>
            <a:off x="5321808" y="3447288"/>
            <a:ext cx="768000" cy="219600"/>
          </a:xfrm>
          <a:prstGeom prst="roundRect">
            <a:avLst>
              <a:gd fmla="val 33333" name="adj"/>
            </a:avLst>
          </a:prstGeom>
          <a:solidFill>
            <a:srgbClr val="166534"/>
          </a:solidFill>
          <a:ln cap="flat" cmpd="sng" w="12700">
            <a:solidFill>
              <a:srgbClr val="16653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7"/>
          <p:cNvSpPr/>
          <p:nvPr/>
        </p:nvSpPr>
        <p:spPr>
          <a:xfrm>
            <a:off x="5367528" y="3497580"/>
            <a:ext cx="6768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Arial"/>
              <a:buNone/>
            </a:pPr>
            <a:r>
              <a:rPr b="1" lang="fr" sz="720">
                <a:solidFill>
                  <a:srgbClr val="FFFFFF"/>
                </a:solidFill>
                <a:latin typeface="Arial"/>
                <a:ea typeface="Arial"/>
                <a:cs typeface="Arial"/>
                <a:sym typeface="Arial"/>
              </a:rPr>
              <a:t>RÉFLEXE</a:t>
            </a:r>
            <a:endParaRPr sz="720">
              <a:solidFill>
                <a:schemeClr val="dk1"/>
              </a:solidFill>
              <a:latin typeface="Arial Rounded"/>
              <a:ea typeface="Arial Rounded"/>
              <a:cs typeface="Arial Rounded"/>
              <a:sym typeface="Arial Rounded"/>
            </a:endParaRPr>
          </a:p>
        </p:txBody>
      </p:sp>
      <p:sp>
        <p:nvSpPr>
          <p:cNvPr id="283" name="Google Shape;283;p37"/>
          <p:cNvSpPr/>
          <p:nvPr/>
        </p:nvSpPr>
        <p:spPr>
          <a:xfrm>
            <a:off x="5321808" y="3739896"/>
            <a:ext cx="2880300" cy="2925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None/>
            </a:pPr>
            <a:r>
              <a:rPr lang="fr" sz="870">
                <a:solidFill>
                  <a:srgbClr val="111111"/>
                </a:solidFill>
                <a:latin typeface="Arial Rounded"/>
                <a:ea typeface="Arial Rounded"/>
                <a:cs typeface="Arial Rounded"/>
                <a:sym typeface="Arial Rounded"/>
              </a:rPr>
              <a:t>Toujours valider BOM - symbole - footprint avant le layout.</a:t>
            </a:r>
            <a:endParaRPr sz="87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870">
                <a:solidFill>
                  <a:srgbClr val="111111"/>
                </a:solidFill>
                <a:latin typeface="Arial Rounded"/>
                <a:ea typeface="Arial Rounded"/>
                <a:cs typeface="Arial Rounded"/>
                <a:sym typeface="Arial Rounded"/>
              </a:rPr>
              <a:t>Comparer avec l’ancienne version validée.</a:t>
            </a:r>
            <a:endParaRPr sz="870">
              <a:solidFill>
                <a:schemeClr val="dk1"/>
              </a:solidFill>
              <a:latin typeface="Arial Rounded"/>
              <a:ea typeface="Arial Rounded"/>
              <a:cs typeface="Arial Rounded"/>
              <a:sym typeface="Arial Rounded"/>
            </a:endParaRPr>
          </a:p>
        </p:txBody>
      </p:sp>
      <p:pic>
        <p:nvPicPr>
          <p:cNvPr descr="ChatGPT Image 25 oct. 2025, 20_11_13" id="284" name="Google Shape;284;p37"/>
          <p:cNvPicPr preferRelativeResize="0"/>
          <p:nvPr/>
        </p:nvPicPr>
        <p:blipFill rotWithShape="1">
          <a:blip r:embed="rId7">
            <a:alphaModFix/>
          </a:blip>
          <a:srcRect b="0" l="0" r="0" t="0"/>
          <a:stretch/>
        </p:blipFill>
        <p:spPr>
          <a:xfrm>
            <a:off x="4067530" y="4468209"/>
            <a:ext cx="615791" cy="615791"/>
          </a:xfrm>
          <a:prstGeom prst="rect">
            <a:avLst/>
          </a:prstGeom>
          <a:noFill/>
          <a:ln>
            <a:noFill/>
          </a:ln>
        </p:spPr>
      </p:pic>
      <p:sp>
        <p:nvSpPr>
          <p:cNvPr id="285" name="Google Shape;285;p37"/>
          <p:cNvSpPr txBox="1"/>
          <p:nvPr/>
        </p:nvSpPr>
        <p:spPr>
          <a:xfrm>
            <a:off x="4175780" y="4626100"/>
            <a:ext cx="3993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12</a:t>
            </a:r>
            <a:endParaRPr b="1" sz="1500">
              <a:solidFill>
                <a:srgbClr val="7F6000"/>
              </a:solidFill>
              <a:latin typeface="Arial Rounded"/>
              <a:ea typeface="Arial Rounded"/>
              <a:cs typeface="Arial Rounded"/>
              <a:sym typeface="Arial Rounde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descr="/mnt/data/template_media/beewarm_blank_bg.png" id="291" name="Google Shape;291;p38"/>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mnt/data/template_media/image7.png" id="292" name="Google Shape;292;p38"/>
          <p:cNvPicPr preferRelativeResize="0"/>
          <p:nvPr/>
        </p:nvPicPr>
        <p:blipFill rotWithShape="1">
          <a:blip r:embed="rId4">
            <a:alphaModFix amt="88000"/>
          </a:blip>
          <a:srcRect b="0" l="0" r="0" t="0"/>
          <a:stretch/>
        </p:blipFill>
        <p:spPr>
          <a:xfrm>
            <a:off x="8302752" y="384048"/>
            <a:ext cx="219456" cy="219456"/>
          </a:xfrm>
          <a:prstGeom prst="rect">
            <a:avLst/>
          </a:prstGeom>
          <a:noFill/>
          <a:ln>
            <a:noFill/>
          </a:ln>
        </p:spPr>
      </p:pic>
      <p:pic>
        <p:nvPicPr>
          <p:cNvPr descr="/mnt/data/template_media/image6.png" id="293" name="Google Shape;293;p38"/>
          <p:cNvPicPr preferRelativeResize="0"/>
          <p:nvPr/>
        </p:nvPicPr>
        <p:blipFill rotWithShape="1">
          <a:blip r:embed="rId5">
            <a:alphaModFix amt="85000"/>
          </a:blip>
          <a:srcRect b="0" l="0" r="0" t="0"/>
          <a:stretch/>
        </p:blipFill>
        <p:spPr>
          <a:xfrm>
            <a:off x="7754112" y="3584448"/>
            <a:ext cx="932687" cy="932687"/>
          </a:xfrm>
          <a:prstGeom prst="rect">
            <a:avLst/>
          </a:prstGeom>
          <a:noFill/>
          <a:ln>
            <a:noFill/>
          </a:ln>
        </p:spPr>
      </p:pic>
      <p:sp>
        <p:nvSpPr>
          <p:cNvPr id="294" name="Google Shape;294;p38"/>
          <p:cNvSpPr/>
          <p:nvPr/>
        </p:nvSpPr>
        <p:spPr>
          <a:xfrm>
            <a:off x="8394192" y="822960"/>
            <a:ext cx="2286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5D00"/>
              </a:buClr>
              <a:buSzPts val="750"/>
              <a:buFont typeface="Arial"/>
              <a:buNone/>
            </a:pPr>
            <a:r>
              <a:rPr b="1" lang="fr" sz="750">
                <a:solidFill>
                  <a:srgbClr val="9A5D00"/>
                </a:solidFill>
                <a:latin typeface="Arial"/>
                <a:ea typeface="Arial"/>
                <a:cs typeface="Arial"/>
                <a:sym typeface="Arial"/>
              </a:rPr>
              <a:t>19</a:t>
            </a:r>
            <a:endParaRPr sz="750">
              <a:solidFill>
                <a:schemeClr val="dk1"/>
              </a:solidFill>
              <a:latin typeface="Arial Rounded"/>
              <a:ea typeface="Arial Rounded"/>
              <a:cs typeface="Arial Rounded"/>
              <a:sym typeface="Arial Rounded"/>
            </a:endParaRPr>
          </a:p>
        </p:txBody>
      </p:sp>
      <p:sp>
        <p:nvSpPr>
          <p:cNvPr id="295" name="Google Shape;295;p38"/>
          <p:cNvSpPr/>
          <p:nvPr/>
        </p:nvSpPr>
        <p:spPr>
          <a:xfrm>
            <a:off x="329184" y="246888"/>
            <a:ext cx="80925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6700"/>
              </a:buClr>
              <a:buSzPts val="2200"/>
              <a:buFont typeface="Algerian"/>
              <a:buNone/>
            </a:pPr>
            <a:r>
              <a:rPr b="1" lang="fr" sz="2200">
                <a:solidFill>
                  <a:srgbClr val="9C6700"/>
                </a:solidFill>
                <a:latin typeface="Algerian"/>
                <a:ea typeface="Algerian"/>
                <a:cs typeface="Algerian"/>
                <a:sym typeface="Algerian"/>
              </a:rPr>
              <a:t>2. PLACEMENT : PRÉPARER UNE BONNE DISPOSITION</a:t>
            </a:r>
            <a:endParaRPr sz="2200">
              <a:solidFill>
                <a:schemeClr val="dk1"/>
              </a:solidFill>
              <a:latin typeface="Arial Rounded"/>
              <a:ea typeface="Arial Rounded"/>
              <a:cs typeface="Arial Rounded"/>
              <a:sym typeface="Arial Rounded"/>
            </a:endParaRPr>
          </a:p>
        </p:txBody>
      </p:sp>
      <p:cxnSp>
        <p:nvCxnSpPr>
          <p:cNvPr id="296" name="Google Shape;296;p38"/>
          <p:cNvCxnSpPr/>
          <p:nvPr/>
        </p:nvCxnSpPr>
        <p:spPr>
          <a:xfrm>
            <a:off x="347472" y="832104"/>
            <a:ext cx="4800600" cy="0"/>
          </a:xfrm>
          <a:prstGeom prst="straightConnector1">
            <a:avLst/>
          </a:prstGeom>
          <a:noFill/>
          <a:ln cap="flat" cmpd="sng" w="13950">
            <a:solidFill>
              <a:srgbClr val="D99A00">
                <a:alpha val="85100"/>
              </a:srgbClr>
            </a:solidFill>
            <a:prstDash val="solid"/>
            <a:round/>
            <a:headEnd len="sm" w="sm" type="none"/>
            <a:tailEnd len="sm" w="sm" type="none"/>
          </a:ln>
        </p:spPr>
      </p:cxnSp>
      <p:sp>
        <p:nvSpPr>
          <p:cNvPr id="297" name="Google Shape;297;p38"/>
          <p:cNvSpPr/>
          <p:nvPr/>
        </p:nvSpPr>
        <p:spPr>
          <a:xfrm>
            <a:off x="274675" y="759000"/>
            <a:ext cx="8669700" cy="1191600"/>
          </a:xfrm>
          <a:prstGeom prst="roundRect">
            <a:avLst>
              <a:gd fmla="val 8333" name="adj"/>
            </a:avLst>
          </a:prstGeom>
          <a:solidFill>
            <a:srgbClr val="FFFFFF">
              <a:alpha val="96860"/>
            </a:srgbClr>
          </a:solidFill>
          <a:ln cap="flat" cmpd="sng" w="10150">
            <a:solidFill>
              <a:srgbClr val="E8B546">
                <a:alpha val="878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pcb_assets_cropped/layout_first_crop.png" id="298" name="Google Shape;298;p38"/>
          <p:cNvPicPr preferRelativeResize="0"/>
          <p:nvPr/>
        </p:nvPicPr>
        <p:blipFill rotWithShape="1">
          <a:blip r:embed="rId6">
            <a:alphaModFix/>
          </a:blip>
          <a:srcRect b="0" l="0" r="0" t="0"/>
          <a:stretch/>
        </p:blipFill>
        <p:spPr>
          <a:xfrm>
            <a:off x="282850" y="835200"/>
            <a:ext cx="8578290" cy="979450"/>
          </a:xfrm>
          <a:prstGeom prst="rect">
            <a:avLst/>
          </a:prstGeom>
          <a:noFill/>
          <a:ln>
            <a:noFill/>
          </a:ln>
        </p:spPr>
      </p:pic>
      <p:sp>
        <p:nvSpPr>
          <p:cNvPr id="299" name="Google Shape;299;p38"/>
          <p:cNvSpPr/>
          <p:nvPr/>
        </p:nvSpPr>
        <p:spPr>
          <a:xfrm>
            <a:off x="2587712" y="1913133"/>
            <a:ext cx="38406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4E00"/>
              </a:buClr>
              <a:buSzPts val="740"/>
              <a:buFont typeface="Arial"/>
              <a:buNone/>
            </a:pPr>
            <a:r>
              <a:rPr i="1" lang="fr" sz="740">
                <a:solidFill>
                  <a:srgbClr val="6B4E00"/>
                </a:solidFill>
                <a:latin typeface="Arial"/>
                <a:ea typeface="Arial"/>
                <a:cs typeface="Arial"/>
                <a:sym typeface="Arial"/>
              </a:rPr>
              <a:t>Premier placement des composants sur la board</a:t>
            </a:r>
            <a:endParaRPr sz="740">
              <a:solidFill>
                <a:schemeClr val="dk1"/>
              </a:solidFill>
              <a:latin typeface="Arial Rounded"/>
              <a:ea typeface="Arial Rounded"/>
              <a:cs typeface="Arial Rounded"/>
              <a:sym typeface="Arial Rounded"/>
            </a:endParaRPr>
          </a:p>
        </p:txBody>
      </p:sp>
      <p:sp>
        <p:nvSpPr>
          <p:cNvPr id="300" name="Google Shape;300;p38"/>
          <p:cNvSpPr/>
          <p:nvPr/>
        </p:nvSpPr>
        <p:spPr>
          <a:xfrm>
            <a:off x="239025" y="2490593"/>
            <a:ext cx="3895200" cy="2099700"/>
          </a:xfrm>
          <a:prstGeom prst="roundRect">
            <a:avLst>
              <a:gd fmla="val 8451" name="adj"/>
            </a:avLst>
          </a:prstGeom>
          <a:solidFill>
            <a:srgbClr val="FFFFFF">
              <a:alpha val="96860"/>
            </a:srgbClr>
          </a:solidFill>
          <a:ln cap="flat" cmpd="sng" w="10150">
            <a:solidFill>
              <a:srgbClr val="E8B546">
                <a:alpha val="878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pcb_assets_cropped/airwires_zoom_crop.png" id="301" name="Google Shape;301;p38"/>
          <p:cNvPicPr preferRelativeResize="0"/>
          <p:nvPr/>
        </p:nvPicPr>
        <p:blipFill rotWithShape="1">
          <a:blip r:embed="rId7">
            <a:alphaModFix/>
          </a:blip>
          <a:srcRect b="0" l="0" r="0" t="0"/>
          <a:stretch/>
        </p:blipFill>
        <p:spPr>
          <a:xfrm>
            <a:off x="347468" y="2528516"/>
            <a:ext cx="3742050" cy="1924475"/>
          </a:xfrm>
          <a:prstGeom prst="rect">
            <a:avLst/>
          </a:prstGeom>
          <a:noFill/>
          <a:ln>
            <a:noFill/>
          </a:ln>
        </p:spPr>
      </p:pic>
      <p:sp>
        <p:nvSpPr>
          <p:cNvPr id="302" name="Google Shape;302;p38"/>
          <p:cNvSpPr/>
          <p:nvPr/>
        </p:nvSpPr>
        <p:spPr>
          <a:xfrm>
            <a:off x="4617720" y="2089383"/>
            <a:ext cx="3977700" cy="850500"/>
          </a:xfrm>
          <a:prstGeom prst="roundRect">
            <a:avLst>
              <a:gd fmla="val 12903" name="adj"/>
            </a:avLst>
          </a:prstGeom>
          <a:solidFill>
            <a:srgbClr val="FFF9E6">
              <a:alpha val="94120"/>
            </a:srgbClr>
          </a:solidFill>
          <a:ln cap="flat" cmpd="sng" w="11425">
            <a:solidFill>
              <a:srgbClr val="E6B85C">
                <a:alpha val="9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8"/>
          <p:cNvSpPr/>
          <p:nvPr/>
        </p:nvSpPr>
        <p:spPr>
          <a:xfrm>
            <a:off x="4800600" y="2176336"/>
            <a:ext cx="932700" cy="219600"/>
          </a:xfrm>
          <a:prstGeom prst="roundRect">
            <a:avLst>
              <a:gd fmla="val 33333" name="adj"/>
            </a:avLst>
          </a:prstGeom>
          <a:solidFill>
            <a:srgbClr val="D97706"/>
          </a:solidFill>
          <a:ln cap="flat" cmpd="sng" w="12700">
            <a:solidFill>
              <a:srgbClr val="D9770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8"/>
          <p:cNvSpPr/>
          <p:nvPr/>
        </p:nvSpPr>
        <p:spPr>
          <a:xfrm>
            <a:off x="4846345" y="2231228"/>
            <a:ext cx="8412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Arial"/>
              <a:buNone/>
            </a:pPr>
            <a:r>
              <a:rPr b="1" lang="fr" sz="720">
                <a:solidFill>
                  <a:srgbClr val="FFFFFF"/>
                </a:solidFill>
                <a:latin typeface="Arial"/>
                <a:ea typeface="Arial"/>
                <a:cs typeface="Arial"/>
                <a:sym typeface="Arial"/>
              </a:rPr>
              <a:t>DÉCOUPAGE</a:t>
            </a:r>
            <a:endParaRPr sz="720">
              <a:solidFill>
                <a:schemeClr val="dk1"/>
              </a:solidFill>
              <a:latin typeface="Arial Rounded"/>
              <a:ea typeface="Arial Rounded"/>
              <a:cs typeface="Arial Rounded"/>
              <a:sym typeface="Arial Rounded"/>
            </a:endParaRPr>
          </a:p>
        </p:txBody>
      </p:sp>
      <p:sp>
        <p:nvSpPr>
          <p:cNvPr id="305" name="Google Shape;305;p38"/>
          <p:cNvSpPr/>
          <p:nvPr/>
        </p:nvSpPr>
        <p:spPr>
          <a:xfrm>
            <a:off x="4754875" y="2523763"/>
            <a:ext cx="3511200" cy="3018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None/>
            </a:pPr>
            <a:r>
              <a:rPr lang="fr" sz="870">
                <a:solidFill>
                  <a:srgbClr val="111111"/>
                </a:solidFill>
                <a:latin typeface="Arial Rounded"/>
                <a:ea typeface="Arial Rounded"/>
                <a:cs typeface="Arial Rounded"/>
                <a:sym typeface="Arial Rounded"/>
              </a:rPr>
              <a:t>Blocs fonctionnels : alimentation / ESP32 / capteurs / chauffage.</a:t>
            </a:r>
            <a:endParaRPr sz="87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870">
                <a:solidFill>
                  <a:srgbClr val="111111"/>
                </a:solidFill>
                <a:latin typeface="Arial Rounded"/>
                <a:ea typeface="Arial Rounded"/>
                <a:cs typeface="Arial Rounded"/>
                <a:sym typeface="Arial Rounded"/>
              </a:rPr>
              <a:t>Connecteurs et interfaces gardés en bord de carte.</a:t>
            </a:r>
            <a:endParaRPr sz="870">
              <a:solidFill>
                <a:schemeClr val="dk1"/>
              </a:solidFill>
              <a:latin typeface="Arial Rounded"/>
              <a:ea typeface="Arial Rounded"/>
              <a:cs typeface="Arial Rounded"/>
              <a:sym typeface="Arial Rounded"/>
            </a:endParaRPr>
          </a:p>
        </p:txBody>
      </p:sp>
      <p:sp>
        <p:nvSpPr>
          <p:cNvPr id="306" name="Google Shape;306;p38"/>
          <p:cNvSpPr/>
          <p:nvPr/>
        </p:nvSpPr>
        <p:spPr>
          <a:xfrm>
            <a:off x="4617720" y="3024398"/>
            <a:ext cx="3977700" cy="932700"/>
          </a:xfrm>
          <a:prstGeom prst="roundRect">
            <a:avLst>
              <a:gd fmla="val 11765" name="adj"/>
            </a:avLst>
          </a:prstGeom>
          <a:solidFill>
            <a:srgbClr val="FFF1D6">
              <a:alpha val="94120"/>
            </a:srgbClr>
          </a:solidFill>
          <a:ln cap="flat" cmpd="sng" w="11425">
            <a:solidFill>
              <a:srgbClr val="E0A228">
                <a:alpha val="9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8"/>
          <p:cNvSpPr/>
          <p:nvPr/>
        </p:nvSpPr>
        <p:spPr>
          <a:xfrm>
            <a:off x="4750225" y="3147808"/>
            <a:ext cx="1280100" cy="219600"/>
          </a:xfrm>
          <a:prstGeom prst="roundRect">
            <a:avLst>
              <a:gd fmla="val 33333" name="adj"/>
            </a:avLst>
          </a:prstGeom>
          <a:solidFill>
            <a:srgbClr val="C2410C"/>
          </a:solidFill>
          <a:ln cap="flat" cmpd="sng" w="12700">
            <a:solidFill>
              <a:srgbClr val="C2410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8"/>
          <p:cNvSpPr/>
          <p:nvPr/>
        </p:nvSpPr>
        <p:spPr>
          <a:xfrm>
            <a:off x="4795970" y="3214588"/>
            <a:ext cx="11886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Arial"/>
              <a:buNone/>
            </a:pPr>
            <a:r>
              <a:rPr b="1" lang="fr" sz="720">
                <a:solidFill>
                  <a:srgbClr val="FFFFFF"/>
                </a:solidFill>
                <a:latin typeface="Arial"/>
                <a:ea typeface="Arial"/>
                <a:cs typeface="Arial"/>
                <a:sym typeface="Arial"/>
              </a:rPr>
              <a:t>ERREURS CONSTATÉES</a:t>
            </a:r>
            <a:endParaRPr sz="720">
              <a:solidFill>
                <a:schemeClr val="dk1"/>
              </a:solidFill>
              <a:latin typeface="Arial Rounded"/>
              <a:ea typeface="Arial Rounded"/>
              <a:cs typeface="Arial Rounded"/>
              <a:sym typeface="Arial Rounded"/>
            </a:endParaRPr>
          </a:p>
        </p:txBody>
      </p:sp>
      <p:sp>
        <p:nvSpPr>
          <p:cNvPr id="309" name="Google Shape;309;p38"/>
          <p:cNvSpPr/>
          <p:nvPr/>
        </p:nvSpPr>
        <p:spPr>
          <a:xfrm>
            <a:off x="4750225" y="3449560"/>
            <a:ext cx="3520500" cy="3933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None/>
            </a:pPr>
            <a:r>
              <a:rPr lang="fr" sz="850">
                <a:solidFill>
                  <a:srgbClr val="111111"/>
                </a:solidFill>
                <a:latin typeface="Arial Rounded"/>
                <a:ea typeface="Arial Rounded"/>
                <a:cs typeface="Arial Rounded"/>
                <a:sym typeface="Arial Rounded"/>
              </a:rPr>
              <a:t>Airwires trop croisés quand les composants sont mal orientés.</a:t>
            </a:r>
            <a:endParaRPr sz="85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850">
                <a:solidFill>
                  <a:srgbClr val="111111"/>
                </a:solidFill>
                <a:latin typeface="Arial Rounded"/>
                <a:ea typeface="Arial Rounded"/>
                <a:cs typeface="Arial Rounded"/>
                <a:sym typeface="Arial Rounded"/>
              </a:rPr>
              <a:t>Composants trop dispersés =&gt; pistes longues et routage dense.</a:t>
            </a:r>
            <a:endParaRPr sz="85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850">
                <a:solidFill>
                  <a:srgbClr val="111111"/>
                </a:solidFill>
                <a:latin typeface="Arial Rounded"/>
                <a:ea typeface="Arial Rounded"/>
                <a:cs typeface="Arial Rounded"/>
                <a:sym typeface="Arial Rounded"/>
              </a:rPr>
              <a:t>Contraintes mécaniques : éviter les zones exposées à la cire.</a:t>
            </a:r>
            <a:endParaRPr sz="850">
              <a:solidFill>
                <a:schemeClr val="dk1"/>
              </a:solidFill>
              <a:latin typeface="Arial Rounded"/>
              <a:ea typeface="Arial Rounded"/>
              <a:cs typeface="Arial Rounded"/>
              <a:sym typeface="Arial Rounded"/>
            </a:endParaRPr>
          </a:p>
        </p:txBody>
      </p:sp>
      <p:sp>
        <p:nvSpPr>
          <p:cNvPr id="310" name="Google Shape;310;p38"/>
          <p:cNvSpPr/>
          <p:nvPr/>
        </p:nvSpPr>
        <p:spPr>
          <a:xfrm>
            <a:off x="4617720" y="4041630"/>
            <a:ext cx="3977700" cy="932700"/>
          </a:xfrm>
          <a:prstGeom prst="roundRect">
            <a:avLst>
              <a:gd fmla="val 11765" name="adj"/>
            </a:avLst>
          </a:prstGeom>
          <a:solidFill>
            <a:srgbClr val="ECFDF5">
              <a:alpha val="94120"/>
            </a:srgbClr>
          </a:solidFill>
          <a:ln cap="flat" cmpd="sng" w="11425">
            <a:solidFill>
              <a:srgbClr val="86C896">
                <a:alpha val="9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8"/>
          <p:cNvSpPr/>
          <p:nvPr/>
        </p:nvSpPr>
        <p:spPr>
          <a:xfrm>
            <a:off x="4800575" y="4174165"/>
            <a:ext cx="804600" cy="219600"/>
          </a:xfrm>
          <a:prstGeom prst="roundRect">
            <a:avLst>
              <a:gd fmla="val 33333" name="adj"/>
            </a:avLst>
          </a:prstGeom>
          <a:solidFill>
            <a:srgbClr val="166534"/>
          </a:solidFill>
          <a:ln cap="flat" cmpd="sng" w="12700">
            <a:solidFill>
              <a:srgbClr val="16653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8"/>
          <p:cNvSpPr/>
          <p:nvPr/>
        </p:nvSpPr>
        <p:spPr>
          <a:xfrm>
            <a:off x="4846320" y="4229082"/>
            <a:ext cx="7131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Arial"/>
              <a:buNone/>
            </a:pPr>
            <a:r>
              <a:rPr b="1" lang="fr" sz="720">
                <a:solidFill>
                  <a:srgbClr val="FFFFFF"/>
                </a:solidFill>
                <a:latin typeface="Arial"/>
                <a:ea typeface="Arial"/>
                <a:cs typeface="Arial"/>
                <a:sym typeface="Arial"/>
              </a:rPr>
              <a:t>RÉFLEXES</a:t>
            </a:r>
            <a:endParaRPr sz="720">
              <a:solidFill>
                <a:schemeClr val="dk1"/>
              </a:solidFill>
              <a:latin typeface="Arial Rounded"/>
              <a:ea typeface="Arial Rounded"/>
              <a:cs typeface="Arial Rounded"/>
              <a:sym typeface="Arial Rounded"/>
            </a:endParaRPr>
          </a:p>
        </p:txBody>
      </p:sp>
      <p:sp>
        <p:nvSpPr>
          <p:cNvPr id="313" name="Google Shape;313;p38"/>
          <p:cNvSpPr/>
          <p:nvPr/>
        </p:nvSpPr>
        <p:spPr>
          <a:xfrm>
            <a:off x="4800600" y="4471398"/>
            <a:ext cx="3492900" cy="3933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None/>
            </a:pPr>
            <a:r>
              <a:rPr lang="fr" sz="850">
                <a:solidFill>
                  <a:srgbClr val="111111"/>
                </a:solidFill>
                <a:latin typeface="Arial Rounded"/>
                <a:ea typeface="Arial Rounded"/>
                <a:cs typeface="Arial Rounded"/>
                <a:sym typeface="Arial Rounded"/>
              </a:rPr>
              <a:t>Tourner avant de router : réduire les croisements dès le placement.</a:t>
            </a:r>
            <a:endParaRPr sz="85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850">
                <a:solidFill>
                  <a:srgbClr val="111111"/>
                </a:solidFill>
                <a:latin typeface="Arial Rounded"/>
                <a:ea typeface="Arial Rounded"/>
                <a:cs typeface="Arial Rounded"/>
                <a:sym typeface="Arial Rounded"/>
              </a:rPr>
              <a:t>Condensateurs proches des circuits à découpler.</a:t>
            </a:r>
            <a:endParaRPr sz="85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850">
                <a:solidFill>
                  <a:srgbClr val="111111"/>
                </a:solidFill>
                <a:latin typeface="Arial Rounded"/>
                <a:ea typeface="Arial Rounded"/>
                <a:cs typeface="Arial Rounded"/>
                <a:sym typeface="Arial Rounded"/>
              </a:rPr>
              <a:t>Penser intégration mécanique avant la fabrication.</a:t>
            </a:r>
            <a:endParaRPr sz="850">
              <a:solidFill>
                <a:schemeClr val="dk1"/>
              </a:solidFill>
              <a:latin typeface="Arial Rounded"/>
              <a:ea typeface="Arial Rounded"/>
              <a:cs typeface="Arial Rounded"/>
              <a:sym typeface="Arial Rounded"/>
            </a:endParaRPr>
          </a:p>
        </p:txBody>
      </p:sp>
      <p:pic>
        <p:nvPicPr>
          <p:cNvPr descr="ChatGPT Image 25 oct. 2025, 20_11_13" id="314" name="Google Shape;314;p38"/>
          <p:cNvPicPr preferRelativeResize="0"/>
          <p:nvPr/>
        </p:nvPicPr>
        <p:blipFill rotWithShape="1">
          <a:blip r:embed="rId8">
            <a:alphaModFix/>
          </a:blip>
          <a:srcRect b="0" l="0" r="0" t="0"/>
          <a:stretch/>
        </p:blipFill>
        <p:spPr>
          <a:xfrm>
            <a:off x="4067530" y="4517134"/>
            <a:ext cx="615791" cy="615791"/>
          </a:xfrm>
          <a:prstGeom prst="rect">
            <a:avLst/>
          </a:prstGeom>
          <a:noFill/>
          <a:ln>
            <a:noFill/>
          </a:ln>
        </p:spPr>
      </p:pic>
      <p:sp>
        <p:nvSpPr>
          <p:cNvPr id="315" name="Google Shape;315;p38"/>
          <p:cNvSpPr txBox="1"/>
          <p:nvPr/>
        </p:nvSpPr>
        <p:spPr>
          <a:xfrm>
            <a:off x="4175780" y="4675025"/>
            <a:ext cx="3993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13</a:t>
            </a:r>
            <a:endParaRPr b="1" sz="1500">
              <a:solidFill>
                <a:srgbClr val="7F6000"/>
              </a:solidFill>
              <a:latin typeface="Arial Rounded"/>
              <a:ea typeface="Arial Rounded"/>
              <a:cs typeface="Arial Rounded"/>
              <a:sym typeface="Arial Rounde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descr="/mnt/data/template_media/beewarm_blank_bg.png" id="321" name="Google Shape;321;p39"/>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mnt/data/template_media/image7.png" id="322" name="Google Shape;322;p39"/>
          <p:cNvPicPr preferRelativeResize="0"/>
          <p:nvPr/>
        </p:nvPicPr>
        <p:blipFill rotWithShape="1">
          <a:blip r:embed="rId4">
            <a:alphaModFix amt="88000"/>
          </a:blip>
          <a:srcRect b="0" l="0" r="0" t="0"/>
          <a:stretch/>
        </p:blipFill>
        <p:spPr>
          <a:xfrm>
            <a:off x="8302752" y="384048"/>
            <a:ext cx="219456" cy="219456"/>
          </a:xfrm>
          <a:prstGeom prst="rect">
            <a:avLst/>
          </a:prstGeom>
          <a:noFill/>
          <a:ln>
            <a:noFill/>
          </a:ln>
        </p:spPr>
      </p:pic>
      <p:pic>
        <p:nvPicPr>
          <p:cNvPr descr="/mnt/data/template_media/image6.png" id="323" name="Google Shape;323;p39"/>
          <p:cNvPicPr preferRelativeResize="0"/>
          <p:nvPr/>
        </p:nvPicPr>
        <p:blipFill rotWithShape="1">
          <a:blip r:embed="rId5">
            <a:alphaModFix amt="85000"/>
          </a:blip>
          <a:srcRect b="0" l="0" r="0" t="0"/>
          <a:stretch/>
        </p:blipFill>
        <p:spPr>
          <a:xfrm>
            <a:off x="7754112" y="3584448"/>
            <a:ext cx="932687" cy="932687"/>
          </a:xfrm>
          <a:prstGeom prst="rect">
            <a:avLst/>
          </a:prstGeom>
          <a:noFill/>
          <a:ln>
            <a:noFill/>
          </a:ln>
        </p:spPr>
      </p:pic>
      <p:sp>
        <p:nvSpPr>
          <p:cNvPr id="324" name="Google Shape;324;p39"/>
          <p:cNvSpPr/>
          <p:nvPr/>
        </p:nvSpPr>
        <p:spPr>
          <a:xfrm>
            <a:off x="8394192" y="822960"/>
            <a:ext cx="2286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5D00"/>
              </a:buClr>
              <a:buSzPts val="750"/>
              <a:buFont typeface="Arial"/>
              <a:buNone/>
            </a:pPr>
            <a:r>
              <a:rPr b="1" lang="fr" sz="750">
                <a:solidFill>
                  <a:srgbClr val="9A5D00"/>
                </a:solidFill>
                <a:latin typeface="Arial"/>
                <a:ea typeface="Arial"/>
                <a:cs typeface="Arial"/>
                <a:sym typeface="Arial"/>
              </a:rPr>
              <a:t>20</a:t>
            </a:r>
            <a:endParaRPr sz="750">
              <a:solidFill>
                <a:schemeClr val="dk1"/>
              </a:solidFill>
              <a:latin typeface="Arial Rounded"/>
              <a:ea typeface="Arial Rounded"/>
              <a:cs typeface="Arial Rounded"/>
              <a:sym typeface="Arial Rounded"/>
            </a:endParaRPr>
          </a:p>
        </p:txBody>
      </p:sp>
      <p:sp>
        <p:nvSpPr>
          <p:cNvPr id="325" name="Google Shape;325;p39"/>
          <p:cNvSpPr/>
          <p:nvPr/>
        </p:nvSpPr>
        <p:spPr>
          <a:xfrm>
            <a:off x="329184" y="246888"/>
            <a:ext cx="80925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6700"/>
              </a:buClr>
              <a:buSzPts val="2200"/>
              <a:buFont typeface="Algerian"/>
              <a:buNone/>
            </a:pPr>
            <a:r>
              <a:rPr b="1" lang="fr" sz="2200">
                <a:solidFill>
                  <a:srgbClr val="9C6700"/>
                </a:solidFill>
                <a:latin typeface="Algerian"/>
                <a:ea typeface="Algerian"/>
                <a:cs typeface="Algerian"/>
                <a:sym typeface="Algerian"/>
              </a:rPr>
              <a:t>3. ROUTAGE : TRANSFORMER LES AIRWIRES EN PISTES</a:t>
            </a:r>
            <a:endParaRPr sz="2200">
              <a:solidFill>
                <a:schemeClr val="dk1"/>
              </a:solidFill>
              <a:latin typeface="Arial Rounded"/>
              <a:ea typeface="Arial Rounded"/>
              <a:cs typeface="Arial Rounded"/>
              <a:sym typeface="Arial Rounded"/>
            </a:endParaRPr>
          </a:p>
        </p:txBody>
      </p:sp>
      <p:cxnSp>
        <p:nvCxnSpPr>
          <p:cNvPr id="326" name="Google Shape;326;p39"/>
          <p:cNvCxnSpPr/>
          <p:nvPr/>
        </p:nvCxnSpPr>
        <p:spPr>
          <a:xfrm>
            <a:off x="347472" y="832104"/>
            <a:ext cx="4800600" cy="0"/>
          </a:xfrm>
          <a:prstGeom prst="straightConnector1">
            <a:avLst/>
          </a:prstGeom>
          <a:noFill/>
          <a:ln cap="flat" cmpd="sng" w="13950">
            <a:solidFill>
              <a:srgbClr val="D99A00">
                <a:alpha val="85100"/>
              </a:srgbClr>
            </a:solidFill>
            <a:prstDash val="solid"/>
            <a:round/>
            <a:headEnd len="sm" w="sm" type="none"/>
            <a:tailEnd len="sm" w="sm" type="none"/>
          </a:ln>
        </p:spPr>
      </p:cxnSp>
      <p:sp>
        <p:nvSpPr>
          <p:cNvPr id="327" name="Google Shape;327;p39"/>
          <p:cNvSpPr/>
          <p:nvPr/>
        </p:nvSpPr>
        <p:spPr>
          <a:xfrm>
            <a:off x="384050" y="987550"/>
            <a:ext cx="8402400" cy="1967700"/>
          </a:xfrm>
          <a:prstGeom prst="roundRect">
            <a:avLst>
              <a:gd fmla="val 7947" name="adj"/>
            </a:avLst>
          </a:prstGeom>
          <a:solidFill>
            <a:srgbClr val="FFFFFF">
              <a:alpha val="96860"/>
            </a:srgbClr>
          </a:solidFill>
          <a:ln cap="flat" cmpd="sng" w="10150">
            <a:solidFill>
              <a:srgbClr val="E8B546">
                <a:alpha val="878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pcb_assets/final_board.png" id="328" name="Google Shape;328;p39"/>
          <p:cNvPicPr preferRelativeResize="0"/>
          <p:nvPr/>
        </p:nvPicPr>
        <p:blipFill rotWithShape="1">
          <a:blip r:embed="rId6">
            <a:alphaModFix/>
          </a:blip>
          <a:srcRect b="0" l="0" r="0" t="0"/>
          <a:stretch/>
        </p:blipFill>
        <p:spPr>
          <a:xfrm>
            <a:off x="411475" y="1282225"/>
            <a:ext cx="8275325" cy="1387125"/>
          </a:xfrm>
          <a:prstGeom prst="rect">
            <a:avLst/>
          </a:prstGeom>
          <a:noFill/>
          <a:ln>
            <a:noFill/>
          </a:ln>
        </p:spPr>
      </p:pic>
      <p:sp>
        <p:nvSpPr>
          <p:cNvPr id="329" name="Google Shape;329;p39"/>
          <p:cNvSpPr/>
          <p:nvPr/>
        </p:nvSpPr>
        <p:spPr>
          <a:xfrm>
            <a:off x="2365532" y="2981760"/>
            <a:ext cx="4572000" cy="234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4E00"/>
              </a:buClr>
              <a:buSzPts val="740"/>
              <a:buFont typeface="Arial"/>
              <a:buNone/>
            </a:pPr>
            <a:r>
              <a:rPr i="1" lang="fr" sz="740">
                <a:solidFill>
                  <a:srgbClr val="6B4E00"/>
                </a:solidFill>
                <a:latin typeface="Arial"/>
                <a:ea typeface="Arial"/>
                <a:cs typeface="Arial"/>
                <a:sym typeface="Arial"/>
              </a:rPr>
              <a:t>Carte routée : couches Top et Bottom</a:t>
            </a:r>
            <a:endParaRPr sz="740">
              <a:solidFill>
                <a:schemeClr val="dk1"/>
              </a:solidFill>
              <a:latin typeface="Arial Rounded"/>
              <a:ea typeface="Arial Rounded"/>
              <a:cs typeface="Arial Rounded"/>
              <a:sym typeface="Arial Rounded"/>
            </a:endParaRPr>
          </a:p>
        </p:txBody>
      </p:sp>
      <p:sp>
        <p:nvSpPr>
          <p:cNvPr id="330" name="Google Shape;330;p39"/>
          <p:cNvSpPr/>
          <p:nvPr/>
        </p:nvSpPr>
        <p:spPr>
          <a:xfrm>
            <a:off x="41775" y="3702600"/>
            <a:ext cx="2957700" cy="749700"/>
          </a:xfrm>
          <a:prstGeom prst="roundRect">
            <a:avLst>
              <a:gd fmla="val 14634" name="adj"/>
            </a:avLst>
          </a:prstGeom>
          <a:solidFill>
            <a:srgbClr val="FFF9E6">
              <a:alpha val="94120"/>
            </a:srgbClr>
          </a:solidFill>
          <a:ln cap="flat" cmpd="sng" w="11425">
            <a:solidFill>
              <a:srgbClr val="E6B85C">
                <a:alpha val="9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9"/>
          <p:cNvSpPr/>
          <p:nvPr/>
        </p:nvSpPr>
        <p:spPr>
          <a:xfrm>
            <a:off x="212887" y="3826005"/>
            <a:ext cx="1170300" cy="219600"/>
          </a:xfrm>
          <a:prstGeom prst="roundRect">
            <a:avLst>
              <a:gd fmla="val 33333" name="adj"/>
            </a:avLst>
          </a:prstGeom>
          <a:solidFill>
            <a:srgbClr val="D97706"/>
          </a:solidFill>
          <a:ln cap="flat" cmpd="sng" w="12700">
            <a:solidFill>
              <a:srgbClr val="D9770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9"/>
          <p:cNvSpPr/>
          <p:nvPr/>
        </p:nvSpPr>
        <p:spPr>
          <a:xfrm>
            <a:off x="151907" y="3880897"/>
            <a:ext cx="10791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Arial"/>
              <a:buNone/>
            </a:pPr>
            <a:r>
              <a:rPr b="1" lang="fr" sz="720">
                <a:solidFill>
                  <a:srgbClr val="FFFFFF"/>
                </a:solidFill>
                <a:latin typeface="Arial"/>
                <a:ea typeface="Arial"/>
                <a:cs typeface="Arial"/>
                <a:sym typeface="Arial"/>
              </a:rPr>
              <a:t>CE QUI A ÉTÉ FAIT</a:t>
            </a:r>
            <a:endParaRPr sz="720">
              <a:solidFill>
                <a:schemeClr val="dk1"/>
              </a:solidFill>
              <a:latin typeface="Arial Rounded"/>
              <a:ea typeface="Arial Rounded"/>
              <a:cs typeface="Arial Rounded"/>
              <a:sym typeface="Arial Rounded"/>
            </a:endParaRPr>
          </a:p>
        </p:txBody>
      </p:sp>
      <p:sp>
        <p:nvSpPr>
          <p:cNvPr id="333" name="Google Shape;333;p39"/>
          <p:cNvSpPr/>
          <p:nvPr/>
        </p:nvSpPr>
        <p:spPr>
          <a:xfrm>
            <a:off x="106187" y="4123213"/>
            <a:ext cx="2834700" cy="2925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None/>
            </a:pPr>
            <a:r>
              <a:rPr lang="fr" sz="860">
                <a:solidFill>
                  <a:srgbClr val="111111"/>
                </a:solidFill>
                <a:latin typeface="Arial Rounded"/>
                <a:ea typeface="Arial Rounded"/>
                <a:cs typeface="Arial Rounded"/>
                <a:sym typeface="Arial Rounded"/>
              </a:rPr>
              <a:t>Routage manuel après un premier essai d’autorouter.</a:t>
            </a:r>
            <a:endParaRPr sz="86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860">
                <a:solidFill>
                  <a:srgbClr val="111111"/>
                </a:solidFill>
                <a:latin typeface="Arial Rounded"/>
                <a:ea typeface="Arial Rounded"/>
                <a:cs typeface="Arial Rounded"/>
                <a:sym typeface="Arial Rounded"/>
              </a:rPr>
              <a:t>Vias utilisés seulement quand nécessaires.</a:t>
            </a:r>
            <a:endParaRPr sz="860">
              <a:solidFill>
                <a:schemeClr val="dk1"/>
              </a:solidFill>
              <a:latin typeface="Arial Rounded"/>
              <a:ea typeface="Arial Rounded"/>
              <a:cs typeface="Arial Rounded"/>
              <a:sym typeface="Arial Rounded"/>
            </a:endParaRPr>
          </a:p>
        </p:txBody>
      </p:sp>
      <p:sp>
        <p:nvSpPr>
          <p:cNvPr id="334" name="Google Shape;334;p39"/>
          <p:cNvSpPr/>
          <p:nvPr/>
        </p:nvSpPr>
        <p:spPr>
          <a:xfrm>
            <a:off x="3143845" y="3528740"/>
            <a:ext cx="3337500" cy="1097400"/>
          </a:xfrm>
          <a:prstGeom prst="roundRect">
            <a:avLst>
              <a:gd fmla="val 10000" name="adj"/>
            </a:avLst>
          </a:prstGeom>
          <a:solidFill>
            <a:srgbClr val="FFF1D6">
              <a:alpha val="94120"/>
            </a:srgbClr>
          </a:solidFill>
          <a:ln cap="flat" cmpd="sng" w="11425">
            <a:solidFill>
              <a:srgbClr val="E0A228">
                <a:alpha val="9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9"/>
          <p:cNvSpPr/>
          <p:nvPr/>
        </p:nvSpPr>
        <p:spPr>
          <a:xfrm>
            <a:off x="3372462" y="3662975"/>
            <a:ext cx="1216200" cy="219600"/>
          </a:xfrm>
          <a:prstGeom prst="roundRect">
            <a:avLst>
              <a:gd fmla="val 33333" name="adj"/>
            </a:avLst>
          </a:prstGeom>
          <a:solidFill>
            <a:srgbClr val="C2410C"/>
          </a:solidFill>
          <a:ln cap="flat" cmpd="sng" w="12700">
            <a:solidFill>
              <a:srgbClr val="C2410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9"/>
          <p:cNvSpPr/>
          <p:nvPr/>
        </p:nvSpPr>
        <p:spPr>
          <a:xfrm>
            <a:off x="3372445" y="3716192"/>
            <a:ext cx="11247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Arial"/>
              <a:buNone/>
            </a:pPr>
            <a:r>
              <a:rPr b="1" lang="fr" sz="720">
                <a:solidFill>
                  <a:srgbClr val="FFFFFF"/>
                </a:solidFill>
                <a:latin typeface="Arial"/>
                <a:ea typeface="Arial"/>
                <a:cs typeface="Arial"/>
                <a:sym typeface="Arial"/>
              </a:rPr>
              <a:t>ERREURS DÉTECTÉES</a:t>
            </a:r>
            <a:endParaRPr sz="720">
              <a:solidFill>
                <a:schemeClr val="dk1"/>
              </a:solidFill>
              <a:latin typeface="Arial Rounded"/>
              <a:ea typeface="Arial Rounded"/>
              <a:cs typeface="Arial Rounded"/>
              <a:sym typeface="Arial Rounded"/>
            </a:endParaRPr>
          </a:p>
        </p:txBody>
      </p:sp>
      <p:sp>
        <p:nvSpPr>
          <p:cNvPr id="337" name="Google Shape;337;p39"/>
          <p:cNvSpPr/>
          <p:nvPr/>
        </p:nvSpPr>
        <p:spPr>
          <a:xfrm>
            <a:off x="3326725" y="3949364"/>
            <a:ext cx="2834700" cy="5487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None/>
            </a:pPr>
            <a:r>
              <a:rPr lang="fr" sz="820">
                <a:solidFill>
                  <a:srgbClr val="111111"/>
                </a:solidFill>
                <a:latin typeface="Arial Rounded"/>
                <a:ea typeface="Arial Rounded"/>
                <a:cs typeface="Arial Rounded"/>
                <a:sym typeface="Arial Rounded"/>
              </a:rPr>
              <a:t>Pistes visuellement proches mais non connectées au pad.</a:t>
            </a:r>
            <a:endParaRPr sz="82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820">
                <a:solidFill>
                  <a:srgbClr val="111111"/>
                </a:solidFill>
                <a:latin typeface="Arial Rounded"/>
                <a:ea typeface="Arial Rounded"/>
                <a:cs typeface="Arial Rounded"/>
                <a:sym typeface="Arial Rounded"/>
              </a:rPr>
              <a:t>Espacements insuffisants entre conducteurs.</a:t>
            </a:r>
            <a:endParaRPr sz="82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820">
                <a:solidFill>
                  <a:srgbClr val="111111"/>
                </a:solidFill>
                <a:latin typeface="Arial Rounded"/>
                <a:ea typeface="Arial Rounded"/>
                <a:cs typeface="Arial Rounded"/>
                <a:sym typeface="Arial Rounded"/>
              </a:rPr>
              <a:t>Largeur VCC à renforcer pour l’alimentation.</a:t>
            </a:r>
            <a:endParaRPr sz="82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t/>
            </a:r>
            <a:endParaRPr sz="820">
              <a:solidFill>
                <a:schemeClr val="dk1"/>
              </a:solidFill>
              <a:latin typeface="Arial Rounded"/>
              <a:ea typeface="Arial Rounded"/>
              <a:cs typeface="Arial Rounded"/>
              <a:sym typeface="Arial Rounded"/>
            </a:endParaRPr>
          </a:p>
        </p:txBody>
      </p:sp>
      <p:sp>
        <p:nvSpPr>
          <p:cNvPr id="338" name="Google Shape;338;p39"/>
          <p:cNvSpPr/>
          <p:nvPr/>
        </p:nvSpPr>
        <p:spPr>
          <a:xfrm>
            <a:off x="6684302" y="3684288"/>
            <a:ext cx="2205900" cy="786300"/>
          </a:xfrm>
          <a:prstGeom prst="roundRect">
            <a:avLst>
              <a:gd fmla="val 13953" name="adj"/>
            </a:avLst>
          </a:prstGeom>
          <a:solidFill>
            <a:srgbClr val="ECFDF5">
              <a:alpha val="94120"/>
            </a:srgbClr>
          </a:solidFill>
          <a:ln cap="flat" cmpd="sng" w="11425">
            <a:solidFill>
              <a:srgbClr val="86C896">
                <a:alpha val="9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9"/>
          <p:cNvSpPr/>
          <p:nvPr/>
        </p:nvSpPr>
        <p:spPr>
          <a:xfrm>
            <a:off x="6790112" y="3707950"/>
            <a:ext cx="768000" cy="219600"/>
          </a:xfrm>
          <a:prstGeom prst="roundRect">
            <a:avLst>
              <a:gd fmla="val 33333" name="adj"/>
            </a:avLst>
          </a:prstGeom>
          <a:solidFill>
            <a:srgbClr val="166534"/>
          </a:solidFill>
          <a:ln cap="flat" cmpd="sng" w="12700">
            <a:solidFill>
              <a:srgbClr val="16653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9"/>
          <p:cNvSpPr/>
          <p:nvPr/>
        </p:nvSpPr>
        <p:spPr>
          <a:xfrm>
            <a:off x="6835707" y="3762842"/>
            <a:ext cx="6768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Arial"/>
              <a:buNone/>
            </a:pPr>
            <a:r>
              <a:rPr b="1" lang="fr" sz="720">
                <a:solidFill>
                  <a:srgbClr val="FFFFFF"/>
                </a:solidFill>
                <a:latin typeface="Arial"/>
                <a:ea typeface="Arial"/>
                <a:cs typeface="Arial"/>
                <a:sym typeface="Arial"/>
              </a:rPr>
              <a:t>RÉFLEXES</a:t>
            </a:r>
            <a:endParaRPr sz="720">
              <a:solidFill>
                <a:schemeClr val="dk1"/>
              </a:solidFill>
              <a:latin typeface="Arial Rounded"/>
              <a:ea typeface="Arial Rounded"/>
              <a:cs typeface="Arial Rounded"/>
              <a:sym typeface="Arial Rounded"/>
            </a:endParaRPr>
          </a:p>
        </p:txBody>
      </p:sp>
      <p:sp>
        <p:nvSpPr>
          <p:cNvPr id="341" name="Google Shape;341;p39"/>
          <p:cNvSpPr/>
          <p:nvPr/>
        </p:nvSpPr>
        <p:spPr>
          <a:xfrm>
            <a:off x="6788104" y="4031900"/>
            <a:ext cx="1998300" cy="3474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None/>
            </a:pPr>
            <a:r>
              <a:rPr lang="fr" sz="820">
                <a:solidFill>
                  <a:srgbClr val="111111"/>
                </a:solidFill>
                <a:latin typeface="Arial Rounded"/>
                <a:ea typeface="Arial Rounded"/>
                <a:cs typeface="Arial Rounded"/>
                <a:sym typeface="Arial Rounded"/>
              </a:rPr>
              <a:t>Ne jamais se fier uniquement au visuel.</a:t>
            </a:r>
            <a:endParaRPr sz="82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820">
                <a:solidFill>
                  <a:srgbClr val="111111"/>
                </a:solidFill>
                <a:latin typeface="Arial Rounded"/>
                <a:ea typeface="Arial Rounded"/>
                <a:cs typeface="Arial Rounded"/>
                <a:sym typeface="Arial Rounded"/>
              </a:rPr>
              <a:t>DRC/ERC jusqu’à 0 erreur bloquante.</a:t>
            </a:r>
            <a:endParaRPr sz="82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820">
                <a:solidFill>
                  <a:srgbClr val="111111"/>
                </a:solidFill>
                <a:latin typeface="Arial Rounded"/>
                <a:ea typeface="Arial Rounded"/>
                <a:cs typeface="Arial Rounded"/>
                <a:sym typeface="Arial Rounded"/>
              </a:rPr>
              <a:t>Interpréter les warnings avant export.</a:t>
            </a:r>
            <a:endParaRPr sz="820">
              <a:solidFill>
                <a:schemeClr val="dk1"/>
              </a:solidFill>
              <a:latin typeface="Arial Rounded"/>
              <a:ea typeface="Arial Rounded"/>
              <a:cs typeface="Arial Rounded"/>
              <a:sym typeface="Arial Rounded"/>
            </a:endParaRPr>
          </a:p>
        </p:txBody>
      </p:sp>
      <p:pic>
        <p:nvPicPr>
          <p:cNvPr descr="ChatGPT Image 25 oct. 2025, 20_11_13" id="342" name="Google Shape;342;p39"/>
          <p:cNvPicPr preferRelativeResize="0"/>
          <p:nvPr/>
        </p:nvPicPr>
        <p:blipFill rotWithShape="1">
          <a:blip r:embed="rId7">
            <a:alphaModFix/>
          </a:blip>
          <a:srcRect b="0" l="0" r="0" t="0"/>
          <a:stretch/>
        </p:blipFill>
        <p:spPr>
          <a:xfrm>
            <a:off x="4253514" y="4527709"/>
            <a:ext cx="615791" cy="615791"/>
          </a:xfrm>
          <a:prstGeom prst="rect">
            <a:avLst/>
          </a:prstGeom>
          <a:noFill/>
          <a:ln>
            <a:noFill/>
          </a:ln>
        </p:spPr>
      </p:pic>
      <p:sp>
        <p:nvSpPr>
          <p:cNvPr id="343" name="Google Shape;343;p39"/>
          <p:cNvSpPr txBox="1"/>
          <p:nvPr/>
        </p:nvSpPr>
        <p:spPr>
          <a:xfrm>
            <a:off x="4338814" y="4685600"/>
            <a:ext cx="4452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14</a:t>
            </a:r>
            <a:endParaRPr b="1" sz="1500">
              <a:solidFill>
                <a:srgbClr val="7F6000"/>
              </a:solidFill>
              <a:latin typeface="Arial Rounded"/>
              <a:ea typeface="Arial Rounded"/>
              <a:cs typeface="Arial Rounded"/>
              <a:sym typeface="Arial Rounde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descr="/mnt/data/template_media/beewarm_blank_bg.png" id="349" name="Google Shape;349;p40"/>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mnt/data/template_media/image7.png" id="350" name="Google Shape;350;p40"/>
          <p:cNvPicPr preferRelativeResize="0"/>
          <p:nvPr/>
        </p:nvPicPr>
        <p:blipFill rotWithShape="1">
          <a:blip r:embed="rId4">
            <a:alphaModFix amt="88000"/>
          </a:blip>
          <a:srcRect b="0" l="0" r="0" t="0"/>
          <a:stretch/>
        </p:blipFill>
        <p:spPr>
          <a:xfrm>
            <a:off x="8302752" y="384048"/>
            <a:ext cx="219456" cy="219456"/>
          </a:xfrm>
          <a:prstGeom prst="rect">
            <a:avLst/>
          </a:prstGeom>
          <a:noFill/>
          <a:ln>
            <a:noFill/>
          </a:ln>
        </p:spPr>
      </p:pic>
      <p:pic>
        <p:nvPicPr>
          <p:cNvPr descr="/mnt/data/template_media/image6.png" id="351" name="Google Shape;351;p40"/>
          <p:cNvPicPr preferRelativeResize="0"/>
          <p:nvPr/>
        </p:nvPicPr>
        <p:blipFill rotWithShape="1">
          <a:blip r:embed="rId5">
            <a:alphaModFix amt="85000"/>
          </a:blip>
          <a:srcRect b="0" l="0" r="0" t="0"/>
          <a:stretch/>
        </p:blipFill>
        <p:spPr>
          <a:xfrm>
            <a:off x="7754112" y="3584448"/>
            <a:ext cx="932687" cy="932687"/>
          </a:xfrm>
          <a:prstGeom prst="rect">
            <a:avLst/>
          </a:prstGeom>
          <a:noFill/>
          <a:ln>
            <a:noFill/>
          </a:ln>
        </p:spPr>
      </p:pic>
      <p:sp>
        <p:nvSpPr>
          <p:cNvPr id="352" name="Google Shape;352;p40"/>
          <p:cNvSpPr/>
          <p:nvPr/>
        </p:nvSpPr>
        <p:spPr>
          <a:xfrm>
            <a:off x="8394192" y="822960"/>
            <a:ext cx="2286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5D00"/>
              </a:buClr>
              <a:buSzPts val="750"/>
              <a:buFont typeface="Arial"/>
              <a:buNone/>
            </a:pPr>
            <a:r>
              <a:rPr b="1" lang="fr" sz="750">
                <a:solidFill>
                  <a:srgbClr val="9A5D00"/>
                </a:solidFill>
                <a:latin typeface="Arial"/>
                <a:ea typeface="Arial"/>
                <a:cs typeface="Arial"/>
                <a:sym typeface="Arial"/>
              </a:rPr>
              <a:t>21</a:t>
            </a:r>
            <a:endParaRPr sz="750">
              <a:solidFill>
                <a:schemeClr val="dk1"/>
              </a:solidFill>
              <a:latin typeface="Arial Rounded"/>
              <a:ea typeface="Arial Rounded"/>
              <a:cs typeface="Arial Rounded"/>
              <a:sym typeface="Arial Rounded"/>
            </a:endParaRPr>
          </a:p>
        </p:txBody>
      </p:sp>
      <p:sp>
        <p:nvSpPr>
          <p:cNvPr id="353" name="Google Shape;353;p40"/>
          <p:cNvSpPr/>
          <p:nvPr/>
        </p:nvSpPr>
        <p:spPr>
          <a:xfrm>
            <a:off x="329184" y="246888"/>
            <a:ext cx="80925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6700"/>
              </a:buClr>
              <a:buSzPts val="2200"/>
              <a:buFont typeface="Algerian"/>
              <a:buNone/>
            </a:pPr>
            <a:r>
              <a:rPr b="1" lang="fr" sz="2200">
                <a:solidFill>
                  <a:srgbClr val="9C6700"/>
                </a:solidFill>
                <a:latin typeface="Algerian"/>
                <a:ea typeface="Algerian"/>
                <a:cs typeface="Algerian"/>
                <a:sym typeface="Algerian"/>
              </a:rPr>
              <a:t>4. FABRICATION : VALIDER AVANT D’ALIMENTER</a:t>
            </a:r>
            <a:endParaRPr sz="2200">
              <a:solidFill>
                <a:schemeClr val="dk1"/>
              </a:solidFill>
              <a:latin typeface="Arial Rounded"/>
              <a:ea typeface="Arial Rounded"/>
              <a:cs typeface="Arial Rounded"/>
              <a:sym typeface="Arial Rounded"/>
            </a:endParaRPr>
          </a:p>
        </p:txBody>
      </p:sp>
      <p:cxnSp>
        <p:nvCxnSpPr>
          <p:cNvPr id="354" name="Google Shape;354;p40"/>
          <p:cNvCxnSpPr/>
          <p:nvPr/>
        </p:nvCxnSpPr>
        <p:spPr>
          <a:xfrm>
            <a:off x="347472" y="832104"/>
            <a:ext cx="4800600" cy="0"/>
          </a:xfrm>
          <a:prstGeom prst="straightConnector1">
            <a:avLst/>
          </a:prstGeom>
          <a:noFill/>
          <a:ln cap="flat" cmpd="sng" w="13950">
            <a:solidFill>
              <a:srgbClr val="D99A00">
                <a:alpha val="85100"/>
              </a:srgbClr>
            </a:solidFill>
            <a:prstDash val="solid"/>
            <a:round/>
            <a:headEnd len="sm" w="sm" type="none"/>
            <a:tailEnd len="sm" w="sm" type="none"/>
          </a:ln>
        </p:spPr>
      </p:cxnSp>
      <p:sp>
        <p:nvSpPr>
          <p:cNvPr id="355" name="Google Shape;355;p40"/>
          <p:cNvSpPr/>
          <p:nvPr/>
        </p:nvSpPr>
        <p:spPr>
          <a:xfrm>
            <a:off x="374904" y="996696"/>
            <a:ext cx="1883700" cy="1389900"/>
          </a:xfrm>
          <a:prstGeom prst="roundRect">
            <a:avLst>
              <a:gd fmla="val 7895" name="adj"/>
            </a:avLst>
          </a:prstGeom>
          <a:solidFill>
            <a:srgbClr val="FFFFFF">
              <a:alpha val="96860"/>
            </a:srgbClr>
          </a:solidFill>
          <a:ln cap="flat" cmpd="sng" w="10150">
            <a:solidFill>
              <a:srgbClr val="E8B546">
                <a:alpha val="878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pcb_assets_cropped/erc_check_crop.png" id="356" name="Google Shape;356;p40"/>
          <p:cNvPicPr preferRelativeResize="0"/>
          <p:nvPr/>
        </p:nvPicPr>
        <p:blipFill rotWithShape="1">
          <a:blip r:embed="rId6">
            <a:alphaModFix/>
          </a:blip>
          <a:srcRect b="0" l="0" r="0" t="0"/>
          <a:stretch/>
        </p:blipFill>
        <p:spPr>
          <a:xfrm>
            <a:off x="655619" y="1024128"/>
            <a:ext cx="1322232" cy="1335023"/>
          </a:xfrm>
          <a:prstGeom prst="rect">
            <a:avLst/>
          </a:prstGeom>
          <a:noFill/>
          <a:ln>
            <a:noFill/>
          </a:ln>
        </p:spPr>
      </p:pic>
      <p:sp>
        <p:nvSpPr>
          <p:cNvPr id="357" name="Google Shape;357;p40"/>
          <p:cNvSpPr/>
          <p:nvPr/>
        </p:nvSpPr>
        <p:spPr>
          <a:xfrm>
            <a:off x="402336" y="2395728"/>
            <a:ext cx="18288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4E00"/>
              </a:buClr>
              <a:buSzPts val="740"/>
              <a:buFont typeface="Arial"/>
              <a:buNone/>
            </a:pPr>
            <a:r>
              <a:rPr i="1" lang="fr" sz="740">
                <a:solidFill>
                  <a:srgbClr val="6B4E00"/>
                </a:solidFill>
                <a:latin typeface="Arial"/>
                <a:ea typeface="Arial"/>
                <a:cs typeface="Arial"/>
                <a:sym typeface="Arial"/>
              </a:rPr>
              <a:t>Vérification : 0 erreur bloquante</a:t>
            </a:r>
            <a:endParaRPr sz="740">
              <a:solidFill>
                <a:schemeClr val="dk1"/>
              </a:solidFill>
              <a:latin typeface="Arial Rounded"/>
              <a:ea typeface="Arial Rounded"/>
              <a:cs typeface="Arial Rounded"/>
              <a:sym typeface="Arial Rounded"/>
            </a:endParaRPr>
          </a:p>
        </p:txBody>
      </p:sp>
      <p:sp>
        <p:nvSpPr>
          <p:cNvPr id="358" name="Google Shape;358;p40"/>
          <p:cNvSpPr/>
          <p:nvPr/>
        </p:nvSpPr>
        <p:spPr>
          <a:xfrm>
            <a:off x="2496312" y="996696"/>
            <a:ext cx="1883700" cy="1389900"/>
          </a:xfrm>
          <a:prstGeom prst="roundRect">
            <a:avLst>
              <a:gd fmla="val 7895" name="adj"/>
            </a:avLst>
          </a:prstGeom>
          <a:solidFill>
            <a:srgbClr val="FFFFFF">
              <a:alpha val="96860"/>
            </a:srgbClr>
          </a:solidFill>
          <a:ln cap="flat" cmpd="sng" w="10150">
            <a:solidFill>
              <a:srgbClr val="E8B546">
                <a:alpha val="878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pcb_assets_cropped/stencil_crop.png" id="359" name="Google Shape;359;p40"/>
          <p:cNvPicPr preferRelativeResize="0"/>
          <p:nvPr/>
        </p:nvPicPr>
        <p:blipFill rotWithShape="1">
          <a:blip r:embed="rId7">
            <a:alphaModFix/>
          </a:blip>
          <a:srcRect b="0" l="0" r="0" t="0"/>
          <a:stretch/>
        </p:blipFill>
        <p:spPr>
          <a:xfrm>
            <a:off x="2690531" y="1024128"/>
            <a:ext cx="1495228" cy="1335025"/>
          </a:xfrm>
          <a:prstGeom prst="rect">
            <a:avLst/>
          </a:prstGeom>
          <a:noFill/>
          <a:ln>
            <a:noFill/>
          </a:ln>
        </p:spPr>
      </p:pic>
      <p:sp>
        <p:nvSpPr>
          <p:cNvPr id="360" name="Google Shape;360;p40"/>
          <p:cNvSpPr/>
          <p:nvPr/>
        </p:nvSpPr>
        <p:spPr>
          <a:xfrm>
            <a:off x="2523744" y="2395728"/>
            <a:ext cx="18288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4E00"/>
              </a:buClr>
              <a:buSzPts val="740"/>
              <a:buFont typeface="Arial"/>
              <a:buNone/>
            </a:pPr>
            <a:r>
              <a:rPr i="1" lang="fr" sz="740">
                <a:solidFill>
                  <a:srgbClr val="6B4E00"/>
                </a:solidFill>
                <a:latin typeface="Arial"/>
                <a:ea typeface="Arial"/>
                <a:cs typeface="Arial"/>
                <a:sym typeface="Arial"/>
              </a:rPr>
              <a:t>Pochoir + pâte à braser</a:t>
            </a:r>
            <a:endParaRPr sz="740">
              <a:solidFill>
                <a:schemeClr val="dk1"/>
              </a:solidFill>
              <a:latin typeface="Arial Rounded"/>
              <a:ea typeface="Arial Rounded"/>
              <a:cs typeface="Arial Rounded"/>
              <a:sym typeface="Arial Rounded"/>
            </a:endParaRPr>
          </a:p>
        </p:txBody>
      </p:sp>
      <p:sp>
        <p:nvSpPr>
          <p:cNvPr id="361" name="Google Shape;361;p40"/>
          <p:cNvSpPr/>
          <p:nvPr/>
        </p:nvSpPr>
        <p:spPr>
          <a:xfrm>
            <a:off x="4617720" y="996696"/>
            <a:ext cx="1883700" cy="1389900"/>
          </a:xfrm>
          <a:prstGeom prst="roundRect">
            <a:avLst>
              <a:gd fmla="val 7895" name="adj"/>
            </a:avLst>
          </a:prstGeom>
          <a:solidFill>
            <a:srgbClr val="FFFFFF">
              <a:alpha val="96860"/>
            </a:srgbClr>
          </a:solidFill>
          <a:ln cap="flat" cmpd="sng" w="10150">
            <a:solidFill>
              <a:srgbClr val="E8B546">
                <a:alpha val="878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pcb_assets_cropped/reflow_oven_crop.png" id="362" name="Google Shape;362;p40"/>
          <p:cNvPicPr preferRelativeResize="0"/>
          <p:nvPr/>
        </p:nvPicPr>
        <p:blipFill rotWithShape="1">
          <a:blip r:embed="rId8">
            <a:alphaModFix/>
          </a:blip>
          <a:srcRect b="0" l="0" r="0" t="0"/>
          <a:stretch/>
        </p:blipFill>
        <p:spPr>
          <a:xfrm>
            <a:off x="4806566" y="1024128"/>
            <a:ext cx="1505972" cy="1335024"/>
          </a:xfrm>
          <a:prstGeom prst="rect">
            <a:avLst/>
          </a:prstGeom>
          <a:noFill/>
          <a:ln>
            <a:noFill/>
          </a:ln>
        </p:spPr>
      </p:pic>
      <p:sp>
        <p:nvSpPr>
          <p:cNvPr id="363" name="Google Shape;363;p40"/>
          <p:cNvSpPr/>
          <p:nvPr/>
        </p:nvSpPr>
        <p:spPr>
          <a:xfrm>
            <a:off x="4645152" y="2395728"/>
            <a:ext cx="18288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4E00"/>
              </a:buClr>
              <a:buSzPts val="740"/>
              <a:buFont typeface="Arial"/>
              <a:buNone/>
            </a:pPr>
            <a:r>
              <a:rPr i="1" lang="fr" sz="740">
                <a:solidFill>
                  <a:srgbClr val="6B4E00"/>
                </a:solidFill>
                <a:latin typeface="Arial"/>
                <a:ea typeface="Arial"/>
                <a:cs typeface="Arial"/>
                <a:sym typeface="Arial"/>
              </a:rPr>
              <a:t>Four de refusion CMS</a:t>
            </a:r>
            <a:endParaRPr sz="740">
              <a:solidFill>
                <a:schemeClr val="dk1"/>
              </a:solidFill>
              <a:latin typeface="Arial Rounded"/>
              <a:ea typeface="Arial Rounded"/>
              <a:cs typeface="Arial Rounded"/>
              <a:sym typeface="Arial Rounded"/>
            </a:endParaRPr>
          </a:p>
        </p:txBody>
      </p:sp>
      <p:sp>
        <p:nvSpPr>
          <p:cNvPr id="364" name="Google Shape;364;p40"/>
          <p:cNvSpPr/>
          <p:nvPr/>
        </p:nvSpPr>
        <p:spPr>
          <a:xfrm>
            <a:off x="6739128" y="996696"/>
            <a:ext cx="1609200" cy="1389900"/>
          </a:xfrm>
          <a:prstGeom prst="roundRect">
            <a:avLst>
              <a:gd fmla="val 7895" name="adj"/>
            </a:avLst>
          </a:prstGeom>
          <a:solidFill>
            <a:srgbClr val="FFFFFF">
              <a:alpha val="96860"/>
            </a:srgbClr>
          </a:solidFill>
          <a:ln cap="flat" cmpd="sng" w="10150">
            <a:solidFill>
              <a:srgbClr val="E8B546">
                <a:alpha val="878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pcb_assets_cropped/assembled_boards_crop.png" id="365" name="Google Shape;365;p40"/>
          <p:cNvPicPr preferRelativeResize="0"/>
          <p:nvPr/>
        </p:nvPicPr>
        <p:blipFill rotWithShape="1">
          <a:blip r:embed="rId9">
            <a:alphaModFix/>
          </a:blip>
          <a:srcRect b="0" l="0" r="0" t="0"/>
          <a:stretch/>
        </p:blipFill>
        <p:spPr>
          <a:xfrm>
            <a:off x="7065550" y="1024128"/>
            <a:ext cx="956498" cy="1335023"/>
          </a:xfrm>
          <a:prstGeom prst="rect">
            <a:avLst/>
          </a:prstGeom>
          <a:noFill/>
          <a:ln>
            <a:noFill/>
          </a:ln>
        </p:spPr>
      </p:pic>
      <p:sp>
        <p:nvSpPr>
          <p:cNvPr id="366" name="Google Shape;366;p40"/>
          <p:cNvSpPr/>
          <p:nvPr/>
        </p:nvSpPr>
        <p:spPr>
          <a:xfrm>
            <a:off x="6766560" y="2395728"/>
            <a:ext cx="15546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4E00"/>
              </a:buClr>
              <a:buSzPts val="740"/>
              <a:buFont typeface="Arial"/>
              <a:buNone/>
            </a:pPr>
            <a:r>
              <a:rPr i="1" lang="fr" sz="740">
                <a:solidFill>
                  <a:srgbClr val="6B4E00"/>
                </a:solidFill>
                <a:latin typeface="Arial"/>
                <a:ea typeface="Arial"/>
                <a:cs typeface="Arial"/>
                <a:sym typeface="Arial"/>
              </a:rPr>
              <a:t>Cartes assemblées</a:t>
            </a:r>
            <a:endParaRPr sz="740">
              <a:solidFill>
                <a:schemeClr val="dk1"/>
              </a:solidFill>
              <a:latin typeface="Arial Rounded"/>
              <a:ea typeface="Arial Rounded"/>
              <a:cs typeface="Arial Rounded"/>
              <a:sym typeface="Arial Rounded"/>
            </a:endParaRPr>
          </a:p>
        </p:txBody>
      </p:sp>
      <p:sp>
        <p:nvSpPr>
          <p:cNvPr id="367" name="Google Shape;367;p40"/>
          <p:cNvSpPr/>
          <p:nvPr/>
        </p:nvSpPr>
        <p:spPr>
          <a:xfrm>
            <a:off x="530352" y="2907792"/>
            <a:ext cx="2423100" cy="1042500"/>
          </a:xfrm>
          <a:prstGeom prst="roundRect">
            <a:avLst>
              <a:gd fmla="val 10526" name="adj"/>
            </a:avLst>
          </a:prstGeom>
          <a:solidFill>
            <a:srgbClr val="FFF1D6">
              <a:alpha val="94120"/>
            </a:srgbClr>
          </a:solidFill>
          <a:ln cap="flat" cmpd="sng" w="11425">
            <a:solidFill>
              <a:srgbClr val="E0A228">
                <a:alpha val="9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0"/>
          <p:cNvSpPr/>
          <p:nvPr/>
        </p:nvSpPr>
        <p:spPr>
          <a:xfrm>
            <a:off x="713232" y="3054096"/>
            <a:ext cx="1417200" cy="219600"/>
          </a:xfrm>
          <a:prstGeom prst="roundRect">
            <a:avLst>
              <a:gd fmla="val 33333" name="adj"/>
            </a:avLst>
          </a:prstGeom>
          <a:solidFill>
            <a:srgbClr val="C2410C"/>
          </a:solidFill>
          <a:ln cap="flat" cmpd="sng" w="12700">
            <a:solidFill>
              <a:srgbClr val="C2410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40"/>
          <p:cNvSpPr/>
          <p:nvPr/>
        </p:nvSpPr>
        <p:spPr>
          <a:xfrm>
            <a:off x="758952" y="3104388"/>
            <a:ext cx="13260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Arial"/>
              <a:buNone/>
            </a:pPr>
            <a:r>
              <a:rPr b="1" lang="fr" sz="720">
                <a:solidFill>
                  <a:srgbClr val="FFFFFF"/>
                </a:solidFill>
                <a:latin typeface="Arial"/>
                <a:ea typeface="Arial"/>
                <a:cs typeface="Arial"/>
                <a:sym typeface="Arial"/>
              </a:rPr>
              <a:t>PROBLÈMES APRÈS TESTS</a:t>
            </a:r>
            <a:endParaRPr sz="720">
              <a:solidFill>
                <a:schemeClr val="dk1"/>
              </a:solidFill>
              <a:latin typeface="Arial Rounded"/>
              <a:ea typeface="Arial Rounded"/>
              <a:cs typeface="Arial Rounded"/>
              <a:sym typeface="Arial Rounded"/>
            </a:endParaRPr>
          </a:p>
        </p:txBody>
      </p:sp>
      <p:sp>
        <p:nvSpPr>
          <p:cNvPr id="370" name="Google Shape;370;p40"/>
          <p:cNvSpPr/>
          <p:nvPr/>
        </p:nvSpPr>
        <p:spPr>
          <a:xfrm>
            <a:off x="713232" y="3337560"/>
            <a:ext cx="2057400" cy="4755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None/>
            </a:pPr>
            <a:r>
              <a:rPr lang="fr" sz="800">
                <a:solidFill>
                  <a:srgbClr val="111111"/>
                </a:solidFill>
                <a:latin typeface="Arial Rounded"/>
                <a:ea typeface="Arial Rounded"/>
                <a:cs typeface="Arial Rounded"/>
                <a:sym typeface="Arial Rounded"/>
              </a:rPr>
              <a:t>Défaut PCB : ligne SignalLine1.</a:t>
            </a:r>
            <a:endParaRPr sz="80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t/>
            </a:r>
            <a:endParaRPr sz="800">
              <a:solidFill>
                <a:schemeClr val="dk1"/>
              </a:solidFill>
              <a:latin typeface="Arial Rounded"/>
              <a:ea typeface="Arial Rounded"/>
              <a:cs typeface="Arial Rounded"/>
              <a:sym typeface="Arial Rounded"/>
            </a:endParaRPr>
          </a:p>
        </p:txBody>
      </p:sp>
      <p:sp>
        <p:nvSpPr>
          <p:cNvPr id="371" name="Google Shape;371;p40"/>
          <p:cNvSpPr/>
          <p:nvPr/>
        </p:nvSpPr>
        <p:spPr>
          <a:xfrm>
            <a:off x="3246125" y="2907801"/>
            <a:ext cx="2267700" cy="1185900"/>
          </a:xfrm>
          <a:prstGeom prst="roundRect">
            <a:avLst>
              <a:gd fmla="val 10526" name="adj"/>
            </a:avLst>
          </a:prstGeom>
          <a:solidFill>
            <a:srgbClr val="FFF1D6">
              <a:alpha val="94120"/>
            </a:srgbClr>
          </a:solidFill>
          <a:ln cap="flat" cmpd="sng" w="11425">
            <a:solidFill>
              <a:srgbClr val="E0A228">
                <a:alpha val="9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0"/>
          <p:cNvSpPr/>
          <p:nvPr/>
        </p:nvSpPr>
        <p:spPr>
          <a:xfrm>
            <a:off x="3429000" y="3054096"/>
            <a:ext cx="1225200" cy="219600"/>
          </a:xfrm>
          <a:prstGeom prst="roundRect">
            <a:avLst>
              <a:gd fmla="val 33333" name="adj"/>
            </a:avLst>
          </a:prstGeom>
          <a:solidFill>
            <a:srgbClr val="C2410C"/>
          </a:solidFill>
          <a:ln cap="flat" cmpd="sng" w="12700">
            <a:solidFill>
              <a:srgbClr val="C2410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40"/>
          <p:cNvSpPr/>
          <p:nvPr/>
        </p:nvSpPr>
        <p:spPr>
          <a:xfrm>
            <a:off x="3474720" y="3104388"/>
            <a:ext cx="11340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Arial"/>
              <a:buNone/>
            </a:pPr>
            <a:r>
              <a:rPr b="1" lang="fr" sz="720">
                <a:solidFill>
                  <a:srgbClr val="FFFFFF"/>
                </a:solidFill>
                <a:latin typeface="Arial"/>
                <a:ea typeface="Arial"/>
                <a:cs typeface="Arial"/>
                <a:sym typeface="Arial"/>
              </a:rPr>
              <a:t>ERREUR COMPOSANT</a:t>
            </a:r>
            <a:endParaRPr sz="720">
              <a:solidFill>
                <a:schemeClr val="dk1"/>
              </a:solidFill>
              <a:latin typeface="Arial Rounded"/>
              <a:ea typeface="Arial Rounded"/>
              <a:cs typeface="Arial Rounded"/>
              <a:sym typeface="Arial Rounded"/>
            </a:endParaRPr>
          </a:p>
        </p:txBody>
      </p:sp>
      <p:sp>
        <p:nvSpPr>
          <p:cNvPr id="374" name="Google Shape;374;p40"/>
          <p:cNvSpPr/>
          <p:nvPr/>
        </p:nvSpPr>
        <p:spPr>
          <a:xfrm>
            <a:off x="3429000" y="3337547"/>
            <a:ext cx="1902000" cy="6129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None/>
            </a:pPr>
            <a:r>
              <a:rPr lang="fr" sz="800">
                <a:solidFill>
                  <a:srgbClr val="111111"/>
                </a:solidFill>
                <a:latin typeface="Arial Rounded"/>
                <a:ea typeface="Arial Rounded"/>
                <a:cs typeface="Arial Rounded"/>
                <a:sym typeface="Arial Rounded"/>
              </a:rPr>
              <a:t>Référence INA différente.</a:t>
            </a:r>
            <a:endParaRPr sz="80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800">
                <a:solidFill>
                  <a:srgbClr val="111111"/>
                </a:solidFill>
                <a:latin typeface="Arial Rounded"/>
                <a:ea typeface="Arial Rounded"/>
                <a:cs typeface="Arial Rounded"/>
                <a:sym typeface="Arial Rounded"/>
              </a:rPr>
              <a:t>Brochage non compatible avec l’empreinte PCB.</a:t>
            </a:r>
            <a:endParaRPr sz="80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800">
                <a:solidFill>
                  <a:srgbClr val="111111"/>
                </a:solidFill>
                <a:latin typeface="Arial Rounded"/>
                <a:ea typeface="Arial Rounded"/>
                <a:cs typeface="Arial Rounded"/>
                <a:sym typeface="Arial Rounded"/>
              </a:rPr>
              <a:t>Composant à remplacer avant finalisation.</a:t>
            </a:r>
            <a:endParaRPr sz="800">
              <a:solidFill>
                <a:schemeClr val="dk1"/>
              </a:solidFill>
              <a:latin typeface="Arial Rounded"/>
              <a:ea typeface="Arial Rounded"/>
              <a:cs typeface="Arial Rounded"/>
              <a:sym typeface="Arial Rounded"/>
            </a:endParaRPr>
          </a:p>
        </p:txBody>
      </p:sp>
      <p:sp>
        <p:nvSpPr>
          <p:cNvPr id="375" name="Google Shape;375;p40"/>
          <p:cNvSpPr/>
          <p:nvPr/>
        </p:nvSpPr>
        <p:spPr>
          <a:xfrm>
            <a:off x="5815575" y="2907800"/>
            <a:ext cx="2633400" cy="1284600"/>
          </a:xfrm>
          <a:prstGeom prst="roundRect">
            <a:avLst>
              <a:gd fmla="val 10526" name="adj"/>
            </a:avLst>
          </a:prstGeom>
          <a:solidFill>
            <a:srgbClr val="ECFDF5">
              <a:alpha val="94120"/>
            </a:srgbClr>
          </a:solidFill>
          <a:ln cap="flat" cmpd="sng" w="11425">
            <a:solidFill>
              <a:srgbClr val="86C896">
                <a:alpha val="9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40"/>
          <p:cNvSpPr/>
          <p:nvPr/>
        </p:nvSpPr>
        <p:spPr>
          <a:xfrm>
            <a:off x="5998464" y="3054096"/>
            <a:ext cx="1261800" cy="219600"/>
          </a:xfrm>
          <a:prstGeom prst="roundRect">
            <a:avLst>
              <a:gd fmla="val 33333" name="adj"/>
            </a:avLst>
          </a:prstGeom>
          <a:solidFill>
            <a:srgbClr val="166534"/>
          </a:solidFill>
          <a:ln cap="flat" cmpd="sng" w="12700">
            <a:solidFill>
              <a:srgbClr val="16653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0"/>
          <p:cNvSpPr/>
          <p:nvPr/>
        </p:nvSpPr>
        <p:spPr>
          <a:xfrm>
            <a:off x="6044184" y="3104388"/>
            <a:ext cx="11703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Arial"/>
              <a:buNone/>
            </a:pPr>
            <a:r>
              <a:rPr b="1" lang="fr" sz="720">
                <a:solidFill>
                  <a:srgbClr val="FFFFFF"/>
                </a:solidFill>
                <a:latin typeface="Arial"/>
                <a:ea typeface="Arial"/>
                <a:cs typeface="Arial"/>
                <a:sym typeface="Arial"/>
              </a:rPr>
              <a:t>RÉFLEXES À GARDER</a:t>
            </a:r>
            <a:endParaRPr sz="720">
              <a:solidFill>
                <a:schemeClr val="dk1"/>
              </a:solidFill>
              <a:latin typeface="Arial Rounded"/>
              <a:ea typeface="Arial Rounded"/>
              <a:cs typeface="Arial Rounded"/>
              <a:sym typeface="Arial Rounded"/>
            </a:endParaRPr>
          </a:p>
        </p:txBody>
      </p:sp>
      <p:sp>
        <p:nvSpPr>
          <p:cNvPr id="378" name="Google Shape;378;p40"/>
          <p:cNvSpPr/>
          <p:nvPr/>
        </p:nvSpPr>
        <p:spPr>
          <a:xfrm>
            <a:off x="5989325" y="3005601"/>
            <a:ext cx="2212800" cy="8469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None/>
            </a:pPr>
            <a:r>
              <a:t/>
            </a:r>
            <a:endParaRPr sz="78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t/>
            </a:r>
            <a:endParaRPr sz="78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t/>
            </a:r>
            <a:endParaRPr sz="78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lang="fr" sz="780">
                <a:solidFill>
                  <a:srgbClr val="111111"/>
                </a:solidFill>
                <a:latin typeface="Arial Rounded"/>
                <a:ea typeface="Arial Rounded"/>
                <a:cs typeface="Arial Rounded"/>
                <a:sym typeface="Arial Rounded"/>
              </a:rPr>
              <a:t>BOM + footprint vérifiés avant commande.</a:t>
            </a:r>
            <a:endParaRPr sz="780">
              <a:solidFill>
                <a:schemeClr val="dk1"/>
              </a:solidFill>
              <a:latin typeface="Arial Rounded"/>
              <a:ea typeface="Arial Rounded"/>
              <a:cs typeface="Arial Rounded"/>
              <a:sym typeface="Arial Rounded"/>
            </a:endParaRPr>
          </a:p>
        </p:txBody>
      </p:sp>
      <p:pic>
        <p:nvPicPr>
          <p:cNvPr descr="ChatGPT Image 25 oct. 2025, 20_11_13" id="379" name="Google Shape;379;p40"/>
          <p:cNvPicPr preferRelativeResize="0"/>
          <p:nvPr/>
        </p:nvPicPr>
        <p:blipFill rotWithShape="1">
          <a:blip r:embed="rId10">
            <a:alphaModFix/>
          </a:blip>
          <a:srcRect b="0" l="0" r="0" t="0"/>
          <a:stretch/>
        </p:blipFill>
        <p:spPr>
          <a:xfrm>
            <a:off x="4253514" y="4527709"/>
            <a:ext cx="615791" cy="615791"/>
          </a:xfrm>
          <a:prstGeom prst="rect">
            <a:avLst/>
          </a:prstGeom>
          <a:noFill/>
          <a:ln>
            <a:noFill/>
          </a:ln>
        </p:spPr>
      </p:pic>
      <p:sp>
        <p:nvSpPr>
          <p:cNvPr id="380" name="Google Shape;380;p40"/>
          <p:cNvSpPr txBox="1"/>
          <p:nvPr/>
        </p:nvSpPr>
        <p:spPr>
          <a:xfrm>
            <a:off x="4338814" y="4685600"/>
            <a:ext cx="4452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15</a:t>
            </a:r>
            <a:endParaRPr b="1" sz="1500">
              <a:solidFill>
                <a:srgbClr val="7F6000"/>
              </a:solidFill>
              <a:latin typeface="Arial Rounded"/>
              <a:ea typeface="Arial Rounded"/>
              <a:cs typeface="Arial Rounded"/>
              <a:sym typeface="Arial Rounde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1"/>
          <p:cNvSpPr txBox="1"/>
          <p:nvPr>
            <p:ph type="title"/>
          </p:nvPr>
        </p:nvSpPr>
        <p:spPr>
          <a:xfrm>
            <a:off x="342900" y="-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000"/>
              <a:buFont typeface="Algerian"/>
              <a:buNone/>
            </a:pPr>
            <a:r>
              <a:rPr lang="fr" sz="3000">
                <a:solidFill>
                  <a:srgbClr val="BF9000"/>
                </a:solidFill>
                <a:latin typeface="Algerian"/>
                <a:ea typeface="Algerian"/>
                <a:cs typeface="Algerian"/>
                <a:sym typeface="Algerian"/>
              </a:rPr>
              <a:t>Modélisation 3D des pièces mécaniques </a:t>
            </a:r>
            <a:endParaRPr sz="3000">
              <a:solidFill>
                <a:srgbClr val="BF9000"/>
              </a:solidFill>
              <a:latin typeface="Algerian"/>
              <a:ea typeface="Algerian"/>
              <a:cs typeface="Algerian"/>
              <a:sym typeface="Algerian"/>
            </a:endParaRPr>
          </a:p>
        </p:txBody>
      </p:sp>
      <p:sp>
        <p:nvSpPr>
          <p:cNvPr id="386" name="Google Shape;386;p41"/>
          <p:cNvSpPr txBox="1"/>
          <p:nvPr/>
        </p:nvSpPr>
        <p:spPr>
          <a:xfrm>
            <a:off x="342900" y="772650"/>
            <a:ext cx="4656600" cy="2366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200"/>
              </a:spcBef>
              <a:spcAft>
                <a:spcPts val="0"/>
              </a:spcAft>
              <a:buNone/>
            </a:pPr>
            <a:r>
              <a:rPr b="1" lang="fr">
                <a:solidFill>
                  <a:schemeClr val="dk1"/>
                </a:solidFill>
                <a:latin typeface="Calibri"/>
                <a:ea typeface="Calibri"/>
                <a:cs typeface="Calibri"/>
                <a:sym typeface="Calibri"/>
              </a:rPr>
              <a:t>Conception des pièces sur Onshape :</a:t>
            </a:r>
            <a:endParaRPr b="1">
              <a:solidFill>
                <a:schemeClr val="dk1"/>
              </a:solidFill>
              <a:latin typeface="Calibri"/>
              <a:ea typeface="Calibri"/>
              <a:cs typeface="Calibri"/>
              <a:sym typeface="Calibri"/>
            </a:endParaRPr>
          </a:p>
          <a:p>
            <a:pPr indent="-292100" lvl="0" marL="457200" rtl="0" algn="l">
              <a:lnSpc>
                <a:spcPct val="115000"/>
              </a:lnSpc>
              <a:spcBef>
                <a:spcPts val="1200"/>
              </a:spcBef>
              <a:spcAft>
                <a:spcPts val="0"/>
              </a:spcAft>
              <a:buClr>
                <a:schemeClr val="dk1"/>
              </a:buClr>
              <a:buSzPts val="1000"/>
              <a:buChar char="●"/>
            </a:pPr>
            <a:r>
              <a:rPr b="1" lang="fr" sz="1300">
                <a:solidFill>
                  <a:srgbClr val="BF9000"/>
                </a:solidFill>
                <a:latin typeface="Calibri"/>
                <a:ea typeface="Calibri"/>
                <a:cs typeface="Calibri"/>
                <a:sym typeface="Calibri"/>
              </a:rPr>
              <a:t>P</a:t>
            </a:r>
            <a:r>
              <a:rPr b="1" lang="fr" sz="1300">
                <a:solidFill>
                  <a:srgbClr val="BF9000"/>
                </a:solidFill>
                <a:latin typeface="Calibri"/>
                <a:ea typeface="Calibri"/>
                <a:cs typeface="Calibri"/>
                <a:sym typeface="Calibri"/>
              </a:rPr>
              <a:t>rise de mesures des composants au pied à coulisse</a:t>
            </a:r>
            <a:endParaRPr b="1" sz="1300">
              <a:solidFill>
                <a:srgbClr val="BF9000"/>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Char char="●"/>
            </a:pPr>
            <a:r>
              <a:rPr b="1" lang="fr" sz="1300">
                <a:solidFill>
                  <a:srgbClr val="BF9000"/>
                </a:solidFill>
                <a:latin typeface="Calibri"/>
                <a:ea typeface="Calibri"/>
                <a:cs typeface="Calibri"/>
                <a:sym typeface="Calibri"/>
              </a:rPr>
              <a:t>Réalisation des esquisses des différentes pièces</a:t>
            </a:r>
            <a:endParaRPr b="1" sz="1300">
              <a:solidFill>
                <a:srgbClr val="BF9000"/>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Char char="●"/>
            </a:pPr>
            <a:r>
              <a:rPr b="1" lang="fr" sz="1300">
                <a:solidFill>
                  <a:srgbClr val="BF9000"/>
                </a:solidFill>
                <a:latin typeface="Calibri"/>
                <a:ea typeface="Calibri"/>
                <a:cs typeface="Calibri"/>
                <a:sym typeface="Calibri"/>
              </a:rPr>
              <a:t>C</a:t>
            </a:r>
            <a:r>
              <a:rPr b="1" lang="fr" sz="1300">
                <a:solidFill>
                  <a:srgbClr val="BF9000"/>
                </a:solidFill>
                <a:latin typeface="Calibri"/>
                <a:ea typeface="Calibri"/>
                <a:cs typeface="Calibri"/>
                <a:sym typeface="Calibri"/>
              </a:rPr>
              <a:t>réation des volumes par extrusion</a:t>
            </a:r>
            <a:endParaRPr b="1" sz="1300">
              <a:solidFill>
                <a:srgbClr val="BF9000"/>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Char char="●"/>
            </a:pPr>
            <a:r>
              <a:rPr b="1" lang="fr" sz="1300">
                <a:solidFill>
                  <a:srgbClr val="BF9000"/>
                </a:solidFill>
                <a:latin typeface="Calibri"/>
                <a:ea typeface="Calibri"/>
                <a:cs typeface="Calibri"/>
                <a:sym typeface="Calibri"/>
              </a:rPr>
              <a:t>Ajustement des dimensions et assemblages</a:t>
            </a:r>
            <a:endParaRPr b="1" sz="1300">
              <a:solidFill>
                <a:srgbClr val="BF9000"/>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Char char="●"/>
            </a:pPr>
            <a:r>
              <a:rPr b="1" lang="fr" sz="1300">
                <a:solidFill>
                  <a:srgbClr val="BF9000"/>
                </a:solidFill>
                <a:latin typeface="Calibri"/>
                <a:ea typeface="Calibri"/>
                <a:cs typeface="Calibri"/>
                <a:sym typeface="Calibri"/>
              </a:rPr>
              <a:t>Vérification de l’emboîtement des pièces avant impression</a:t>
            </a:r>
            <a:br>
              <a:rPr b="1" lang="fr" sz="1300">
                <a:solidFill>
                  <a:srgbClr val="BF9000"/>
                </a:solidFill>
                <a:latin typeface="Calibri"/>
                <a:ea typeface="Calibri"/>
                <a:cs typeface="Calibri"/>
                <a:sym typeface="Calibri"/>
              </a:rPr>
            </a:br>
            <a:r>
              <a:rPr b="1" lang="fr" sz="1300">
                <a:solidFill>
                  <a:srgbClr val="BF9000"/>
                </a:solidFill>
                <a:latin typeface="Calibri"/>
                <a:ea typeface="Calibri"/>
                <a:cs typeface="Calibri"/>
                <a:sym typeface="Calibri"/>
              </a:rPr>
              <a:t>(assemblage)</a:t>
            </a:r>
            <a:endParaRPr b="1" sz="1300">
              <a:solidFill>
                <a:srgbClr val="BF9000"/>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Char char="●"/>
            </a:pPr>
            <a:r>
              <a:rPr b="1" lang="fr" sz="1300">
                <a:solidFill>
                  <a:srgbClr val="BF9000"/>
                </a:solidFill>
                <a:latin typeface="Calibri"/>
                <a:ea typeface="Calibri"/>
                <a:cs typeface="Calibri"/>
                <a:sym typeface="Calibri"/>
              </a:rPr>
              <a:t>Préparation des fichiers pour l’impression 3D (STL)</a:t>
            </a:r>
            <a:endParaRPr b="1" sz="1300">
              <a:solidFill>
                <a:srgbClr val="BF9000"/>
              </a:solidFill>
              <a:latin typeface="Calibri"/>
              <a:ea typeface="Calibri"/>
              <a:cs typeface="Calibri"/>
              <a:sym typeface="Calibri"/>
            </a:endParaRPr>
          </a:p>
        </p:txBody>
      </p:sp>
      <p:pic>
        <p:nvPicPr>
          <p:cNvPr descr="ChatGPT Image 25 oct. 2025, 20_07_55" id="387" name="Google Shape;387;p41"/>
          <p:cNvPicPr preferRelativeResize="0"/>
          <p:nvPr/>
        </p:nvPicPr>
        <p:blipFill rotWithShape="1">
          <a:blip r:embed="rId3">
            <a:alphaModFix/>
          </a:blip>
          <a:srcRect b="23405" l="0" r="52050" t="25957"/>
          <a:stretch/>
        </p:blipFill>
        <p:spPr>
          <a:xfrm flipH="1">
            <a:off x="8229608" y="107768"/>
            <a:ext cx="736282" cy="778668"/>
          </a:xfrm>
          <a:prstGeom prst="rect">
            <a:avLst/>
          </a:prstGeom>
          <a:noFill/>
          <a:ln>
            <a:noFill/>
          </a:ln>
        </p:spPr>
      </p:pic>
      <p:pic>
        <p:nvPicPr>
          <p:cNvPr descr="ChatGPT Image 25 oct. 2025, 20_11_13" id="388" name="Google Shape;388;p41"/>
          <p:cNvPicPr preferRelativeResize="0"/>
          <p:nvPr/>
        </p:nvPicPr>
        <p:blipFill rotWithShape="1">
          <a:blip r:embed="rId4">
            <a:alphaModFix/>
          </a:blip>
          <a:srcRect b="0" l="0" r="0" t="0"/>
          <a:stretch/>
        </p:blipFill>
        <p:spPr>
          <a:xfrm>
            <a:off x="4253514" y="4527709"/>
            <a:ext cx="615791" cy="615791"/>
          </a:xfrm>
          <a:prstGeom prst="rect">
            <a:avLst/>
          </a:prstGeom>
          <a:noFill/>
          <a:ln>
            <a:noFill/>
          </a:ln>
        </p:spPr>
      </p:pic>
      <p:sp>
        <p:nvSpPr>
          <p:cNvPr id="389" name="Google Shape;389;p41"/>
          <p:cNvSpPr txBox="1"/>
          <p:nvPr/>
        </p:nvSpPr>
        <p:spPr>
          <a:xfrm>
            <a:off x="4338814" y="4685600"/>
            <a:ext cx="4452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16</a:t>
            </a:r>
            <a:endParaRPr b="1" sz="1500">
              <a:solidFill>
                <a:srgbClr val="7F6000"/>
              </a:solidFill>
              <a:latin typeface="Arial Rounded"/>
              <a:ea typeface="Arial Rounded"/>
              <a:cs typeface="Arial Rounded"/>
              <a:sym typeface="Arial Rounded"/>
            </a:endParaRPr>
          </a:p>
        </p:txBody>
      </p:sp>
      <p:sp>
        <p:nvSpPr>
          <p:cNvPr id="390" name="Google Shape;390;p41"/>
          <p:cNvSpPr txBox="1"/>
          <p:nvPr/>
        </p:nvSpPr>
        <p:spPr>
          <a:xfrm>
            <a:off x="135625" y="-44125"/>
            <a:ext cx="704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2100">
                <a:solidFill>
                  <a:srgbClr val="FF0000"/>
                </a:solidFill>
                <a:latin typeface="Calibri"/>
                <a:ea typeface="Calibri"/>
                <a:cs typeface="Calibri"/>
                <a:sym typeface="Calibri"/>
              </a:rPr>
              <a:t>VAL</a:t>
            </a:r>
            <a:endParaRPr b="1" sz="2100">
              <a:solidFill>
                <a:srgbClr val="FF0000"/>
              </a:solidFill>
              <a:latin typeface="Calibri"/>
              <a:ea typeface="Calibri"/>
              <a:cs typeface="Calibri"/>
              <a:sym typeface="Calibri"/>
            </a:endParaRPr>
          </a:p>
        </p:txBody>
      </p:sp>
      <p:pic>
        <p:nvPicPr>
          <p:cNvPr id="391" name="Google Shape;391;p41"/>
          <p:cNvPicPr preferRelativeResize="0"/>
          <p:nvPr/>
        </p:nvPicPr>
        <p:blipFill>
          <a:blip r:embed="rId5">
            <a:alphaModFix/>
          </a:blip>
          <a:stretch>
            <a:fillRect/>
          </a:stretch>
        </p:blipFill>
        <p:spPr>
          <a:xfrm>
            <a:off x="5192966" y="886413"/>
            <a:ext cx="3714300" cy="1749600"/>
          </a:xfrm>
          <a:prstGeom prst="roundRect">
            <a:avLst>
              <a:gd fmla="val 16667" name="adj"/>
            </a:avLst>
          </a:prstGeom>
          <a:noFill/>
          <a:ln>
            <a:noFill/>
          </a:ln>
        </p:spPr>
      </p:pic>
      <p:pic>
        <p:nvPicPr>
          <p:cNvPr id="392" name="Google Shape;392;p41"/>
          <p:cNvPicPr preferRelativeResize="0"/>
          <p:nvPr/>
        </p:nvPicPr>
        <p:blipFill>
          <a:blip r:embed="rId6">
            <a:alphaModFix/>
          </a:blip>
          <a:stretch>
            <a:fillRect/>
          </a:stretch>
        </p:blipFill>
        <p:spPr>
          <a:xfrm rot="-7335774">
            <a:off x="4451506" y="1344758"/>
            <a:ext cx="593996" cy="594003"/>
          </a:xfrm>
          <a:prstGeom prst="rect">
            <a:avLst/>
          </a:prstGeom>
          <a:noFill/>
          <a:ln>
            <a:noFill/>
          </a:ln>
        </p:spPr>
      </p:pic>
      <p:pic>
        <p:nvPicPr>
          <p:cNvPr id="393" name="Google Shape;393;p41"/>
          <p:cNvPicPr preferRelativeResize="0"/>
          <p:nvPr/>
        </p:nvPicPr>
        <p:blipFill>
          <a:blip r:embed="rId7">
            <a:alphaModFix/>
          </a:blip>
          <a:stretch>
            <a:fillRect/>
          </a:stretch>
        </p:blipFill>
        <p:spPr>
          <a:xfrm>
            <a:off x="5110025" y="2764700"/>
            <a:ext cx="3880200" cy="2220900"/>
          </a:xfrm>
          <a:prstGeom prst="roundRect">
            <a:avLst>
              <a:gd fmla="val 4396" name="adj"/>
            </a:avLst>
          </a:prstGeom>
          <a:noFill/>
          <a:ln>
            <a:noFill/>
          </a:ln>
        </p:spPr>
      </p:pic>
      <p:pic>
        <p:nvPicPr>
          <p:cNvPr id="394" name="Google Shape;394;p41"/>
          <p:cNvPicPr preferRelativeResize="0"/>
          <p:nvPr/>
        </p:nvPicPr>
        <p:blipFill>
          <a:blip r:embed="rId8">
            <a:alphaModFix/>
          </a:blip>
          <a:stretch>
            <a:fillRect/>
          </a:stretch>
        </p:blipFill>
        <p:spPr>
          <a:xfrm>
            <a:off x="271185" y="2877636"/>
            <a:ext cx="2033825" cy="2161315"/>
          </a:xfrm>
          <a:prstGeom prst="rect">
            <a:avLst/>
          </a:prstGeom>
          <a:noFill/>
          <a:ln>
            <a:noFill/>
          </a:ln>
        </p:spPr>
      </p:pic>
      <p:pic>
        <p:nvPicPr>
          <p:cNvPr id="395" name="Google Shape;395;p41"/>
          <p:cNvPicPr preferRelativeResize="0"/>
          <p:nvPr/>
        </p:nvPicPr>
        <p:blipFill>
          <a:blip r:embed="rId9">
            <a:alphaModFix/>
          </a:blip>
          <a:stretch>
            <a:fillRect/>
          </a:stretch>
        </p:blipFill>
        <p:spPr>
          <a:xfrm>
            <a:off x="2422513" y="3020586"/>
            <a:ext cx="2570011" cy="1131113"/>
          </a:xfrm>
          <a:prstGeom prst="rect">
            <a:avLst/>
          </a:prstGeom>
          <a:noFill/>
          <a:ln>
            <a:noFill/>
          </a:ln>
        </p:spPr>
      </p:pic>
      <p:pic>
        <p:nvPicPr>
          <p:cNvPr id="396" name="Google Shape;396;p41"/>
          <p:cNvPicPr preferRelativeResize="0"/>
          <p:nvPr/>
        </p:nvPicPr>
        <p:blipFill>
          <a:blip r:embed="rId10">
            <a:alphaModFix/>
          </a:blip>
          <a:stretch>
            <a:fillRect/>
          </a:stretch>
        </p:blipFill>
        <p:spPr>
          <a:xfrm rot="-5400000">
            <a:off x="2902924" y="3927149"/>
            <a:ext cx="838000" cy="1287100"/>
          </a:xfrm>
          <a:prstGeom prst="rect">
            <a:avLst/>
          </a:prstGeom>
          <a:noFill/>
          <a:ln>
            <a:noFill/>
          </a:ln>
        </p:spPr>
      </p:pic>
      <p:pic>
        <p:nvPicPr>
          <p:cNvPr id="397" name="Google Shape;397;p41"/>
          <p:cNvPicPr preferRelativeResize="0"/>
          <p:nvPr/>
        </p:nvPicPr>
        <p:blipFill>
          <a:blip r:embed="rId11">
            <a:alphaModFix/>
          </a:blip>
          <a:stretch>
            <a:fillRect/>
          </a:stretch>
        </p:blipFill>
        <p:spPr>
          <a:xfrm>
            <a:off x="8169700" y="2926400"/>
            <a:ext cx="667525" cy="667525"/>
          </a:xfrm>
          <a:prstGeom prst="rect">
            <a:avLst/>
          </a:prstGeom>
          <a:noFill/>
          <a:ln>
            <a:noFill/>
          </a:ln>
        </p:spPr>
      </p:pic>
      <p:pic>
        <p:nvPicPr>
          <p:cNvPr id="398" name="Google Shape;398;p41"/>
          <p:cNvPicPr preferRelativeResize="0"/>
          <p:nvPr/>
        </p:nvPicPr>
        <p:blipFill>
          <a:blip r:embed="rId12">
            <a:alphaModFix/>
          </a:blip>
          <a:stretch>
            <a:fillRect/>
          </a:stretch>
        </p:blipFill>
        <p:spPr>
          <a:xfrm>
            <a:off x="4396250" y="2418500"/>
            <a:ext cx="507900" cy="507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2"/>
          <p:cNvSpPr txBox="1"/>
          <p:nvPr>
            <p:ph type="title"/>
          </p:nvPr>
        </p:nvSpPr>
        <p:spPr>
          <a:xfrm>
            <a:off x="342900" y="-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000"/>
              <a:buFont typeface="Algerian"/>
              <a:buNone/>
            </a:pPr>
            <a:r>
              <a:rPr lang="fr" sz="3000">
                <a:solidFill>
                  <a:srgbClr val="BF9000"/>
                </a:solidFill>
                <a:latin typeface="Algerian"/>
                <a:ea typeface="Algerian"/>
                <a:cs typeface="Algerian"/>
                <a:sym typeface="Algerian"/>
              </a:rPr>
              <a:t>Impressions 3D – Pièces mécaniques</a:t>
            </a:r>
            <a:endParaRPr sz="3000">
              <a:solidFill>
                <a:srgbClr val="BF9000"/>
              </a:solidFill>
              <a:latin typeface="Algerian"/>
              <a:ea typeface="Algerian"/>
              <a:cs typeface="Algerian"/>
              <a:sym typeface="Algerian"/>
            </a:endParaRPr>
          </a:p>
        </p:txBody>
      </p:sp>
      <p:sp>
        <p:nvSpPr>
          <p:cNvPr id="404" name="Google Shape;404;p42"/>
          <p:cNvSpPr txBox="1"/>
          <p:nvPr/>
        </p:nvSpPr>
        <p:spPr>
          <a:xfrm>
            <a:off x="342900" y="772650"/>
            <a:ext cx="6210900" cy="1755000"/>
          </a:xfrm>
          <a:prstGeom prst="rect">
            <a:avLst/>
          </a:prstGeom>
          <a:noFill/>
          <a:ln>
            <a:noFill/>
          </a:ln>
        </p:spPr>
        <p:txBody>
          <a:bodyPr anchorCtr="0" anchor="t" bIns="34275" lIns="68575" spcFirstLastPara="1" rIns="68575" wrap="square" tIns="34275">
            <a:noAutofit/>
          </a:bodyPr>
          <a:lstStyle/>
          <a:p>
            <a:pPr indent="457200" lvl="0" marL="0" marR="0" rtl="0" algn="l">
              <a:spcBef>
                <a:spcPts val="0"/>
              </a:spcBef>
              <a:spcAft>
                <a:spcPts val="0"/>
              </a:spcAft>
              <a:buNone/>
            </a:pPr>
            <a:r>
              <a:rPr b="1" lang="fr">
                <a:solidFill>
                  <a:schemeClr val="dk1"/>
                </a:solidFill>
                <a:latin typeface="Calibri"/>
                <a:ea typeface="Calibri"/>
                <a:cs typeface="Calibri"/>
                <a:sym typeface="Calibri"/>
              </a:rPr>
              <a:t>Pièces imprimées  :</a:t>
            </a:r>
            <a:endParaRPr b="1">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Char char="○"/>
            </a:pPr>
            <a:r>
              <a:rPr b="1" lang="fr">
                <a:solidFill>
                  <a:srgbClr val="BF9000"/>
                </a:solidFill>
                <a:latin typeface="Calibri"/>
                <a:ea typeface="Calibri"/>
                <a:cs typeface="Calibri"/>
                <a:sym typeface="Calibri"/>
              </a:rPr>
              <a:t>Support panneau solaire et photorésistances (2 pièces clipsées)</a:t>
            </a:r>
            <a:endParaRPr b="1">
              <a:solidFill>
                <a:srgbClr val="BF9000"/>
              </a:solidFill>
              <a:latin typeface="Calibri"/>
              <a:ea typeface="Calibri"/>
              <a:cs typeface="Calibri"/>
              <a:sym typeface="Calibri"/>
            </a:endParaRPr>
          </a:p>
          <a:p>
            <a:pPr indent="-317500" lvl="1" marL="914400" rtl="0" algn="l">
              <a:spcBef>
                <a:spcPts val="0"/>
              </a:spcBef>
              <a:spcAft>
                <a:spcPts val="0"/>
              </a:spcAft>
              <a:buClr>
                <a:schemeClr val="dk1"/>
              </a:buClr>
              <a:buSzPts val="1400"/>
              <a:buChar char="○"/>
            </a:pPr>
            <a:r>
              <a:rPr b="1" lang="fr">
                <a:solidFill>
                  <a:srgbClr val="BF9000"/>
                </a:solidFill>
                <a:latin typeface="Calibri"/>
                <a:ea typeface="Calibri"/>
                <a:cs typeface="Calibri"/>
                <a:sym typeface="Calibri"/>
              </a:rPr>
              <a:t>Engrenage panneau solaire (collé avec le support)</a:t>
            </a:r>
            <a:endParaRPr b="1">
              <a:solidFill>
                <a:srgbClr val="BF9000"/>
              </a:solidFill>
              <a:latin typeface="Calibri"/>
              <a:ea typeface="Calibri"/>
              <a:cs typeface="Calibri"/>
              <a:sym typeface="Calibri"/>
            </a:endParaRPr>
          </a:p>
          <a:p>
            <a:pPr indent="-317500" lvl="1" marL="914400" rtl="0" algn="l">
              <a:spcBef>
                <a:spcPts val="0"/>
              </a:spcBef>
              <a:spcAft>
                <a:spcPts val="0"/>
              </a:spcAft>
              <a:buClr>
                <a:schemeClr val="dk1"/>
              </a:buClr>
              <a:buSzPts val="1400"/>
              <a:buChar char="○"/>
            </a:pPr>
            <a:r>
              <a:rPr b="1" lang="fr">
                <a:solidFill>
                  <a:srgbClr val="BF9000"/>
                </a:solidFill>
                <a:latin typeface="Calibri"/>
                <a:ea typeface="Calibri"/>
                <a:cs typeface="Calibri"/>
                <a:sym typeface="Calibri"/>
              </a:rPr>
              <a:t>Engrenage moteur pas à pas</a:t>
            </a:r>
            <a:endParaRPr b="1">
              <a:solidFill>
                <a:srgbClr val="BF9000"/>
              </a:solidFill>
              <a:latin typeface="Calibri"/>
              <a:ea typeface="Calibri"/>
              <a:cs typeface="Calibri"/>
              <a:sym typeface="Calibri"/>
            </a:endParaRPr>
          </a:p>
          <a:p>
            <a:pPr indent="-317500" lvl="1" marL="914400" rtl="0" algn="l">
              <a:spcBef>
                <a:spcPts val="0"/>
              </a:spcBef>
              <a:spcAft>
                <a:spcPts val="0"/>
              </a:spcAft>
              <a:buClr>
                <a:schemeClr val="dk1"/>
              </a:buClr>
              <a:buSzPts val="1400"/>
              <a:buChar char="○"/>
            </a:pPr>
            <a:r>
              <a:rPr b="1" lang="fr">
                <a:solidFill>
                  <a:srgbClr val="BF9000"/>
                </a:solidFill>
                <a:latin typeface="Calibri"/>
                <a:ea typeface="Calibri"/>
                <a:cs typeface="Calibri"/>
                <a:sym typeface="Calibri"/>
              </a:rPr>
              <a:t>Bac principal : logement axe (tige métal et roulements) </a:t>
            </a:r>
            <a:r>
              <a:rPr b="1" lang="fr">
                <a:solidFill>
                  <a:srgbClr val="BF9000"/>
                </a:solidFill>
                <a:latin typeface="Calibri"/>
                <a:ea typeface="Calibri"/>
                <a:cs typeface="Calibri"/>
                <a:sym typeface="Calibri"/>
              </a:rPr>
              <a:t>+</a:t>
            </a:r>
            <a:r>
              <a:rPr b="1" lang="fr">
                <a:solidFill>
                  <a:srgbClr val="BF9000"/>
                </a:solidFill>
                <a:latin typeface="Calibri"/>
                <a:ea typeface="Calibri"/>
                <a:cs typeface="Calibri"/>
                <a:sym typeface="Calibri"/>
              </a:rPr>
              <a:t> moteur</a:t>
            </a:r>
            <a:endParaRPr b="1">
              <a:solidFill>
                <a:srgbClr val="BF9000"/>
              </a:solidFill>
              <a:latin typeface="Calibri"/>
              <a:ea typeface="Calibri"/>
              <a:cs typeface="Calibri"/>
              <a:sym typeface="Calibri"/>
            </a:endParaRPr>
          </a:p>
          <a:p>
            <a:pPr indent="-317500" lvl="1" marL="914400" rtl="0" algn="l">
              <a:spcBef>
                <a:spcPts val="0"/>
              </a:spcBef>
              <a:spcAft>
                <a:spcPts val="0"/>
              </a:spcAft>
              <a:buClr>
                <a:schemeClr val="dk1"/>
              </a:buClr>
              <a:buSzPts val="1400"/>
              <a:buChar char="○"/>
            </a:pPr>
            <a:r>
              <a:rPr b="1" lang="fr">
                <a:solidFill>
                  <a:srgbClr val="BF9000"/>
                </a:solidFill>
                <a:latin typeface="Calibri"/>
                <a:ea typeface="Calibri"/>
                <a:cs typeface="Calibri"/>
                <a:sym typeface="Calibri"/>
              </a:rPr>
              <a:t>Paroi séparatrice des photorésistances (différence d’ensoleillement marquée)</a:t>
            </a:r>
            <a:endParaRPr b="1">
              <a:solidFill>
                <a:srgbClr val="BF9000"/>
              </a:solidFill>
              <a:latin typeface="Calibri"/>
              <a:ea typeface="Calibri"/>
              <a:cs typeface="Calibri"/>
              <a:sym typeface="Calibri"/>
            </a:endParaRPr>
          </a:p>
          <a:p>
            <a:pPr indent="-317500" lvl="1" marL="914400" rtl="0" algn="l">
              <a:spcBef>
                <a:spcPts val="0"/>
              </a:spcBef>
              <a:spcAft>
                <a:spcPts val="0"/>
              </a:spcAft>
              <a:buClr>
                <a:schemeClr val="dk1"/>
              </a:buClr>
              <a:buSzPts val="1400"/>
              <a:buChar char="○"/>
            </a:pPr>
            <a:r>
              <a:rPr b="1" lang="fr">
                <a:solidFill>
                  <a:srgbClr val="BF9000"/>
                </a:solidFill>
                <a:latin typeface="Calibri"/>
                <a:ea typeface="Calibri"/>
                <a:cs typeface="Calibri"/>
                <a:sym typeface="Calibri"/>
              </a:rPr>
              <a:t>Matériau : PETG – Résistance aux UV et intempéries</a:t>
            </a:r>
            <a:endParaRPr b="1">
              <a:solidFill>
                <a:srgbClr val="BF9000"/>
              </a:solidFill>
              <a:latin typeface="Calibri"/>
              <a:ea typeface="Calibri"/>
              <a:cs typeface="Calibri"/>
              <a:sym typeface="Calibri"/>
            </a:endParaRPr>
          </a:p>
        </p:txBody>
      </p:sp>
      <p:pic>
        <p:nvPicPr>
          <p:cNvPr descr="ChatGPT Image 25 oct. 2025, 20_07_55" id="405" name="Google Shape;405;p42"/>
          <p:cNvPicPr preferRelativeResize="0"/>
          <p:nvPr/>
        </p:nvPicPr>
        <p:blipFill rotWithShape="1">
          <a:blip r:embed="rId3">
            <a:alphaModFix/>
          </a:blip>
          <a:srcRect b="23405" l="0" r="52050" t="25957"/>
          <a:stretch/>
        </p:blipFill>
        <p:spPr>
          <a:xfrm flipH="1">
            <a:off x="7589758" y="107768"/>
            <a:ext cx="736282" cy="778668"/>
          </a:xfrm>
          <a:prstGeom prst="rect">
            <a:avLst/>
          </a:prstGeom>
          <a:noFill/>
          <a:ln>
            <a:noFill/>
          </a:ln>
        </p:spPr>
      </p:pic>
      <p:pic>
        <p:nvPicPr>
          <p:cNvPr id="406" name="Google Shape;406;p42"/>
          <p:cNvPicPr preferRelativeResize="0"/>
          <p:nvPr/>
        </p:nvPicPr>
        <p:blipFill rotWithShape="1">
          <a:blip r:embed="rId4">
            <a:alphaModFix/>
          </a:blip>
          <a:srcRect b="26162" l="3048" r="75930" t="46657"/>
          <a:stretch/>
        </p:blipFill>
        <p:spPr>
          <a:xfrm>
            <a:off x="0" y="4232475"/>
            <a:ext cx="704580" cy="911025"/>
          </a:xfrm>
          <a:prstGeom prst="rect">
            <a:avLst/>
          </a:prstGeom>
          <a:noFill/>
          <a:ln>
            <a:noFill/>
          </a:ln>
        </p:spPr>
      </p:pic>
      <p:pic>
        <p:nvPicPr>
          <p:cNvPr id="407" name="Google Shape;407;p42"/>
          <p:cNvPicPr preferRelativeResize="0"/>
          <p:nvPr/>
        </p:nvPicPr>
        <p:blipFill rotWithShape="1">
          <a:blip r:embed="rId4">
            <a:alphaModFix/>
          </a:blip>
          <a:srcRect b="26162" l="3048" r="75930" t="46657"/>
          <a:stretch/>
        </p:blipFill>
        <p:spPr>
          <a:xfrm>
            <a:off x="634164" y="4527700"/>
            <a:ext cx="476261" cy="615800"/>
          </a:xfrm>
          <a:prstGeom prst="rect">
            <a:avLst/>
          </a:prstGeom>
          <a:noFill/>
          <a:ln>
            <a:noFill/>
          </a:ln>
        </p:spPr>
      </p:pic>
      <p:pic>
        <p:nvPicPr>
          <p:cNvPr descr="ChatGPT Image 25 oct. 2025, 20_11_13" id="408" name="Google Shape;408;p42"/>
          <p:cNvPicPr preferRelativeResize="0"/>
          <p:nvPr/>
        </p:nvPicPr>
        <p:blipFill rotWithShape="1">
          <a:blip r:embed="rId5">
            <a:alphaModFix/>
          </a:blip>
          <a:srcRect b="0" l="0" r="0" t="0"/>
          <a:stretch/>
        </p:blipFill>
        <p:spPr>
          <a:xfrm>
            <a:off x="4253514" y="4527709"/>
            <a:ext cx="615791" cy="615791"/>
          </a:xfrm>
          <a:prstGeom prst="rect">
            <a:avLst/>
          </a:prstGeom>
          <a:noFill/>
          <a:ln>
            <a:noFill/>
          </a:ln>
        </p:spPr>
      </p:pic>
      <p:sp>
        <p:nvSpPr>
          <p:cNvPr id="409" name="Google Shape;409;p42"/>
          <p:cNvSpPr txBox="1"/>
          <p:nvPr/>
        </p:nvSpPr>
        <p:spPr>
          <a:xfrm>
            <a:off x="4338814" y="4685600"/>
            <a:ext cx="4452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17</a:t>
            </a:r>
            <a:endParaRPr b="1" sz="1500">
              <a:solidFill>
                <a:srgbClr val="7F6000"/>
              </a:solidFill>
              <a:latin typeface="Arial Rounded"/>
              <a:ea typeface="Arial Rounded"/>
              <a:cs typeface="Arial Rounded"/>
              <a:sym typeface="Arial Rounded"/>
            </a:endParaRPr>
          </a:p>
        </p:txBody>
      </p:sp>
      <p:pic>
        <p:nvPicPr>
          <p:cNvPr id="410" name="Google Shape;410;p42" title="20260403_114659.jpg"/>
          <p:cNvPicPr preferRelativeResize="0"/>
          <p:nvPr/>
        </p:nvPicPr>
        <p:blipFill>
          <a:blip r:embed="rId6">
            <a:alphaModFix/>
          </a:blip>
          <a:stretch>
            <a:fillRect/>
          </a:stretch>
        </p:blipFill>
        <p:spPr>
          <a:xfrm>
            <a:off x="6623475" y="946851"/>
            <a:ext cx="2005200" cy="1504200"/>
          </a:xfrm>
          <a:prstGeom prst="roundRect">
            <a:avLst>
              <a:gd fmla="val 16667" name="adj"/>
            </a:avLst>
          </a:prstGeom>
          <a:noFill/>
          <a:ln>
            <a:noFill/>
          </a:ln>
        </p:spPr>
      </p:pic>
      <p:pic>
        <p:nvPicPr>
          <p:cNvPr id="411" name="Google Shape;411;p42" title="20260403_114711.jpg"/>
          <p:cNvPicPr preferRelativeResize="0"/>
          <p:nvPr/>
        </p:nvPicPr>
        <p:blipFill>
          <a:blip r:embed="rId7">
            <a:alphaModFix/>
          </a:blip>
          <a:stretch>
            <a:fillRect/>
          </a:stretch>
        </p:blipFill>
        <p:spPr>
          <a:xfrm>
            <a:off x="5641580" y="2605800"/>
            <a:ext cx="3081300" cy="2311200"/>
          </a:xfrm>
          <a:prstGeom prst="roundRect">
            <a:avLst>
              <a:gd fmla="val 16667" name="adj"/>
            </a:avLst>
          </a:prstGeom>
          <a:noFill/>
          <a:ln>
            <a:noFill/>
          </a:ln>
        </p:spPr>
      </p:pic>
      <p:pic>
        <p:nvPicPr>
          <p:cNvPr id="412" name="Google Shape;412;p42" title="20260403_114707.jpg"/>
          <p:cNvPicPr preferRelativeResize="0"/>
          <p:nvPr/>
        </p:nvPicPr>
        <p:blipFill>
          <a:blip r:embed="rId8">
            <a:alphaModFix/>
          </a:blip>
          <a:stretch>
            <a:fillRect/>
          </a:stretch>
        </p:blipFill>
        <p:spPr>
          <a:xfrm>
            <a:off x="1229274" y="2673896"/>
            <a:ext cx="2990700" cy="2243100"/>
          </a:xfrm>
          <a:prstGeom prst="roundRect">
            <a:avLst>
              <a:gd fmla="val 16667" name="adj"/>
            </a:avLst>
          </a:prstGeom>
          <a:noFill/>
          <a:ln>
            <a:noFill/>
          </a:ln>
        </p:spPr>
      </p:pic>
      <p:pic>
        <p:nvPicPr>
          <p:cNvPr id="413" name="Google Shape;413;p42"/>
          <p:cNvPicPr preferRelativeResize="0"/>
          <p:nvPr/>
        </p:nvPicPr>
        <p:blipFill>
          <a:blip r:embed="rId9">
            <a:alphaModFix/>
          </a:blip>
          <a:stretch>
            <a:fillRect/>
          </a:stretch>
        </p:blipFill>
        <p:spPr>
          <a:xfrm>
            <a:off x="280301" y="2395076"/>
            <a:ext cx="615775" cy="615775"/>
          </a:xfrm>
          <a:prstGeom prst="rect">
            <a:avLst/>
          </a:prstGeom>
          <a:noFill/>
          <a:ln>
            <a:noFill/>
          </a:ln>
        </p:spPr>
      </p:pic>
      <p:sp>
        <p:nvSpPr>
          <p:cNvPr id="414" name="Google Shape;414;p42"/>
          <p:cNvSpPr txBox="1"/>
          <p:nvPr/>
        </p:nvSpPr>
        <p:spPr>
          <a:xfrm>
            <a:off x="135625" y="-44125"/>
            <a:ext cx="704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2100">
                <a:solidFill>
                  <a:srgbClr val="FF0000"/>
                </a:solidFill>
                <a:latin typeface="Calibri"/>
                <a:ea typeface="Calibri"/>
                <a:cs typeface="Calibri"/>
                <a:sym typeface="Calibri"/>
              </a:rPr>
              <a:t>VAL</a:t>
            </a:r>
            <a:endParaRPr b="1" sz="2100">
              <a:solidFill>
                <a:srgbClr val="FF0000"/>
              </a:solidFill>
              <a:latin typeface="Calibri"/>
              <a:ea typeface="Calibri"/>
              <a:cs typeface="Calibri"/>
              <a:sym typeface="Calibri"/>
            </a:endParaRPr>
          </a:p>
        </p:txBody>
      </p:sp>
      <p:pic>
        <p:nvPicPr>
          <p:cNvPr id="415" name="Google Shape;415;p42"/>
          <p:cNvPicPr preferRelativeResize="0"/>
          <p:nvPr/>
        </p:nvPicPr>
        <p:blipFill>
          <a:blip r:embed="rId10">
            <a:alphaModFix/>
          </a:blip>
          <a:stretch>
            <a:fillRect/>
          </a:stretch>
        </p:blipFill>
        <p:spPr>
          <a:xfrm>
            <a:off x="4368788" y="3352450"/>
            <a:ext cx="1123950" cy="1123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3"/>
          <p:cNvSpPr txBox="1"/>
          <p:nvPr>
            <p:ph type="title"/>
          </p:nvPr>
        </p:nvSpPr>
        <p:spPr>
          <a:xfrm>
            <a:off x="342900" y="-4"/>
            <a:ext cx="7886700" cy="9942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rgbClr val="BF9000"/>
              </a:buClr>
              <a:buSzPts val="3000"/>
              <a:buFont typeface="Algerian"/>
              <a:buNone/>
            </a:pPr>
            <a:r>
              <a:rPr lang="fr" sz="3000">
                <a:solidFill>
                  <a:srgbClr val="BF9000"/>
                </a:solidFill>
                <a:latin typeface="Algerian"/>
                <a:ea typeface="Algerian"/>
                <a:cs typeface="Algerian"/>
                <a:sym typeface="Algerian"/>
              </a:rPr>
              <a:t>Impressions 3D – Pièces mécaniques</a:t>
            </a:r>
            <a:endParaRPr sz="3000">
              <a:solidFill>
                <a:srgbClr val="BF9000"/>
              </a:solidFill>
              <a:latin typeface="Algerian"/>
              <a:ea typeface="Algerian"/>
              <a:cs typeface="Algerian"/>
              <a:sym typeface="Algerian"/>
            </a:endParaRPr>
          </a:p>
        </p:txBody>
      </p:sp>
      <p:pic>
        <p:nvPicPr>
          <p:cNvPr descr="ChatGPT Image 25 oct. 2025, 20_11_13" id="421" name="Google Shape;421;p43"/>
          <p:cNvPicPr preferRelativeResize="0"/>
          <p:nvPr/>
        </p:nvPicPr>
        <p:blipFill rotWithShape="1">
          <a:blip r:embed="rId3">
            <a:alphaModFix/>
          </a:blip>
          <a:srcRect b="0" l="0" r="0" t="0"/>
          <a:stretch/>
        </p:blipFill>
        <p:spPr>
          <a:xfrm>
            <a:off x="4264343" y="4527709"/>
            <a:ext cx="615791" cy="615791"/>
          </a:xfrm>
          <a:prstGeom prst="rect">
            <a:avLst/>
          </a:prstGeom>
          <a:noFill/>
          <a:ln>
            <a:noFill/>
          </a:ln>
        </p:spPr>
      </p:pic>
      <p:sp>
        <p:nvSpPr>
          <p:cNvPr id="422" name="Google Shape;422;p43"/>
          <p:cNvSpPr txBox="1"/>
          <p:nvPr/>
        </p:nvSpPr>
        <p:spPr>
          <a:xfrm>
            <a:off x="4334194" y="4685600"/>
            <a:ext cx="4761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18</a:t>
            </a:r>
            <a:endParaRPr b="1" sz="1500">
              <a:solidFill>
                <a:srgbClr val="7F6000"/>
              </a:solidFill>
              <a:latin typeface="Arial Rounded"/>
              <a:ea typeface="Arial Rounded"/>
              <a:cs typeface="Arial Rounded"/>
              <a:sym typeface="Arial Rounded"/>
            </a:endParaRPr>
          </a:p>
        </p:txBody>
      </p:sp>
      <p:sp>
        <p:nvSpPr>
          <p:cNvPr id="423" name="Google Shape;423;p43"/>
          <p:cNvSpPr txBox="1"/>
          <p:nvPr/>
        </p:nvSpPr>
        <p:spPr>
          <a:xfrm>
            <a:off x="342900" y="772650"/>
            <a:ext cx="5548500" cy="2019900"/>
          </a:xfrm>
          <a:prstGeom prst="rect">
            <a:avLst/>
          </a:prstGeom>
          <a:noFill/>
          <a:ln>
            <a:noFill/>
          </a:ln>
        </p:spPr>
        <p:txBody>
          <a:bodyPr anchorCtr="0" anchor="t" bIns="34275" lIns="68575" spcFirstLastPara="1" rIns="68575" wrap="square" tIns="34275">
            <a:noAutofit/>
          </a:bodyPr>
          <a:lstStyle/>
          <a:p>
            <a:pPr indent="0" lvl="0" marL="457200" marR="0" rtl="0" algn="l">
              <a:spcBef>
                <a:spcPts val="0"/>
              </a:spcBef>
              <a:spcAft>
                <a:spcPts val="0"/>
              </a:spcAft>
              <a:buNone/>
            </a:pPr>
            <a:r>
              <a:rPr b="1" lang="fr">
                <a:solidFill>
                  <a:schemeClr val="dk1"/>
                </a:solidFill>
                <a:latin typeface="Calibri"/>
                <a:ea typeface="Calibri"/>
                <a:cs typeface="Calibri"/>
                <a:sym typeface="Calibri"/>
              </a:rPr>
              <a:t>Choix du design actuel :</a:t>
            </a:r>
            <a:endParaRPr b="1">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Arial"/>
              <a:buChar char="○"/>
            </a:pPr>
            <a:r>
              <a:rPr b="1" lang="fr">
                <a:solidFill>
                  <a:srgbClr val="BF9000"/>
                </a:solidFill>
                <a:latin typeface="Calibri"/>
                <a:ea typeface="Calibri"/>
                <a:cs typeface="Calibri"/>
                <a:sym typeface="Calibri"/>
              </a:rPr>
              <a:t>Moteur ne pouvant pas supporter le poids et maintenir le panneau solaire avec son support</a:t>
            </a:r>
            <a:endParaRPr b="1">
              <a:solidFill>
                <a:srgbClr val="BF9000"/>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Arial"/>
              <a:buChar char="○"/>
            </a:pPr>
            <a:r>
              <a:rPr b="1" lang="fr">
                <a:solidFill>
                  <a:srgbClr val="BF9000"/>
                </a:solidFill>
                <a:latin typeface="Calibri"/>
                <a:ea typeface="Calibri"/>
                <a:cs typeface="Calibri"/>
                <a:sym typeface="Calibri"/>
              </a:rPr>
              <a:t>Placement du moteur sur le côté avec des engrenages pour faire tourner</a:t>
            </a:r>
            <a:endParaRPr b="1">
              <a:solidFill>
                <a:srgbClr val="BF9000"/>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Arial"/>
              <a:buChar char="○"/>
            </a:pPr>
            <a:r>
              <a:rPr b="1" lang="fr">
                <a:solidFill>
                  <a:srgbClr val="BF9000"/>
                </a:solidFill>
                <a:latin typeface="Calibri"/>
                <a:ea typeface="Calibri"/>
                <a:cs typeface="Calibri"/>
                <a:sym typeface="Calibri"/>
              </a:rPr>
              <a:t>Support du panneau solaire situé sur une tige en métal avec des roulements à billes =&gt; rotation stable et fiable</a:t>
            </a:r>
            <a:endParaRPr b="1">
              <a:solidFill>
                <a:srgbClr val="BF9000"/>
              </a:solidFill>
              <a:latin typeface="Calibri"/>
              <a:ea typeface="Calibri"/>
              <a:cs typeface="Calibri"/>
              <a:sym typeface="Calibri"/>
            </a:endParaRPr>
          </a:p>
          <a:p>
            <a:pPr indent="0" lvl="0" marL="0" marR="0" rtl="0" algn="l">
              <a:spcBef>
                <a:spcPts val="0"/>
              </a:spcBef>
              <a:spcAft>
                <a:spcPts val="0"/>
              </a:spcAft>
              <a:buNone/>
            </a:pPr>
            <a:r>
              <a:t/>
            </a:r>
            <a:endParaRPr b="1">
              <a:solidFill>
                <a:srgbClr val="BF9000"/>
              </a:solidFill>
              <a:latin typeface="Calibri"/>
              <a:ea typeface="Calibri"/>
              <a:cs typeface="Calibri"/>
              <a:sym typeface="Calibri"/>
            </a:endParaRPr>
          </a:p>
        </p:txBody>
      </p:sp>
      <p:pic>
        <p:nvPicPr>
          <p:cNvPr id="424" name="Google Shape;424;p43"/>
          <p:cNvPicPr preferRelativeResize="0"/>
          <p:nvPr/>
        </p:nvPicPr>
        <p:blipFill rotWithShape="1">
          <a:blip r:embed="rId4">
            <a:alphaModFix/>
          </a:blip>
          <a:srcRect b="26162" l="3048" r="75930" t="46657"/>
          <a:stretch/>
        </p:blipFill>
        <p:spPr>
          <a:xfrm>
            <a:off x="0" y="4232475"/>
            <a:ext cx="704580" cy="911025"/>
          </a:xfrm>
          <a:prstGeom prst="rect">
            <a:avLst/>
          </a:prstGeom>
          <a:noFill/>
          <a:ln>
            <a:noFill/>
          </a:ln>
        </p:spPr>
      </p:pic>
      <p:pic>
        <p:nvPicPr>
          <p:cNvPr id="425" name="Google Shape;425;p43"/>
          <p:cNvPicPr preferRelativeResize="0"/>
          <p:nvPr/>
        </p:nvPicPr>
        <p:blipFill rotWithShape="1">
          <a:blip r:embed="rId4">
            <a:alphaModFix/>
          </a:blip>
          <a:srcRect b="26162" l="3048" r="75930" t="46657"/>
          <a:stretch/>
        </p:blipFill>
        <p:spPr>
          <a:xfrm>
            <a:off x="634164" y="4527700"/>
            <a:ext cx="476261" cy="615800"/>
          </a:xfrm>
          <a:prstGeom prst="rect">
            <a:avLst/>
          </a:prstGeom>
          <a:noFill/>
          <a:ln>
            <a:noFill/>
          </a:ln>
        </p:spPr>
      </p:pic>
      <p:pic>
        <p:nvPicPr>
          <p:cNvPr id="426" name="Google Shape;426;p43"/>
          <p:cNvPicPr preferRelativeResize="0"/>
          <p:nvPr/>
        </p:nvPicPr>
        <p:blipFill>
          <a:blip r:embed="rId5">
            <a:alphaModFix/>
          </a:blip>
          <a:stretch>
            <a:fillRect/>
          </a:stretch>
        </p:blipFill>
        <p:spPr>
          <a:xfrm>
            <a:off x="1141038" y="2747561"/>
            <a:ext cx="2756700" cy="2300700"/>
          </a:xfrm>
          <a:prstGeom prst="roundRect">
            <a:avLst>
              <a:gd fmla="val 29161" name="adj"/>
            </a:avLst>
          </a:prstGeom>
          <a:noFill/>
          <a:ln>
            <a:noFill/>
          </a:ln>
        </p:spPr>
      </p:pic>
      <p:pic>
        <p:nvPicPr>
          <p:cNvPr id="427" name="Google Shape;427;p43"/>
          <p:cNvPicPr preferRelativeResize="0"/>
          <p:nvPr/>
        </p:nvPicPr>
        <p:blipFill>
          <a:blip r:embed="rId6">
            <a:alphaModFix/>
          </a:blip>
          <a:stretch>
            <a:fillRect/>
          </a:stretch>
        </p:blipFill>
        <p:spPr>
          <a:xfrm>
            <a:off x="4192150" y="3038725"/>
            <a:ext cx="1474800" cy="1400700"/>
          </a:xfrm>
          <a:prstGeom prst="roundRect">
            <a:avLst>
              <a:gd fmla="val 28575" name="adj"/>
            </a:avLst>
          </a:prstGeom>
          <a:noFill/>
          <a:ln>
            <a:noFill/>
          </a:ln>
        </p:spPr>
      </p:pic>
      <p:pic>
        <p:nvPicPr>
          <p:cNvPr id="428" name="Google Shape;428;p43"/>
          <p:cNvPicPr preferRelativeResize="0"/>
          <p:nvPr/>
        </p:nvPicPr>
        <p:blipFill>
          <a:blip r:embed="rId7">
            <a:alphaModFix/>
          </a:blip>
          <a:stretch>
            <a:fillRect/>
          </a:stretch>
        </p:blipFill>
        <p:spPr>
          <a:xfrm flipH="1">
            <a:off x="5961351" y="803600"/>
            <a:ext cx="2991000" cy="4182000"/>
          </a:xfrm>
          <a:prstGeom prst="roundRect">
            <a:avLst>
              <a:gd fmla="val 16667" name="adj"/>
            </a:avLst>
          </a:prstGeom>
          <a:noFill/>
          <a:ln>
            <a:noFill/>
          </a:ln>
        </p:spPr>
      </p:pic>
      <p:pic>
        <p:nvPicPr>
          <p:cNvPr id="429" name="Google Shape;429;p43"/>
          <p:cNvPicPr preferRelativeResize="0"/>
          <p:nvPr/>
        </p:nvPicPr>
        <p:blipFill>
          <a:blip r:embed="rId8">
            <a:alphaModFix/>
          </a:blip>
          <a:stretch>
            <a:fillRect/>
          </a:stretch>
        </p:blipFill>
        <p:spPr>
          <a:xfrm rot="10800000">
            <a:off x="8347100" y="709925"/>
            <a:ext cx="1071925" cy="1071925"/>
          </a:xfrm>
          <a:prstGeom prst="rect">
            <a:avLst/>
          </a:prstGeom>
          <a:noFill/>
          <a:ln>
            <a:noFill/>
          </a:ln>
        </p:spPr>
      </p:pic>
      <p:pic>
        <p:nvPicPr>
          <p:cNvPr descr="ChatGPT Image 25 oct. 2025, 20_07_55" id="430" name="Google Shape;430;p43"/>
          <p:cNvPicPr preferRelativeResize="0"/>
          <p:nvPr/>
        </p:nvPicPr>
        <p:blipFill rotWithShape="1">
          <a:blip r:embed="rId9">
            <a:alphaModFix/>
          </a:blip>
          <a:srcRect b="23405" l="0" r="52050" t="25957"/>
          <a:stretch/>
        </p:blipFill>
        <p:spPr>
          <a:xfrm flipH="1">
            <a:off x="7589758" y="107768"/>
            <a:ext cx="736282" cy="778668"/>
          </a:xfrm>
          <a:prstGeom prst="rect">
            <a:avLst/>
          </a:prstGeom>
          <a:noFill/>
          <a:ln>
            <a:noFill/>
          </a:ln>
        </p:spPr>
      </p:pic>
      <p:sp>
        <p:nvSpPr>
          <p:cNvPr id="431" name="Google Shape;431;p43"/>
          <p:cNvSpPr txBox="1"/>
          <p:nvPr/>
        </p:nvSpPr>
        <p:spPr>
          <a:xfrm>
            <a:off x="135625" y="-44125"/>
            <a:ext cx="704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2100">
                <a:solidFill>
                  <a:srgbClr val="FF0000"/>
                </a:solidFill>
                <a:latin typeface="Calibri"/>
                <a:ea typeface="Calibri"/>
                <a:cs typeface="Calibri"/>
                <a:sym typeface="Calibri"/>
              </a:rPr>
              <a:t>VAL</a:t>
            </a:r>
            <a:endParaRPr b="1" sz="2100">
              <a:solidFill>
                <a:srgbClr val="FF0000"/>
              </a:solidFill>
              <a:latin typeface="Calibri"/>
              <a:ea typeface="Calibri"/>
              <a:cs typeface="Calibri"/>
              <a:sym typeface="Calibri"/>
            </a:endParaRPr>
          </a:p>
        </p:txBody>
      </p:sp>
      <p:pic>
        <p:nvPicPr>
          <p:cNvPr id="432" name="Google Shape;432;p43"/>
          <p:cNvPicPr preferRelativeResize="0"/>
          <p:nvPr/>
        </p:nvPicPr>
        <p:blipFill>
          <a:blip r:embed="rId10">
            <a:alphaModFix/>
          </a:blip>
          <a:stretch>
            <a:fillRect/>
          </a:stretch>
        </p:blipFill>
        <p:spPr>
          <a:xfrm>
            <a:off x="342897" y="2131772"/>
            <a:ext cx="615775" cy="615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4"/>
          <p:cNvSpPr txBox="1"/>
          <p:nvPr>
            <p:ph type="title"/>
          </p:nvPr>
        </p:nvSpPr>
        <p:spPr>
          <a:xfrm>
            <a:off x="232325" y="0"/>
            <a:ext cx="86214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000"/>
              <a:buFont typeface="Algerian"/>
              <a:buNone/>
            </a:pPr>
            <a:r>
              <a:rPr lang="fr" sz="2600">
                <a:solidFill>
                  <a:srgbClr val="BF9000"/>
                </a:solidFill>
                <a:latin typeface="Algerian"/>
                <a:ea typeface="Algerian"/>
                <a:cs typeface="Algerian"/>
                <a:sym typeface="Algerian"/>
              </a:rPr>
              <a:t>PCB – assemblage des composants électroniques</a:t>
            </a:r>
            <a:endParaRPr sz="2600">
              <a:solidFill>
                <a:srgbClr val="BF9000"/>
              </a:solidFill>
              <a:latin typeface="Algerian"/>
              <a:ea typeface="Algerian"/>
              <a:cs typeface="Algerian"/>
              <a:sym typeface="Algerian"/>
            </a:endParaRPr>
          </a:p>
        </p:txBody>
      </p:sp>
      <p:pic>
        <p:nvPicPr>
          <p:cNvPr descr="ChatGPT Image 25 oct. 2025, 20_11_13" id="438" name="Google Shape;438;p44"/>
          <p:cNvPicPr preferRelativeResize="0"/>
          <p:nvPr/>
        </p:nvPicPr>
        <p:blipFill rotWithShape="1">
          <a:blip r:embed="rId3">
            <a:alphaModFix/>
          </a:blip>
          <a:srcRect b="0" l="0" r="0" t="0"/>
          <a:stretch/>
        </p:blipFill>
        <p:spPr>
          <a:xfrm>
            <a:off x="4264105" y="4527709"/>
            <a:ext cx="615791" cy="615791"/>
          </a:xfrm>
          <a:prstGeom prst="rect">
            <a:avLst/>
          </a:prstGeom>
          <a:noFill/>
          <a:ln>
            <a:noFill/>
          </a:ln>
        </p:spPr>
      </p:pic>
      <p:sp>
        <p:nvSpPr>
          <p:cNvPr id="439" name="Google Shape;439;p44"/>
          <p:cNvSpPr txBox="1"/>
          <p:nvPr/>
        </p:nvSpPr>
        <p:spPr>
          <a:xfrm>
            <a:off x="4349406" y="4685600"/>
            <a:ext cx="4452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19</a:t>
            </a:r>
            <a:endParaRPr b="1" sz="1500">
              <a:solidFill>
                <a:srgbClr val="7F6000"/>
              </a:solidFill>
              <a:latin typeface="Arial Rounded"/>
              <a:ea typeface="Arial Rounded"/>
              <a:cs typeface="Arial Rounded"/>
              <a:sym typeface="Arial Rounded"/>
            </a:endParaRPr>
          </a:p>
        </p:txBody>
      </p:sp>
      <p:sp>
        <p:nvSpPr>
          <p:cNvPr id="440" name="Google Shape;440;p44"/>
          <p:cNvSpPr txBox="1"/>
          <p:nvPr/>
        </p:nvSpPr>
        <p:spPr>
          <a:xfrm>
            <a:off x="323600" y="994200"/>
            <a:ext cx="3940500" cy="1289400"/>
          </a:xfrm>
          <a:prstGeom prst="rect">
            <a:avLst/>
          </a:prstGeom>
          <a:noFill/>
          <a:ln>
            <a:noFill/>
          </a:ln>
        </p:spPr>
        <p:txBody>
          <a:bodyPr anchorCtr="0" anchor="t" bIns="34275" lIns="68575" spcFirstLastPara="1" rIns="68575" wrap="square" tIns="34275">
            <a:noAutofit/>
          </a:bodyPr>
          <a:lstStyle/>
          <a:p>
            <a:pPr indent="0" lvl="0" marL="457200" rtl="0" algn="l">
              <a:spcBef>
                <a:spcPts val="0"/>
              </a:spcBef>
              <a:spcAft>
                <a:spcPts val="0"/>
              </a:spcAft>
              <a:buNone/>
            </a:pPr>
            <a:r>
              <a:rPr b="1" lang="fr">
                <a:solidFill>
                  <a:schemeClr val="dk1"/>
                </a:solidFill>
                <a:latin typeface="Calibri"/>
                <a:ea typeface="Calibri"/>
                <a:cs typeface="Calibri"/>
                <a:sym typeface="Calibri"/>
              </a:rPr>
              <a:t>Placement des composants sur la carte :</a:t>
            </a:r>
            <a:endParaRPr b="1">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b="1" lang="fr">
                <a:solidFill>
                  <a:srgbClr val="BF9000"/>
                </a:solidFill>
                <a:latin typeface="Calibri"/>
                <a:ea typeface="Calibri"/>
                <a:cs typeface="Calibri"/>
                <a:sym typeface="Calibri"/>
              </a:rPr>
              <a:t>Résistances</a:t>
            </a:r>
            <a:endParaRPr b="1">
              <a:solidFill>
                <a:srgbClr val="BF9000"/>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b="1" lang="fr">
                <a:solidFill>
                  <a:srgbClr val="BF9000"/>
                </a:solidFill>
                <a:latin typeface="Calibri"/>
                <a:ea typeface="Calibri"/>
                <a:cs typeface="Calibri"/>
                <a:sym typeface="Calibri"/>
              </a:rPr>
              <a:t>Capteurs de température (végétaline)</a:t>
            </a:r>
            <a:endParaRPr b="1">
              <a:solidFill>
                <a:srgbClr val="BF9000"/>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b="1" lang="fr">
                <a:solidFill>
                  <a:srgbClr val="BF9000"/>
                </a:solidFill>
                <a:latin typeface="Calibri"/>
                <a:ea typeface="Calibri"/>
                <a:cs typeface="Calibri"/>
                <a:sym typeface="Calibri"/>
              </a:rPr>
              <a:t>Transistors PMOS</a:t>
            </a:r>
            <a:endParaRPr b="1">
              <a:solidFill>
                <a:srgbClr val="BF9000"/>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b="1" lang="fr">
                <a:solidFill>
                  <a:srgbClr val="BF9000"/>
                </a:solidFill>
                <a:latin typeface="Calibri"/>
                <a:ea typeface="Calibri"/>
                <a:cs typeface="Calibri"/>
                <a:sym typeface="Calibri"/>
              </a:rPr>
              <a:t>ESP32</a:t>
            </a:r>
            <a:endParaRPr>
              <a:solidFill>
                <a:schemeClr val="dk1"/>
              </a:solidFill>
              <a:latin typeface="Calibri"/>
              <a:ea typeface="Calibri"/>
              <a:cs typeface="Calibri"/>
              <a:sym typeface="Calibri"/>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p:txBody>
      </p:sp>
      <p:pic>
        <p:nvPicPr>
          <p:cNvPr id="441" name="Google Shape;441;p44"/>
          <p:cNvPicPr preferRelativeResize="0"/>
          <p:nvPr/>
        </p:nvPicPr>
        <p:blipFill rotWithShape="1">
          <a:blip r:embed="rId4">
            <a:alphaModFix/>
          </a:blip>
          <a:srcRect b="26162" l="3048" r="75930" t="46657"/>
          <a:stretch/>
        </p:blipFill>
        <p:spPr>
          <a:xfrm>
            <a:off x="-34850" y="4232475"/>
            <a:ext cx="704580" cy="911025"/>
          </a:xfrm>
          <a:prstGeom prst="rect">
            <a:avLst/>
          </a:prstGeom>
          <a:noFill/>
          <a:ln>
            <a:noFill/>
          </a:ln>
        </p:spPr>
      </p:pic>
      <p:pic>
        <p:nvPicPr>
          <p:cNvPr id="442" name="Google Shape;442;p44"/>
          <p:cNvPicPr preferRelativeResize="0"/>
          <p:nvPr/>
        </p:nvPicPr>
        <p:blipFill rotWithShape="1">
          <a:blip r:embed="rId4">
            <a:alphaModFix/>
          </a:blip>
          <a:srcRect b="26162" l="3048" r="75930" t="46657"/>
          <a:stretch/>
        </p:blipFill>
        <p:spPr>
          <a:xfrm>
            <a:off x="627914" y="4527700"/>
            <a:ext cx="476261" cy="615800"/>
          </a:xfrm>
          <a:prstGeom prst="rect">
            <a:avLst/>
          </a:prstGeom>
          <a:noFill/>
          <a:ln>
            <a:noFill/>
          </a:ln>
        </p:spPr>
      </p:pic>
      <p:pic>
        <p:nvPicPr>
          <p:cNvPr id="443" name="Google Shape;443;p44"/>
          <p:cNvPicPr preferRelativeResize="0"/>
          <p:nvPr/>
        </p:nvPicPr>
        <p:blipFill>
          <a:blip r:embed="rId5">
            <a:alphaModFix/>
          </a:blip>
          <a:stretch>
            <a:fillRect/>
          </a:stretch>
        </p:blipFill>
        <p:spPr>
          <a:xfrm>
            <a:off x="5317300" y="994200"/>
            <a:ext cx="3620875" cy="3840325"/>
          </a:xfrm>
          <a:prstGeom prst="rect">
            <a:avLst/>
          </a:prstGeom>
          <a:noFill/>
          <a:ln>
            <a:noFill/>
          </a:ln>
        </p:spPr>
      </p:pic>
      <p:pic>
        <p:nvPicPr>
          <p:cNvPr id="444" name="Google Shape;444;p44"/>
          <p:cNvPicPr preferRelativeResize="0"/>
          <p:nvPr/>
        </p:nvPicPr>
        <p:blipFill>
          <a:blip r:embed="rId6">
            <a:alphaModFix/>
          </a:blip>
          <a:stretch>
            <a:fillRect/>
          </a:stretch>
        </p:blipFill>
        <p:spPr>
          <a:xfrm rot="-1314138">
            <a:off x="6569177" y="2667415"/>
            <a:ext cx="2772874" cy="2432626"/>
          </a:xfrm>
          <a:prstGeom prst="rect">
            <a:avLst/>
          </a:prstGeom>
          <a:noFill/>
          <a:ln>
            <a:noFill/>
          </a:ln>
        </p:spPr>
      </p:pic>
      <p:pic>
        <p:nvPicPr>
          <p:cNvPr id="445" name="Google Shape;445;p44"/>
          <p:cNvPicPr preferRelativeResize="0"/>
          <p:nvPr/>
        </p:nvPicPr>
        <p:blipFill>
          <a:blip r:embed="rId7">
            <a:alphaModFix/>
          </a:blip>
          <a:stretch>
            <a:fillRect/>
          </a:stretch>
        </p:blipFill>
        <p:spPr>
          <a:xfrm>
            <a:off x="6920530" y="3485947"/>
            <a:ext cx="1169100" cy="1116000"/>
          </a:xfrm>
          <a:prstGeom prst="ellipse">
            <a:avLst/>
          </a:prstGeom>
          <a:noFill/>
          <a:ln>
            <a:noFill/>
          </a:ln>
        </p:spPr>
      </p:pic>
      <p:pic>
        <p:nvPicPr>
          <p:cNvPr id="446" name="Google Shape;446;p44"/>
          <p:cNvPicPr preferRelativeResize="0"/>
          <p:nvPr/>
        </p:nvPicPr>
        <p:blipFill>
          <a:blip r:embed="rId8">
            <a:alphaModFix/>
          </a:blip>
          <a:stretch>
            <a:fillRect/>
          </a:stretch>
        </p:blipFill>
        <p:spPr>
          <a:xfrm>
            <a:off x="763675" y="2330869"/>
            <a:ext cx="2813325" cy="2149558"/>
          </a:xfrm>
          <a:prstGeom prst="rect">
            <a:avLst/>
          </a:prstGeom>
          <a:noFill/>
          <a:ln>
            <a:noFill/>
          </a:ln>
        </p:spPr>
      </p:pic>
      <p:pic>
        <p:nvPicPr>
          <p:cNvPr id="447" name="Google Shape;447;p44"/>
          <p:cNvPicPr preferRelativeResize="0"/>
          <p:nvPr/>
        </p:nvPicPr>
        <p:blipFill>
          <a:blip r:embed="rId9">
            <a:alphaModFix/>
          </a:blip>
          <a:stretch>
            <a:fillRect/>
          </a:stretch>
        </p:blipFill>
        <p:spPr>
          <a:xfrm>
            <a:off x="3818731" y="3069075"/>
            <a:ext cx="1360419" cy="1336475"/>
          </a:xfrm>
          <a:prstGeom prst="rect">
            <a:avLst/>
          </a:prstGeom>
          <a:noFill/>
          <a:ln>
            <a:noFill/>
          </a:ln>
        </p:spPr>
      </p:pic>
      <p:pic>
        <p:nvPicPr>
          <p:cNvPr descr="ChatGPT Image 25 oct. 2025, 20_07_55" id="448" name="Google Shape;448;p44"/>
          <p:cNvPicPr preferRelativeResize="0"/>
          <p:nvPr/>
        </p:nvPicPr>
        <p:blipFill rotWithShape="1">
          <a:blip r:embed="rId10">
            <a:alphaModFix/>
          </a:blip>
          <a:srcRect b="23405" l="0" r="52050" t="25957"/>
          <a:stretch/>
        </p:blipFill>
        <p:spPr>
          <a:xfrm flipH="1">
            <a:off x="4442001" y="898887"/>
            <a:ext cx="615800" cy="651261"/>
          </a:xfrm>
          <a:prstGeom prst="rect">
            <a:avLst/>
          </a:prstGeom>
          <a:noFill/>
          <a:ln>
            <a:noFill/>
          </a:ln>
        </p:spPr>
      </p:pic>
      <p:pic>
        <p:nvPicPr>
          <p:cNvPr id="449" name="Google Shape;449;p44"/>
          <p:cNvPicPr preferRelativeResize="0"/>
          <p:nvPr/>
        </p:nvPicPr>
        <p:blipFill>
          <a:blip r:embed="rId11">
            <a:alphaModFix/>
          </a:blip>
          <a:stretch>
            <a:fillRect/>
          </a:stretch>
        </p:blipFill>
        <p:spPr>
          <a:xfrm>
            <a:off x="3844363" y="1707150"/>
            <a:ext cx="1309150" cy="1239784"/>
          </a:xfrm>
          <a:prstGeom prst="rect">
            <a:avLst/>
          </a:prstGeom>
          <a:noFill/>
          <a:ln>
            <a:noFill/>
          </a:ln>
        </p:spPr>
      </p:pic>
      <p:pic>
        <p:nvPicPr>
          <p:cNvPr id="450" name="Google Shape;450;p44"/>
          <p:cNvPicPr preferRelativeResize="0"/>
          <p:nvPr/>
        </p:nvPicPr>
        <p:blipFill>
          <a:blip r:embed="rId12">
            <a:alphaModFix/>
          </a:blip>
          <a:stretch>
            <a:fillRect/>
          </a:stretch>
        </p:blipFill>
        <p:spPr>
          <a:xfrm>
            <a:off x="8291750" y="4082200"/>
            <a:ext cx="406450" cy="406450"/>
          </a:xfrm>
          <a:prstGeom prst="rect">
            <a:avLst/>
          </a:prstGeom>
          <a:noFill/>
          <a:ln>
            <a:noFill/>
          </a:ln>
        </p:spPr>
      </p:pic>
      <p:pic>
        <p:nvPicPr>
          <p:cNvPr id="451" name="Google Shape;451;p44"/>
          <p:cNvPicPr preferRelativeResize="0"/>
          <p:nvPr/>
        </p:nvPicPr>
        <p:blipFill>
          <a:blip r:embed="rId13">
            <a:alphaModFix/>
          </a:blip>
          <a:stretch>
            <a:fillRect/>
          </a:stretch>
        </p:blipFill>
        <p:spPr>
          <a:xfrm>
            <a:off x="4706739" y="4043428"/>
            <a:ext cx="445200" cy="445222"/>
          </a:xfrm>
          <a:prstGeom prst="rect">
            <a:avLst/>
          </a:prstGeom>
          <a:noFill/>
          <a:ln>
            <a:noFill/>
          </a:ln>
        </p:spPr>
      </p:pic>
      <p:sp>
        <p:nvSpPr>
          <p:cNvPr id="452" name="Google Shape;452;p44"/>
          <p:cNvSpPr txBox="1"/>
          <p:nvPr/>
        </p:nvSpPr>
        <p:spPr>
          <a:xfrm>
            <a:off x="135625" y="-44125"/>
            <a:ext cx="704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2100">
                <a:solidFill>
                  <a:srgbClr val="FF0000"/>
                </a:solidFill>
                <a:latin typeface="Calibri"/>
                <a:ea typeface="Calibri"/>
                <a:cs typeface="Calibri"/>
                <a:sym typeface="Calibri"/>
              </a:rPr>
              <a:t>VAL</a:t>
            </a:r>
            <a:endParaRPr b="1" sz="2100">
              <a:solidFill>
                <a:srgbClr val="FF0000"/>
              </a:solidFill>
              <a:latin typeface="Calibri"/>
              <a:ea typeface="Calibri"/>
              <a:cs typeface="Calibri"/>
              <a:sym typeface="Calibri"/>
            </a:endParaRPr>
          </a:p>
        </p:txBody>
      </p:sp>
      <p:pic>
        <p:nvPicPr>
          <p:cNvPr id="453" name="Google Shape;453;p44"/>
          <p:cNvPicPr preferRelativeResize="0"/>
          <p:nvPr/>
        </p:nvPicPr>
        <p:blipFill>
          <a:blip r:embed="rId14">
            <a:alphaModFix/>
          </a:blip>
          <a:stretch>
            <a:fillRect/>
          </a:stretch>
        </p:blipFill>
        <p:spPr>
          <a:xfrm>
            <a:off x="4743950" y="2571550"/>
            <a:ext cx="370775" cy="370775"/>
          </a:xfrm>
          <a:prstGeom prst="rect">
            <a:avLst/>
          </a:prstGeom>
          <a:noFill/>
          <a:ln>
            <a:noFill/>
          </a:ln>
        </p:spPr>
      </p:pic>
      <p:pic>
        <p:nvPicPr>
          <p:cNvPr id="454" name="Google Shape;454;p44"/>
          <p:cNvPicPr preferRelativeResize="0"/>
          <p:nvPr/>
        </p:nvPicPr>
        <p:blipFill>
          <a:blip r:embed="rId15">
            <a:alphaModFix/>
          </a:blip>
          <a:stretch>
            <a:fillRect/>
          </a:stretch>
        </p:blipFill>
        <p:spPr>
          <a:xfrm>
            <a:off x="3100750" y="4152300"/>
            <a:ext cx="476250" cy="4762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descr="ChatGPT Image 25 oct. 2025, 20_11_13" id="459" name="Google Shape;459;p45"/>
          <p:cNvPicPr preferRelativeResize="0"/>
          <p:nvPr/>
        </p:nvPicPr>
        <p:blipFill rotWithShape="1">
          <a:blip r:embed="rId3">
            <a:alphaModFix/>
          </a:blip>
          <a:srcRect b="0" l="0" r="0" t="0"/>
          <a:stretch/>
        </p:blipFill>
        <p:spPr>
          <a:xfrm>
            <a:off x="4264343" y="4527709"/>
            <a:ext cx="615791" cy="615791"/>
          </a:xfrm>
          <a:prstGeom prst="rect">
            <a:avLst/>
          </a:prstGeom>
          <a:noFill/>
          <a:ln>
            <a:noFill/>
          </a:ln>
        </p:spPr>
      </p:pic>
      <p:sp>
        <p:nvSpPr>
          <p:cNvPr id="460" name="Google Shape;460;p45"/>
          <p:cNvSpPr txBox="1"/>
          <p:nvPr/>
        </p:nvSpPr>
        <p:spPr>
          <a:xfrm>
            <a:off x="4353100" y="4686300"/>
            <a:ext cx="4194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20</a:t>
            </a:r>
            <a:endParaRPr b="1" sz="1500">
              <a:solidFill>
                <a:srgbClr val="7F6000"/>
              </a:solidFill>
              <a:latin typeface="Arial Rounded"/>
              <a:ea typeface="Arial Rounded"/>
              <a:cs typeface="Arial Rounded"/>
              <a:sym typeface="Arial Rounded"/>
            </a:endParaRPr>
          </a:p>
        </p:txBody>
      </p:sp>
      <p:sp>
        <p:nvSpPr>
          <p:cNvPr id="461" name="Google Shape;461;p45"/>
          <p:cNvSpPr txBox="1"/>
          <p:nvPr/>
        </p:nvSpPr>
        <p:spPr>
          <a:xfrm>
            <a:off x="355150" y="994200"/>
            <a:ext cx="4163400" cy="1990800"/>
          </a:xfrm>
          <a:prstGeom prst="rect">
            <a:avLst/>
          </a:prstGeom>
          <a:noFill/>
          <a:ln>
            <a:noFill/>
          </a:ln>
        </p:spPr>
        <p:txBody>
          <a:bodyPr anchorCtr="0" anchor="t" bIns="34275" lIns="68575" spcFirstLastPara="1" rIns="68575" wrap="square" tIns="34275">
            <a:noAutofit/>
          </a:bodyPr>
          <a:lstStyle/>
          <a:p>
            <a:pPr indent="0" lvl="0" marL="457200" rtl="0" algn="l">
              <a:spcBef>
                <a:spcPts val="0"/>
              </a:spcBef>
              <a:spcAft>
                <a:spcPts val="0"/>
              </a:spcAft>
              <a:buNone/>
            </a:pPr>
            <a:r>
              <a:rPr b="1" lang="fr">
                <a:solidFill>
                  <a:schemeClr val="dk1"/>
                </a:solidFill>
                <a:latin typeface="Calibri"/>
                <a:ea typeface="Calibri"/>
                <a:cs typeface="Calibri"/>
                <a:sym typeface="Calibri"/>
              </a:rPr>
              <a:t>Placement des composants sur la carte :</a:t>
            </a:r>
            <a:endParaRPr b="1">
              <a:solidFill>
                <a:schemeClr val="dk1"/>
              </a:solidFill>
              <a:latin typeface="Calibri"/>
              <a:ea typeface="Calibri"/>
              <a:cs typeface="Calibri"/>
              <a:sym typeface="Calibri"/>
            </a:endParaRPr>
          </a:p>
          <a:p>
            <a:pPr indent="-298450" lvl="1" marL="914400" marR="0" rtl="0" algn="l">
              <a:lnSpc>
                <a:spcPct val="100000"/>
              </a:lnSpc>
              <a:spcBef>
                <a:spcPts val="0"/>
              </a:spcBef>
              <a:spcAft>
                <a:spcPts val="0"/>
              </a:spcAft>
              <a:buClr>
                <a:schemeClr val="dk1"/>
              </a:buClr>
              <a:buSzPts val="1100"/>
              <a:buFont typeface="Calibri"/>
              <a:buChar char="○"/>
            </a:pPr>
            <a:r>
              <a:rPr b="1" lang="fr">
                <a:solidFill>
                  <a:srgbClr val="BF9000"/>
                </a:solidFill>
                <a:latin typeface="Calibri"/>
                <a:ea typeface="Calibri"/>
                <a:cs typeface="Calibri"/>
                <a:sym typeface="Calibri"/>
              </a:rPr>
              <a:t>Condensateurs</a:t>
            </a:r>
            <a:endParaRPr b="1">
              <a:solidFill>
                <a:srgbClr val="BF9000"/>
              </a:solidFill>
              <a:latin typeface="Calibri"/>
              <a:ea typeface="Calibri"/>
              <a:cs typeface="Calibri"/>
              <a:sym typeface="Calibri"/>
            </a:endParaRPr>
          </a:p>
          <a:p>
            <a:pPr indent="-298450" lvl="1" marL="914400" marR="0" rtl="0" algn="l">
              <a:lnSpc>
                <a:spcPct val="100000"/>
              </a:lnSpc>
              <a:spcBef>
                <a:spcPts val="0"/>
              </a:spcBef>
              <a:spcAft>
                <a:spcPts val="0"/>
              </a:spcAft>
              <a:buClr>
                <a:schemeClr val="dk1"/>
              </a:buClr>
              <a:buSzPts val="1100"/>
              <a:buFont typeface="Calibri"/>
              <a:buChar char="○"/>
            </a:pPr>
            <a:r>
              <a:rPr b="1" lang="fr">
                <a:solidFill>
                  <a:srgbClr val="BF9000"/>
                </a:solidFill>
                <a:latin typeface="Calibri"/>
                <a:ea typeface="Calibri"/>
                <a:cs typeface="Calibri"/>
                <a:sym typeface="Calibri"/>
              </a:rPr>
              <a:t>Régulateur de tension</a:t>
            </a:r>
            <a:endParaRPr b="1">
              <a:solidFill>
                <a:srgbClr val="BF9000"/>
              </a:solidFill>
              <a:latin typeface="Calibri"/>
              <a:ea typeface="Calibri"/>
              <a:cs typeface="Calibri"/>
              <a:sym typeface="Calibri"/>
            </a:endParaRPr>
          </a:p>
          <a:p>
            <a:pPr indent="-298450" lvl="1" marL="914400" marR="0" rtl="0" algn="l">
              <a:lnSpc>
                <a:spcPct val="100000"/>
              </a:lnSpc>
              <a:spcBef>
                <a:spcPts val="0"/>
              </a:spcBef>
              <a:spcAft>
                <a:spcPts val="0"/>
              </a:spcAft>
              <a:buClr>
                <a:schemeClr val="dk1"/>
              </a:buClr>
              <a:buSzPts val="1100"/>
              <a:buFont typeface="Calibri"/>
              <a:buChar char="○"/>
            </a:pPr>
            <a:r>
              <a:rPr b="1" lang="fr">
                <a:solidFill>
                  <a:srgbClr val="BF9000"/>
                </a:solidFill>
                <a:latin typeface="Calibri"/>
                <a:ea typeface="Calibri"/>
                <a:cs typeface="Calibri"/>
                <a:sym typeface="Calibri"/>
              </a:rPr>
              <a:t>Diode Zener</a:t>
            </a:r>
            <a:endParaRPr b="1">
              <a:solidFill>
                <a:srgbClr val="BF9000"/>
              </a:solidFill>
              <a:latin typeface="Calibri"/>
              <a:ea typeface="Calibri"/>
              <a:cs typeface="Calibri"/>
              <a:sym typeface="Calibri"/>
            </a:endParaRPr>
          </a:p>
          <a:p>
            <a:pPr indent="-298450" lvl="1" marL="914400" marR="0" rtl="0" algn="l">
              <a:lnSpc>
                <a:spcPct val="100000"/>
              </a:lnSpc>
              <a:spcBef>
                <a:spcPts val="0"/>
              </a:spcBef>
              <a:spcAft>
                <a:spcPts val="0"/>
              </a:spcAft>
              <a:buClr>
                <a:srgbClr val="BF9000"/>
              </a:buClr>
              <a:buSzPts val="1100"/>
              <a:buFont typeface="Calibri"/>
              <a:buChar char="○"/>
            </a:pPr>
            <a:r>
              <a:rPr b="1" lang="fr">
                <a:solidFill>
                  <a:srgbClr val="BF9000"/>
                </a:solidFill>
                <a:latin typeface="Calibri"/>
                <a:ea typeface="Calibri"/>
                <a:cs typeface="Calibri"/>
                <a:sym typeface="Calibri"/>
              </a:rPr>
              <a:t>Comparateur</a:t>
            </a:r>
            <a:endParaRPr b="1">
              <a:solidFill>
                <a:srgbClr val="BF9000"/>
              </a:solidFill>
              <a:latin typeface="Calibri"/>
              <a:ea typeface="Calibri"/>
              <a:cs typeface="Calibri"/>
              <a:sym typeface="Calibri"/>
            </a:endParaRPr>
          </a:p>
          <a:p>
            <a:pPr indent="-298450" lvl="1" marL="914400" marR="0" rtl="0" algn="l">
              <a:lnSpc>
                <a:spcPct val="100000"/>
              </a:lnSpc>
              <a:spcBef>
                <a:spcPts val="0"/>
              </a:spcBef>
              <a:spcAft>
                <a:spcPts val="0"/>
              </a:spcAft>
              <a:buClr>
                <a:schemeClr val="dk1"/>
              </a:buClr>
              <a:buSzPts val="1100"/>
              <a:buFont typeface="Calibri"/>
              <a:buChar char="○"/>
            </a:pPr>
            <a:r>
              <a:rPr b="1" lang="fr">
                <a:solidFill>
                  <a:srgbClr val="BF9000"/>
                </a:solidFill>
                <a:latin typeface="Calibri"/>
                <a:ea typeface="Calibri"/>
                <a:cs typeface="Calibri"/>
                <a:sym typeface="Calibri"/>
              </a:rPr>
              <a:t>Boutons programmation &amp; reset</a:t>
            </a:r>
            <a:endParaRPr b="1">
              <a:solidFill>
                <a:srgbClr val="BF9000"/>
              </a:solidFill>
              <a:latin typeface="Calibri"/>
              <a:ea typeface="Calibri"/>
              <a:cs typeface="Calibri"/>
              <a:sym typeface="Calibri"/>
            </a:endParaRPr>
          </a:p>
          <a:p>
            <a:pPr indent="-298450" lvl="1" marL="914400" marR="0" rtl="0" algn="l">
              <a:lnSpc>
                <a:spcPct val="100000"/>
              </a:lnSpc>
              <a:spcBef>
                <a:spcPts val="0"/>
              </a:spcBef>
              <a:spcAft>
                <a:spcPts val="0"/>
              </a:spcAft>
              <a:buClr>
                <a:srgbClr val="BF9000"/>
              </a:buClr>
              <a:buSzPts val="1100"/>
              <a:buFont typeface="Calibri"/>
              <a:buChar char="○"/>
            </a:pPr>
            <a:r>
              <a:rPr b="1" lang="fr">
                <a:solidFill>
                  <a:srgbClr val="BF9000"/>
                </a:solidFill>
                <a:latin typeface="Calibri"/>
                <a:ea typeface="Calibri"/>
                <a:cs typeface="Calibri"/>
                <a:sym typeface="Calibri"/>
              </a:rPr>
              <a:t>INA219 (mesure tension/courant)</a:t>
            </a:r>
            <a:endParaRPr b="1">
              <a:solidFill>
                <a:srgbClr val="BF9000"/>
              </a:solidFill>
              <a:latin typeface="Calibri"/>
              <a:ea typeface="Calibri"/>
              <a:cs typeface="Calibri"/>
              <a:sym typeface="Calibri"/>
            </a:endParaRPr>
          </a:p>
          <a:p>
            <a:pPr indent="-298450" lvl="1" marL="914400" rtl="0" algn="l">
              <a:lnSpc>
                <a:spcPct val="115000"/>
              </a:lnSpc>
              <a:spcBef>
                <a:spcPts val="0"/>
              </a:spcBef>
              <a:spcAft>
                <a:spcPts val="0"/>
              </a:spcAft>
              <a:buClr>
                <a:srgbClr val="BF9000"/>
              </a:buClr>
              <a:buSzPts val="1100"/>
              <a:buFont typeface="Calibri"/>
              <a:buChar char="○"/>
            </a:pPr>
            <a:r>
              <a:rPr b="1" lang="fr">
                <a:solidFill>
                  <a:srgbClr val="BF9000"/>
                </a:solidFill>
                <a:latin typeface="Calibri"/>
                <a:ea typeface="Calibri"/>
                <a:cs typeface="Calibri"/>
                <a:sym typeface="Calibri"/>
              </a:rPr>
              <a:t>Connectique du panneau solaire</a:t>
            </a:r>
            <a:endParaRPr b="1">
              <a:solidFill>
                <a:srgbClr val="BF9000"/>
              </a:solidFill>
              <a:latin typeface="Calibri"/>
              <a:ea typeface="Calibri"/>
              <a:cs typeface="Calibri"/>
              <a:sym typeface="Calibri"/>
            </a:endParaRPr>
          </a:p>
          <a:p>
            <a:pPr indent="-298450" lvl="1" marL="914400" rtl="0" algn="l">
              <a:lnSpc>
                <a:spcPct val="115000"/>
              </a:lnSpc>
              <a:spcBef>
                <a:spcPts val="0"/>
              </a:spcBef>
              <a:spcAft>
                <a:spcPts val="0"/>
              </a:spcAft>
              <a:buClr>
                <a:srgbClr val="BF9000"/>
              </a:buClr>
              <a:buSzPts val="1100"/>
              <a:buFont typeface="Calibri"/>
              <a:buChar char="○"/>
            </a:pPr>
            <a:r>
              <a:rPr b="1" lang="fr">
                <a:solidFill>
                  <a:srgbClr val="BF9000"/>
                </a:solidFill>
                <a:latin typeface="Calibri"/>
                <a:ea typeface="Calibri"/>
                <a:cs typeface="Calibri"/>
                <a:sym typeface="Calibri"/>
              </a:rPr>
              <a:t>Connectiques des résistances chauffantes</a:t>
            </a:r>
            <a:endParaRPr b="1">
              <a:solidFill>
                <a:srgbClr val="BF9000"/>
              </a:solidFill>
              <a:latin typeface="Calibri"/>
              <a:ea typeface="Calibri"/>
              <a:cs typeface="Calibri"/>
              <a:sym typeface="Calibri"/>
            </a:endParaRPr>
          </a:p>
        </p:txBody>
      </p:sp>
      <p:pic>
        <p:nvPicPr>
          <p:cNvPr id="462" name="Google Shape;462;p45"/>
          <p:cNvPicPr preferRelativeResize="0"/>
          <p:nvPr/>
        </p:nvPicPr>
        <p:blipFill rotWithShape="1">
          <a:blip r:embed="rId4">
            <a:alphaModFix/>
          </a:blip>
          <a:srcRect b="26162" l="3048" r="75930" t="46657"/>
          <a:stretch/>
        </p:blipFill>
        <p:spPr>
          <a:xfrm>
            <a:off x="8030112" y="4232475"/>
            <a:ext cx="704580" cy="911025"/>
          </a:xfrm>
          <a:prstGeom prst="rect">
            <a:avLst/>
          </a:prstGeom>
          <a:noFill/>
          <a:ln>
            <a:noFill/>
          </a:ln>
        </p:spPr>
      </p:pic>
      <p:pic>
        <p:nvPicPr>
          <p:cNvPr id="463" name="Google Shape;463;p45"/>
          <p:cNvPicPr preferRelativeResize="0"/>
          <p:nvPr/>
        </p:nvPicPr>
        <p:blipFill rotWithShape="1">
          <a:blip r:embed="rId4">
            <a:alphaModFix/>
          </a:blip>
          <a:srcRect b="26162" l="3048" r="75930" t="46657"/>
          <a:stretch/>
        </p:blipFill>
        <p:spPr>
          <a:xfrm>
            <a:off x="8606826" y="4527700"/>
            <a:ext cx="476261" cy="615800"/>
          </a:xfrm>
          <a:prstGeom prst="rect">
            <a:avLst/>
          </a:prstGeom>
          <a:noFill/>
          <a:ln>
            <a:noFill/>
          </a:ln>
        </p:spPr>
      </p:pic>
      <p:sp>
        <p:nvSpPr>
          <p:cNvPr id="464" name="Google Shape;464;p45"/>
          <p:cNvSpPr txBox="1"/>
          <p:nvPr>
            <p:ph type="title"/>
          </p:nvPr>
        </p:nvSpPr>
        <p:spPr>
          <a:xfrm>
            <a:off x="232325" y="0"/>
            <a:ext cx="86214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000"/>
              <a:buFont typeface="Algerian"/>
              <a:buNone/>
            </a:pPr>
            <a:r>
              <a:rPr lang="fr" sz="2600">
                <a:solidFill>
                  <a:srgbClr val="BF9000"/>
                </a:solidFill>
                <a:latin typeface="Algerian"/>
                <a:ea typeface="Algerian"/>
                <a:cs typeface="Algerian"/>
                <a:sym typeface="Algerian"/>
              </a:rPr>
              <a:t>PCB – assemblage des composants électroniques</a:t>
            </a:r>
            <a:endParaRPr sz="2600">
              <a:solidFill>
                <a:srgbClr val="BF9000"/>
              </a:solidFill>
              <a:latin typeface="Algerian"/>
              <a:ea typeface="Algerian"/>
              <a:cs typeface="Algerian"/>
              <a:sym typeface="Algerian"/>
            </a:endParaRPr>
          </a:p>
        </p:txBody>
      </p:sp>
      <p:pic>
        <p:nvPicPr>
          <p:cNvPr id="465" name="Google Shape;465;p45"/>
          <p:cNvPicPr preferRelativeResize="0"/>
          <p:nvPr/>
        </p:nvPicPr>
        <p:blipFill rotWithShape="1">
          <a:blip r:embed="rId5">
            <a:alphaModFix/>
          </a:blip>
          <a:srcRect b="0" l="62951" r="0" t="33788"/>
          <a:stretch/>
        </p:blipFill>
        <p:spPr>
          <a:xfrm>
            <a:off x="4572000" y="1193823"/>
            <a:ext cx="1739400" cy="1703100"/>
          </a:xfrm>
          <a:prstGeom prst="roundRect">
            <a:avLst>
              <a:gd fmla="val 16667" name="adj"/>
            </a:avLst>
          </a:prstGeom>
          <a:noFill/>
          <a:ln>
            <a:noFill/>
          </a:ln>
        </p:spPr>
      </p:pic>
      <p:pic>
        <p:nvPicPr>
          <p:cNvPr id="466" name="Google Shape;466;p45"/>
          <p:cNvPicPr preferRelativeResize="0"/>
          <p:nvPr/>
        </p:nvPicPr>
        <p:blipFill rotWithShape="1">
          <a:blip r:embed="rId6">
            <a:alphaModFix/>
          </a:blip>
          <a:srcRect b="27683" l="0" r="18943" t="0"/>
          <a:stretch/>
        </p:blipFill>
        <p:spPr>
          <a:xfrm>
            <a:off x="355153" y="3171275"/>
            <a:ext cx="3464400" cy="1703100"/>
          </a:xfrm>
          <a:prstGeom prst="roundRect">
            <a:avLst>
              <a:gd fmla="val 16667" name="adj"/>
            </a:avLst>
          </a:prstGeom>
          <a:noFill/>
          <a:ln>
            <a:noFill/>
          </a:ln>
        </p:spPr>
      </p:pic>
      <p:pic>
        <p:nvPicPr>
          <p:cNvPr id="467" name="Google Shape;467;p45"/>
          <p:cNvPicPr preferRelativeResize="0"/>
          <p:nvPr/>
        </p:nvPicPr>
        <p:blipFill>
          <a:blip r:embed="rId7">
            <a:alphaModFix/>
          </a:blip>
          <a:stretch>
            <a:fillRect/>
          </a:stretch>
        </p:blipFill>
        <p:spPr>
          <a:xfrm>
            <a:off x="5611185" y="3345373"/>
            <a:ext cx="2384100" cy="1482875"/>
          </a:xfrm>
          <a:prstGeom prst="rect">
            <a:avLst/>
          </a:prstGeom>
          <a:noFill/>
          <a:ln>
            <a:noFill/>
          </a:ln>
        </p:spPr>
      </p:pic>
      <p:sp>
        <p:nvSpPr>
          <p:cNvPr id="468" name="Google Shape;468;p45"/>
          <p:cNvSpPr txBox="1"/>
          <p:nvPr/>
        </p:nvSpPr>
        <p:spPr>
          <a:xfrm>
            <a:off x="135625" y="-44125"/>
            <a:ext cx="704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2100">
                <a:solidFill>
                  <a:srgbClr val="FF0000"/>
                </a:solidFill>
                <a:latin typeface="Calibri"/>
                <a:ea typeface="Calibri"/>
                <a:cs typeface="Calibri"/>
                <a:sym typeface="Calibri"/>
              </a:rPr>
              <a:t>VAL</a:t>
            </a:r>
            <a:endParaRPr b="1" sz="2100">
              <a:solidFill>
                <a:srgbClr val="FF0000"/>
              </a:solidFill>
              <a:latin typeface="Calibri"/>
              <a:ea typeface="Calibri"/>
              <a:cs typeface="Calibri"/>
              <a:sym typeface="Calibri"/>
            </a:endParaRPr>
          </a:p>
        </p:txBody>
      </p:sp>
      <p:pic>
        <p:nvPicPr>
          <p:cNvPr descr="ChatGPT Image 25 oct. 2025, 20_07_55" id="469" name="Google Shape;469;p45"/>
          <p:cNvPicPr preferRelativeResize="0"/>
          <p:nvPr/>
        </p:nvPicPr>
        <p:blipFill rotWithShape="1">
          <a:blip r:embed="rId8">
            <a:alphaModFix/>
          </a:blip>
          <a:srcRect b="23405" l="0" r="52050" t="25957"/>
          <a:stretch/>
        </p:blipFill>
        <p:spPr>
          <a:xfrm flipH="1">
            <a:off x="8200949" y="2984980"/>
            <a:ext cx="736282" cy="778668"/>
          </a:xfrm>
          <a:prstGeom prst="rect">
            <a:avLst/>
          </a:prstGeom>
          <a:noFill/>
          <a:ln>
            <a:noFill/>
          </a:ln>
        </p:spPr>
      </p:pic>
      <p:pic>
        <p:nvPicPr>
          <p:cNvPr id="470" name="Google Shape;470;p45"/>
          <p:cNvPicPr preferRelativeResize="0"/>
          <p:nvPr/>
        </p:nvPicPr>
        <p:blipFill rotWithShape="1">
          <a:blip r:embed="rId9">
            <a:alphaModFix/>
          </a:blip>
          <a:srcRect b="18847" l="18229" r="24593" t="23037"/>
          <a:stretch/>
        </p:blipFill>
        <p:spPr>
          <a:xfrm>
            <a:off x="3986650" y="3147599"/>
            <a:ext cx="1457400" cy="1376100"/>
          </a:xfrm>
          <a:prstGeom prst="roundRect">
            <a:avLst>
              <a:gd fmla="val 16667" name="adj"/>
            </a:avLst>
          </a:prstGeom>
          <a:noFill/>
          <a:ln>
            <a:noFill/>
          </a:ln>
        </p:spPr>
      </p:pic>
      <p:pic>
        <p:nvPicPr>
          <p:cNvPr id="471" name="Google Shape;471;p45"/>
          <p:cNvPicPr preferRelativeResize="0"/>
          <p:nvPr/>
        </p:nvPicPr>
        <p:blipFill>
          <a:blip r:embed="rId10">
            <a:alphaModFix/>
          </a:blip>
          <a:stretch>
            <a:fillRect/>
          </a:stretch>
        </p:blipFill>
        <p:spPr>
          <a:xfrm flipH="1">
            <a:off x="6864025" y="865325"/>
            <a:ext cx="2073200" cy="1556000"/>
          </a:xfrm>
          <a:prstGeom prst="rect">
            <a:avLst/>
          </a:prstGeom>
          <a:noFill/>
          <a:ln>
            <a:noFill/>
          </a:ln>
        </p:spPr>
      </p:pic>
      <p:pic>
        <p:nvPicPr>
          <p:cNvPr id="472" name="Google Shape;472;p45"/>
          <p:cNvPicPr preferRelativeResize="0"/>
          <p:nvPr/>
        </p:nvPicPr>
        <p:blipFill rotWithShape="1">
          <a:blip r:embed="rId11">
            <a:alphaModFix/>
          </a:blip>
          <a:srcRect b="0" l="16344" r="16344" t="0"/>
          <a:stretch/>
        </p:blipFill>
        <p:spPr>
          <a:xfrm>
            <a:off x="6479200" y="1946088"/>
            <a:ext cx="1259400" cy="1251300"/>
          </a:xfrm>
          <a:prstGeom prst="ellipse">
            <a:avLst/>
          </a:prstGeom>
          <a:noFill/>
          <a:ln>
            <a:noFill/>
          </a:ln>
        </p:spPr>
      </p:pic>
      <p:pic>
        <p:nvPicPr>
          <p:cNvPr id="473" name="Google Shape;473;p45"/>
          <p:cNvPicPr preferRelativeResize="0"/>
          <p:nvPr/>
        </p:nvPicPr>
        <p:blipFill>
          <a:blip r:embed="rId12">
            <a:alphaModFix/>
          </a:blip>
          <a:stretch>
            <a:fillRect/>
          </a:stretch>
        </p:blipFill>
        <p:spPr>
          <a:xfrm>
            <a:off x="270499" y="2477074"/>
            <a:ext cx="507900" cy="507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pic>
        <p:nvPicPr>
          <p:cNvPr descr="ChatGPT Image 25 oct. 2025, 20_11_13" id="478" name="Google Shape;478;p46"/>
          <p:cNvPicPr preferRelativeResize="0"/>
          <p:nvPr/>
        </p:nvPicPr>
        <p:blipFill rotWithShape="1">
          <a:blip r:embed="rId3">
            <a:alphaModFix/>
          </a:blip>
          <a:srcRect b="0" l="0" r="0" t="0"/>
          <a:stretch/>
        </p:blipFill>
        <p:spPr>
          <a:xfrm>
            <a:off x="4264343" y="4527709"/>
            <a:ext cx="615791" cy="615791"/>
          </a:xfrm>
          <a:prstGeom prst="rect">
            <a:avLst/>
          </a:prstGeom>
          <a:noFill/>
          <a:ln>
            <a:noFill/>
          </a:ln>
        </p:spPr>
      </p:pic>
      <p:sp>
        <p:nvSpPr>
          <p:cNvPr id="479" name="Google Shape;479;p46"/>
          <p:cNvSpPr txBox="1"/>
          <p:nvPr/>
        </p:nvSpPr>
        <p:spPr>
          <a:xfrm>
            <a:off x="4353100" y="4686300"/>
            <a:ext cx="4194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21</a:t>
            </a:r>
            <a:endParaRPr b="1" sz="1500">
              <a:solidFill>
                <a:srgbClr val="7F6000"/>
              </a:solidFill>
              <a:latin typeface="Arial Rounded"/>
              <a:ea typeface="Arial Rounded"/>
              <a:cs typeface="Arial Rounded"/>
              <a:sym typeface="Arial Rounded"/>
            </a:endParaRPr>
          </a:p>
        </p:txBody>
      </p:sp>
      <p:pic>
        <p:nvPicPr>
          <p:cNvPr id="480" name="Google Shape;480;p46"/>
          <p:cNvPicPr preferRelativeResize="0"/>
          <p:nvPr/>
        </p:nvPicPr>
        <p:blipFill rotWithShape="1">
          <a:blip r:embed="rId4">
            <a:alphaModFix/>
          </a:blip>
          <a:srcRect b="26162" l="3048" r="75930" t="46657"/>
          <a:stretch/>
        </p:blipFill>
        <p:spPr>
          <a:xfrm>
            <a:off x="138209" y="4232475"/>
            <a:ext cx="704580" cy="911025"/>
          </a:xfrm>
          <a:prstGeom prst="rect">
            <a:avLst/>
          </a:prstGeom>
          <a:noFill/>
          <a:ln>
            <a:noFill/>
          </a:ln>
        </p:spPr>
      </p:pic>
      <p:pic>
        <p:nvPicPr>
          <p:cNvPr id="481" name="Google Shape;481;p46"/>
          <p:cNvPicPr preferRelativeResize="0"/>
          <p:nvPr/>
        </p:nvPicPr>
        <p:blipFill rotWithShape="1">
          <a:blip r:embed="rId4">
            <a:alphaModFix/>
          </a:blip>
          <a:srcRect b="26162" l="3048" r="75930" t="46657"/>
          <a:stretch/>
        </p:blipFill>
        <p:spPr>
          <a:xfrm>
            <a:off x="772373" y="4527700"/>
            <a:ext cx="476261" cy="615800"/>
          </a:xfrm>
          <a:prstGeom prst="rect">
            <a:avLst/>
          </a:prstGeom>
          <a:noFill/>
          <a:ln>
            <a:noFill/>
          </a:ln>
        </p:spPr>
      </p:pic>
      <p:sp>
        <p:nvSpPr>
          <p:cNvPr id="482" name="Google Shape;482;p46"/>
          <p:cNvSpPr txBox="1"/>
          <p:nvPr>
            <p:ph type="title"/>
          </p:nvPr>
        </p:nvSpPr>
        <p:spPr>
          <a:xfrm>
            <a:off x="232325" y="0"/>
            <a:ext cx="8621400" cy="9942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Font typeface="Arial"/>
              <a:buNone/>
            </a:pPr>
            <a:r>
              <a:rPr lang="fr" sz="3000">
                <a:solidFill>
                  <a:srgbClr val="BF9000"/>
                </a:solidFill>
                <a:latin typeface="Algerian"/>
                <a:ea typeface="Algerian"/>
                <a:cs typeface="Algerian"/>
                <a:sym typeface="Algerian"/>
              </a:rPr>
              <a:t>Optimisation Énergie – MPPT</a:t>
            </a:r>
            <a:endParaRPr sz="3000">
              <a:solidFill>
                <a:srgbClr val="BF9000"/>
              </a:solidFill>
              <a:latin typeface="Algerian"/>
              <a:ea typeface="Algerian"/>
              <a:cs typeface="Algerian"/>
              <a:sym typeface="Algerian"/>
            </a:endParaRPr>
          </a:p>
        </p:txBody>
      </p:sp>
      <p:pic>
        <p:nvPicPr>
          <p:cNvPr id="483" name="Google Shape;483;p46"/>
          <p:cNvPicPr preferRelativeResize="0"/>
          <p:nvPr/>
        </p:nvPicPr>
        <p:blipFill>
          <a:blip r:embed="rId5">
            <a:alphaModFix/>
          </a:blip>
          <a:stretch>
            <a:fillRect/>
          </a:stretch>
        </p:blipFill>
        <p:spPr>
          <a:xfrm>
            <a:off x="5367700" y="781950"/>
            <a:ext cx="3302100" cy="1903500"/>
          </a:xfrm>
          <a:prstGeom prst="roundRect">
            <a:avLst>
              <a:gd fmla="val 16667" name="adj"/>
            </a:avLst>
          </a:prstGeom>
          <a:noFill/>
          <a:ln>
            <a:noFill/>
          </a:ln>
        </p:spPr>
      </p:pic>
      <p:pic>
        <p:nvPicPr>
          <p:cNvPr id="484" name="Google Shape;484;p46"/>
          <p:cNvPicPr preferRelativeResize="0"/>
          <p:nvPr/>
        </p:nvPicPr>
        <p:blipFill>
          <a:blip r:embed="rId6">
            <a:alphaModFix/>
          </a:blip>
          <a:stretch>
            <a:fillRect/>
          </a:stretch>
        </p:blipFill>
        <p:spPr>
          <a:xfrm>
            <a:off x="252372" y="994192"/>
            <a:ext cx="476250" cy="553883"/>
          </a:xfrm>
          <a:prstGeom prst="rect">
            <a:avLst/>
          </a:prstGeom>
          <a:noFill/>
          <a:ln>
            <a:noFill/>
          </a:ln>
        </p:spPr>
      </p:pic>
      <p:pic>
        <p:nvPicPr>
          <p:cNvPr id="485" name="Google Shape;485;p46"/>
          <p:cNvPicPr preferRelativeResize="0"/>
          <p:nvPr/>
        </p:nvPicPr>
        <p:blipFill>
          <a:blip r:embed="rId6">
            <a:alphaModFix/>
          </a:blip>
          <a:stretch>
            <a:fillRect/>
          </a:stretch>
        </p:blipFill>
        <p:spPr>
          <a:xfrm>
            <a:off x="225763" y="3610675"/>
            <a:ext cx="529472" cy="615800"/>
          </a:xfrm>
          <a:prstGeom prst="rect">
            <a:avLst/>
          </a:prstGeom>
          <a:noFill/>
          <a:ln>
            <a:noFill/>
          </a:ln>
        </p:spPr>
      </p:pic>
      <p:pic>
        <p:nvPicPr>
          <p:cNvPr id="486" name="Google Shape;486;p46"/>
          <p:cNvPicPr preferRelativeResize="0"/>
          <p:nvPr/>
        </p:nvPicPr>
        <p:blipFill>
          <a:blip r:embed="rId7">
            <a:alphaModFix/>
          </a:blip>
          <a:stretch>
            <a:fillRect/>
          </a:stretch>
        </p:blipFill>
        <p:spPr>
          <a:xfrm>
            <a:off x="138198" y="917025"/>
            <a:ext cx="4512875" cy="3309450"/>
          </a:xfrm>
          <a:prstGeom prst="rect">
            <a:avLst/>
          </a:prstGeom>
          <a:noFill/>
          <a:ln>
            <a:noFill/>
          </a:ln>
        </p:spPr>
      </p:pic>
      <p:pic>
        <p:nvPicPr>
          <p:cNvPr id="487" name="Google Shape;487;p46"/>
          <p:cNvPicPr preferRelativeResize="0"/>
          <p:nvPr/>
        </p:nvPicPr>
        <p:blipFill>
          <a:blip r:embed="rId6">
            <a:alphaModFix/>
          </a:blip>
          <a:stretch>
            <a:fillRect/>
          </a:stretch>
        </p:blipFill>
        <p:spPr>
          <a:xfrm>
            <a:off x="225775" y="917024"/>
            <a:ext cx="529450" cy="656125"/>
          </a:xfrm>
          <a:prstGeom prst="rect">
            <a:avLst/>
          </a:prstGeom>
          <a:noFill/>
          <a:ln>
            <a:noFill/>
          </a:ln>
        </p:spPr>
      </p:pic>
      <p:sp>
        <p:nvSpPr>
          <p:cNvPr id="488" name="Google Shape;488;p46"/>
          <p:cNvSpPr txBox="1"/>
          <p:nvPr/>
        </p:nvSpPr>
        <p:spPr>
          <a:xfrm>
            <a:off x="225750" y="1009538"/>
            <a:ext cx="529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2200">
                <a:solidFill>
                  <a:schemeClr val="dk1"/>
                </a:solidFill>
              </a:rPr>
              <a:t>⚡</a:t>
            </a:r>
            <a:r>
              <a:rPr lang="fr" sz="1100">
                <a:solidFill>
                  <a:schemeClr val="dk1"/>
                </a:solidFill>
              </a:rPr>
              <a:t> </a:t>
            </a:r>
            <a:endParaRPr/>
          </a:p>
        </p:txBody>
      </p:sp>
      <p:sp>
        <p:nvSpPr>
          <p:cNvPr id="489" name="Google Shape;489;p46"/>
          <p:cNvSpPr txBox="1"/>
          <p:nvPr/>
        </p:nvSpPr>
        <p:spPr>
          <a:xfrm>
            <a:off x="-1009500" y="1844850"/>
            <a:ext cx="30000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fr" sz="2200">
                <a:solidFill>
                  <a:schemeClr val="dk1"/>
                </a:solidFill>
              </a:rPr>
              <a:t>📈</a:t>
            </a:r>
            <a:endParaRPr sz="2200">
              <a:solidFill>
                <a:schemeClr val="dk1"/>
              </a:solidFill>
            </a:endParaRPr>
          </a:p>
        </p:txBody>
      </p:sp>
      <p:pic>
        <p:nvPicPr>
          <p:cNvPr id="490" name="Google Shape;490;p46"/>
          <p:cNvPicPr preferRelativeResize="0"/>
          <p:nvPr/>
        </p:nvPicPr>
        <p:blipFill>
          <a:blip r:embed="rId8">
            <a:alphaModFix/>
          </a:blip>
          <a:stretch>
            <a:fillRect/>
          </a:stretch>
        </p:blipFill>
        <p:spPr>
          <a:xfrm>
            <a:off x="5367700" y="2818025"/>
            <a:ext cx="3302100" cy="2201101"/>
          </a:xfrm>
          <a:prstGeom prst="rect">
            <a:avLst/>
          </a:prstGeom>
          <a:noFill/>
          <a:ln>
            <a:noFill/>
          </a:ln>
        </p:spPr>
      </p:pic>
      <p:pic>
        <p:nvPicPr>
          <p:cNvPr id="491" name="Google Shape;491;p46"/>
          <p:cNvPicPr preferRelativeResize="0"/>
          <p:nvPr/>
        </p:nvPicPr>
        <p:blipFill>
          <a:blip r:embed="rId9">
            <a:alphaModFix/>
          </a:blip>
          <a:stretch>
            <a:fillRect/>
          </a:stretch>
        </p:blipFill>
        <p:spPr>
          <a:xfrm>
            <a:off x="5367700" y="2818025"/>
            <a:ext cx="3302100" cy="2201100"/>
          </a:xfrm>
          <a:prstGeom prst="rect">
            <a:avLst/>
          </a:prstGeom>
          <a:noFill/>
          <a:ln>
            <a:noFill/>
          </a:ln>
        </p:spPr>
      </p:pic>
      <p:sp>
        <p:nvSpPr>
          <p:cNvPr id="492" name="Google Shape;492;p46"/>
          <p:cNvSpPr txBox="1"/>
          <p:nvPr/>
        </p:nvSpPr>
        <p:spPr>
          <a:xfrm>
            <a:off x="135625" y="-44125"/>
            <a:ext cx="704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2100">
                <a:solidFill>
                  <a:srgbClr val="FF0000"/>
                </a:solidFill>
                <a:latin typeface="Calibri"/>
                <a:ea typeface="Calibri"/>
                <a:cs typeface="Calibri"/>
                <a:sym typeface="Calibri"/>
              </a:rPr>
              <a:t>EYA</a:t>
            </a:r>
            <a:endParaRPr b="1" sz="2100">
              <a:solidFill>
                <a:srgbClr val="FF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47"/>
          <p:cNvSpPr txBox="1"/>
          <p:nvPr>
            <p:ph type="title"/>
          </p:nvPr>
        </p:nvSpPr>
        <p:spPr>
          <a:xfrm>
            <a:off x="254725" y="9"/>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fr" sz="3000">
                <a:solidFill>
                  <a:srgbClr val="BF9000"/>
                </a:solidFill>
                <a:latin typeface="Algerian"/>
                <a:ea typeface="Algerian"/>
                <a:cs typeface="Algerian"/>
                <a:sym typeface="Algerian"/>
              </a:rPr>
              <a:t>Optimisation Énergie – MPPT</a:t>
            </a:r>
            <a:endParaRPr/>
          </a:p>
        </p:txBody>
      </p:sp>
      <p:pic>
        <p:nvPicPr>
          <p:cNvPr id="498" name="Google Shape;498;p47"/>
          <p:cNvPicPr preferRelativeResize="0"/>
          <p:nvPr/>
        </p:nvPicPr>
        <p:blipFill>
          <a:blip r:embed="rId3">
            <a:alphaModFix amt="20000"/>
          </a:blip>
          <a:stretch>
            <a:fillRect/>
          </a:stretch>
        </p:blipFill>
        <p:spPr>
          <a:xfrm>
            <a:off x="4572000" y="1362600"/>
            <a:ext cx="3516826" cy="2826327"/>
          </a:xfrm>
          <a:prstGeom prst="rect">
            <a:avLst/>
          </a:prstGeom>
          <a:noFill/>
          <a:ln cap="flat" cmpd="sng" w="19050">
            <a:solidFill>
              <a:srgbClr val="9C6700"/>
            </a:solidFill>
            <a:prstDash val="solid"/>
            <a:round/>
            <a:headEnd len="sm" w="sm" type="none"/>
            <a:tailEnd len="sm" w="sm" type="none"/>
          </a:ln>
        </p:spPr>
      </p:pic>
      <p:pic>
        <p:nvPicPr>
          <p:cNvPr id="499" name="Google Shape;499;p47"/>
          <p:cNvPicPr preferRelativeResize="0"/>
          <p:nvPr/>
        </p:nvPicPr>
        <p:blipFill>
          <a:blip r:embed="rId4">
            <a:alphaModFix/>
          </a:blip>
          <a:stretch>
            <a:fillRect/>
          </a:stretch>
        </p:blipFill>
        <p:spPr>
          <a:xfrm>
            <a:off x="449625" y="993587"/>
            <a:ext cx="3351125" cy="3719625"/>
          </a:xfrm>
          <a:prstGeom prst="rect">
            <a:avLst/>
          </a:prstGeom>
          <a:noFill/>
          <a:ln>
            <a:noFill/>
          </a:ln>
        </p:spPr>
      </p:pic>
      <p:sp>
        <p:nvSpPr>
          <p:cNvPr id="500" name="Google Shape;500;p47"/>
          <p:cNvSpPr txBox="1"/>
          <p:nvPr/>
        </p:nvSpPr>
        <p:spPr>
          <a:xfrm>
            <a:off x="4572000" y="1678488"/>
            <a:ext cx="3799200" cy="237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200">
                <a:solidFill>
                  <a:srgbClr val="285631"/>
                </a:solidFill>
                <a:latin typeface="Calibri"/>
                <a:ea typeface="Calibri"/>
                <a:cs typeface="Calibri"/>
                <a:sym typeface="Calibri"/>
              </a:rPr>
              <a:t>=&gt;</a:t>
            </a:r>
            <a:r>
              <a:rPr lang="fr" sz="1200">
                <a:solidFill>
                  <a:srgbClr val="16213E"/>
                </a:solidFill>
                <a:latin typeface="Calibri"/>
                <a:ea typeface="Calibri"/>
                <a:cs typeface="Calibri"/>
                <a:sym typeface="Calibri"/>
              </a:rPr>
              <a:t> Cycle </a:t>
            </a:r>
            <a:r>
              <a:rPr b="1" lang="fr" sz="1200">
                <a:solidFill>
                  <a:srgbClr val="16213E"/>
                </a:solidFill>
                <a:latin typeface="Calibri"/>
                <a:ea typeface="Calibri"/>
                <a:cs typeface="Calibri"/>
                <a:sym typeface="Calibri"/>
              </a:rPr>
              <a:t>toutes les 3 secondes</a:t>
            </a:r>
            <a:endParaRPr b="1" sz="1200">
              <a:solidFill>
                <a:srgbClr val="16213E"/>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rgbClr val="16213E"/>
              </a:solidFill>
              <a:latin typeface="Calibri"/>
              <a:ea typeface="Calibri"/>
              <a:cs typeface="Calibri"/>
              <a:sym typeface="Calibri"/>
            </a:endParaRPr>
          </a:p>
          <a:p>
            <a:pPr indent="0" lvl="0" marL="0" rtl="0" algn="l">
              <a:lnSpc>
                <a:spcPct val="115000"/>
              </a:lnSpc>
              <a:spcBef>
                <a:spcPts val="0"/>
              </a:spcBef>
              <a:spcAft>
                <a:spcPts val="0"/>
              </a:spcAft>
              <a:buNone/>
            </a:pPr>
            <a:r>
              <a:rPr b="1" lang="fr" sz="1200">
                <a:solidFill>
                  <a:srgbClr val="285631"/>
                </a:solidFill>
                <a:latin typeface="Calibri"/>
                <a:ea typeface="Calibri"/>
                <a:cs typeface="Calibri"/>
                <a:sym typeface="Calibri"/>
              </a:rPr>
              <a:t>=&gt;</a:t>
            </a:r>
            <a:r>
              <a:rPr b="1" lang="fr" sz="1200">
                <a:solidFill>
                  <a:srgbClr val="16213E"/>
                </a:solidFill>
                <a:latin typeface="Calibri"/>
                <a:ea typeface="Calibri"/>
                <a:cs typeface="Calibri"/>
                <a:sym typeface="Calibri"/>
              </a:rPr>
              <a:t> Filtre seuils : </a:t>
            </a:r>
            <a:r>
              <a:rPr lang="fr" sz="1200">
                <a:solidFill>
                  <a:srgbClr val="16213E"/>
                </a:solidFill>
                <a:latin typeface="Calibri"/>
                <a:ea typeface="Calibri"/>
                <a:cs typeface="Calibri"/>
                <a:sym typeface="Calibri"/>
              </a:rPr>
              <a:t>|dP| &gt; 50 mW ET |dV| &gt; 10 mV</a:t>
            </a:r>
            <a:endParaRPr sz="1200">
              <a:solidFill>
                <a:srgbClr val="16213E"/>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rgbClr val="16213E"/>
              </a:solidFill>
              <a:latin typeface="Calibri"/>
              <a:ea typeface="Calibri"/>
              <a:cs typeface="Calibri"/>
              <a:sym typeface="Calibri"/>
            </a:endParaRPr>
          </a:p>
          <a:p>
            <a:pPr indent="0" lvl="0" marL="0" rtl="0" algn="l">
              <a:lnSpc>
                <a:spcPct val="115000"/>
              </a:lnSpc>
              <a:spcBef>
                <a:spcPts val="0"/>
              </a:spcBef>
              <a:spcAft>
                <a:spcPts val="0"/>
              </a:spcAft>
              <a:buNone/>
            </a:pPr>
            <a:r>
              <a:rPr b="1" lang="fr" sz="1200">
                <a:solidFill>
                  <a:srgbClr val="285631"/>
                </a:solidFill>
                <a:latin typeface="Calibri"/>
                <a:ea typeface="Calibri"/>
                <a:cs typeface="Calibri"/>
                <a:sym typeface="Calibri"/>
              </a:rPr>
              <a:t>=&gt; </a:t>
            </a:r>
            <a:r>
              <a:rPr b="1" lang="fr" sz="1200">
                <a:solidFill>
                  <a:srgbClr val="16213E"/>
                </a:solidFill>
                <a:latin typeface="Calibri"/>
                <a:ea typeface="Calibri"/>
                <a:cs typeface="Calibri"/>
                <a:sym typeface="Calibri"/>
              </a:rPr>
              <a:t>alpha </a:t>
            </a:r>
            <a:r>
              <a:rPr lang="fr" sz="1200">
                <a:solidFill>
                  <a:srgbClr val="16213E"/>
                </a:solidFill>
                <a:latin typeface="Calibri"/>
                <a:ea typeface="Calibri"/>
                <a:cs typeface="Calibri"/>
                <a:sym typeface="Calibri"/>
              </a:rPr>
              <a:t>limité entre 0.05 et 0.95 (</a:t>
            </a:r>
            <a:r>
              <a:rPr i="1" lang="fr" sz="1200">
                <a:solidFill>
                  <a:srgbClr val="16213E"/>
                </a:solidFill>
                <a:latin typeface="Calibri"/>
                <a:ea typeface="Calibri"/>
                <a:cs typeface="Calibri"/>
                <a:sym typeface="Calibri"/>
              </a:rPr>
              <a:t>jamais 0% ni 100%</a:t>
            </a:r>
            <a:r>
              <a:rPr lang="fr" sz="1200">
                <a:solidFill>
                  <a:srgbClr val="16213E"/>
                </a:solidFill>
                <a:latin typeface="Calibri"/>
                <a:ea typeface="Calibri"/>
                <a:cs typeface="Calibri"/>
                <a:sym typeface="Calibri"/>
              </a:rPr>
              <a:t>)</a:t>
            </a:r>
            <a:endParaRPr sz="1200">
              <a:solidFill>
                <a:srgbClr val="16213E"/>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rgbClr val="16213E"/>
              </a:solidFill>
              <a:latin typeface="Calibri"/>
              <a:ea typeface="Calibri"/>
              <a:cs typeface="Calibri"/>
              <a:sym typeface="Calibri"/>
            </a:endParaRPr>
          </a:p>
          <a:p>
            <a:pPr indent="0" lvl="0" marL="0" rtl="0" algn="l">
              <a:lnSpc>
                <a:spcPct val="115000"/>
              </a:lnSpc>
              <a:spcBef>
                <a:spcPts val="0"/>
              </a:spcBef>
              <a:spcAft>
                <a:spcPts val="0"/>
              </a:spcAft>
              <a:buNone/>
            </a:pPr>
            <a:r>
              <a:rPr b="1" lang="fr" sz="1200">
                <a:solidFill>
                  <a:srgbClr val="285631"/>
                </a:solidFill>
                <a:latin typeface="Calibri"/>
                <a:ea typeface="Calibri"/>
                <a:cs typeface="Calibri"/>
                <a:sym typeface="Calibri"/>
              </a:rPr>
              <a:t>=&gt; </a:t>
            </a:r>
            <a:r>
              <a:rPr b="1" lang="fr" sz="1200">
                <a:solidFill>
                  <a:srgbClr val="16213E"/>
                </a:solidFill>
                <a:latin typeface="Calibri"/>
                <a:ea typeface="Calibri"/>
                <a:cs typeface="Calibri"/>
                <a:sym typeface="Calibri"/>
              </a:rPr>
              <a:t>delta </a:t>
            </a:r>
            <a:r>
              <a:rPr lang="fr" sz="1200">
                <a:solidFill>
                  <a:srgbClr val="16213E"/>
                </a:solidFill>
                <a:latin typeface="Calibri"/>
                <a:ea typeface="Calibri"/>
                <a:cs typeface="Calibri"/>
                <a:sym typeface="Calibri"/>
              </a:rPr>
              <a:t>= 0.02 → </a:t>
            </a:r>
            <a:r>
              <a:rPr i="1" lang="fr" sz="1200">
                <a:solidFill>
                  <a:srgbClr val="16213E"/>
                </a:solidFill>
                <a:latin typeface="Calibri"/>
                <a:ea typeface="Calibri"/>
                <a:cs typeface="Calibri"/>
                <a:sym typeface="Calibri"/>
              </a:rPr>
              <a:t>convergence </a:t>
            </a:r>
            <a:r>
              <a:rPr lang="fr" sz="1200">
                <a:solidFill>
                  <a:srgbClr val="16213E"/>
                </a:solidFill>
                <a:latin typeface="Calibri"/>
                <a:ea typeface="Calibri"/>
                <a:cs typeface="Calibri"/>
                <a:sym typeface="Calibri"/>
              </a:rPr>
              <a:t>progressive et stable</a:t>
            </a:r>
            <a:endParaRPr sz="1200">
              <a:solidFill>
                <a:srgbClr val="16213E"/>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rgbClr val="16213E"/>
              </a:solidFill>
              <a:latin typeface="Calibri"/>
              <a:ea typeface="Calibri"/>
              <a:cs typeface="Calibri"/>
              <a:sym typeface="Calibri"/>
            </a:endParaRPr>
          </a:p>
          <a:p>
            <a:pPr indent="0" lvl="0" marL="0" rtl="0" algn="l">
              <a:lnSpc>
                <a:spcPct val="115000"/>
              </a:lnSpc>
              <a:spcBef>
                <a:spcPts val="0"/>
              </a:spcBef>
              <a:spcAft>
                <a:spcPts val="0"/>
              </a:spcAft>
              <a:buNone/>
            </a:pPr>
            <a:r>
              <a:rPr b="1" lang="fr" sz="1200">
                <a:solidFill>
                  <a:srgbClr val="285631"/>
                </a:solidFill>
                <a:latin typeface="Calibri"/>
                <a:ea typeface="Calibri"/>
                <a:cs typeface="Calibri"/>
                <a:sym typeface="Calibri"/>
              </a:rPr>
              <a:t>=&gt;</a:t>
            </a:r>
            <a:r>
              <a:rPr lang="fr" sz="1200">
                <a:solidFill>
                  <a:srgbClr val="16213E"/>
                </a:solidFill>
                <a:latin typeface="Calibri"/>
                <a:ea typeface="Calibri"/>
                <a:cs typeface="Calibri"/>
                <a:sym typeface="Calibri"/>
              </a:rPr>
              <a:t> Évite les faux mouvements dus au bruit de mesure</a:t>
            </a:r>
            <a:endParaRPr sz="1200">
              <a:solidFill>
                <a:srgbClr val="16213E"/>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501" name="Google Shape;501;p47"/>
          <p:cNvSpPr txBox="1"/>
          <p:nvPr/>
        </p:nvSpPr>
        <p:spPr>
          <a:xfrm>
            <a:off x="135625" y="-44125"/>
            <a:ext cx="704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2100">
                <a:solidFill>
                  <a:srgbClr val="FF0000"/>
                </a:solidFill>
                <a:latin typeface="Calibri"/>
                <a:ea typeface="Calibri"/>
                <a:cs typeface="Calibri"/>
                <a:sym typeface="Calibri"/>
              </a:rPr>
              <a:t>EYA</a:t>
            </a:r>
            <a:endParaRPr b="1" sz="2100">
              <a:solidFill>
                <a:srgbClr val="FF0000"/>
              </a:solidFill>
              <a:latin typeface="Calibri"/>
              <a:ea typeface="Calibri"/>
              <a:cs typeface="Calibri"/>
              <a:sym typeface="Calibri"/>
            </a:endParaRPr>
          </a:p>
        </p:txBody>
      </p:sp>
      <p:pic>
        <p:nvPicPr>
          <p:cNvPr id="502" name="Google Shape;502;p47"/>
          <p:cNvPicPr preferRelativeResize="0"/>
          <p:nvPr/>
        </p:nvPicPr>
        <p:blipFill rotWithShape="1">
          <a:blip r:embed="rId5">
            <a:alphaModFix/>
          </a:blip>
          <a:srcRect b="26162" l="3048" r="75930" t="46657"/>
          <a:stretch/>
        </p:blipFill>
        <p:spPr>
          <a:xfrm>
            <a:off x="7934659" y="4232475"/>
            <a:ext cx="704580" cy="911025"/>
          </a:xfrm>
          <a:prstGeom prst="rect">
            <a:avLst/>
          </a:prstGeom>
          <a:noFill/>
          <a:ln>
            <a:noFill/>
          </a:ln>
        </p:spPr>
      </p:pic>
      <p:pic>
        <p:nvPicPr>
          <p:cNvPr id="503" name="Google Shape;503;p47"/>
          <p:cNvPicPr preferRelativeResize="0"/>
          <p:nvPr/>
        </p:nvPicPr>
        <p:blipFill rotWithShape="1">
          <a:blip r:embed="rId5">
            <a:alphaModFix/>
          </a:blip>
          <a:srcRect b="26162" l="3048" r="75930" t="46657"/>
          <a:stretch/>
        </p:blipFill>
        <p:spPr>
          <a:xfrm>
            <a:off x="8568823" y="4527700"/>
            <a:ext cx="476261" cy="615800"/>
          </a:xfrm>
          <a:prstGeom prst="rect">
            <a:avLst/>
          </a:prstGeom>
          <a:noFill/>
          <a:ln>
            <a:noFill/>
          </a:ln>
        </p:spPr>
      </p:pic>
      <p:pic>
        <p:nvPicPr>
          <p:cNvPr id="504" name="Google Shape;504;p47"/>
          <p:cNvPicPr preferRelativeResize="0"/>
          <p:nvPr/>
        </p:nvPicPr>
        <p:blipFill>
          <a:blip r:embed="rId6">
            <a:alphaModFix/>
          </a:blip>
          <a:stretch>
            <a:fillRect/>
          </a:stretch>
        </p:blipFill>
        <p:spPr>
          <a:xfrm>
            <a:off x="7478376" y="83975"/>
            <a:ext cx="1160874" cy="1074676"/>
          </a:xfrm>
          <a:prstGeom prst="rect">
            <a:avLst/>
          </a:prstGeom>
          <a:noFill/>
          <a:ln>
            <a:noFill/>
          </a:ln>
        </p:spPr>
      </p:pic>
      <p:pic>
        <p:nvPicPr>
          <p:cNvPr descr="ChatGPT Image 25 oct. 2025, 20_11_13" id="505" name="Google Shape;505;p47"/>
          <p:cNvPicPr preferRelativeResize="0"/>
          <p:nvPr/>
        </p:nvPicPr>
        <p:blipFill rotWithShape="1">
          <a:blip r:embed="rId7">
            <a:alphaModFix/>
          </a:blip>
          <a:srcRect b="0" l="0" r="0" t="0"/>
          <a:stretch/>
        </p:blipFill>
        <p:spPr>
          <a:xfrm>
            <a:off x="4264105" y="4527709"/>
            <a:ext cx="615791" cy="615791"/>
          </a:xfrm>
          <a:prstGeom prst="rect">
            <a:avLst/>
          </a:prstGeom>
          <a:noFill/>
          <a:ln>
            <a:noFill/>
          </a:ln>
        </p:spPr>
      </p:pic>
      <p:sp>
        <p:nvSpPr>
          <p:cNvPr id="506" name="Google Shape;506;p47"/>
          <p:cNvSpPr txBox="1"/>
          <p:nvPr/>
        </p:nvSpPr>
        <p:spPr>
          <a:xfrm>
            <a:off x="4372355" y="4685600"/>
            <a:ext cx="3993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22</a:t>
            </a:r>
            <a:endParaRPr b="1" sz="1500">
              <a:solidFill>
                <a:srgbClr val="7F6000"/>
              </a:solidFill>
              <a:latin typeface="Arial Rounded"/>
              <a:ea typeface="Arial Rounded"/>
              <a:cs typeface="Arial Rounded"/>
              <a:sym typeface="Arial Rounde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8"/>
          <p:cNvSpPr txBox="1"/>
          <p:nvPr>
            <p:ph type="title"/>
          </p:nvPr>
        </p:nvSpPr>
        <p:spPr>
          <a:xfrm>
            <a:off x="254725" y="9"/>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fr" sz="3000">
                <a:solidFill>
                  <a:srgbClr val="BF9000"/>
                </a:solidFill>
                <a:latin typeface="Algerian"/>
                <a:ea typeface="Algerian"/>
                <a:cs typeface="Algerian"/>
                <a:sym typeface="Algerian"/>
              </a:rPr>
              <a:t>Optimisation Énergie – MPPT</a:t>
            </a:r>
            <a:endParaRPr/>
          </a:p>
        </p:txBody>
      </p:sp>
      <p:sp>
        <p:nvSpPr>
          <p:cNvPr id="512" name="Google Shape;512;p48"/>
          <p:cNvSpPr txBox="1"/>
          <p:nvPr/>
        </p:nvSpPr>
        <p:spPr>
          <a:xfrm>
            <a:off x="135625" y="-44125"/>
            <a:ext cx="704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2100">
                <a:solidFill>
                  <a:srgbClr val="FF0000"/>
                </a:solidFill>
                <a:latin typeface="Calibri"/>
                <a:ea typeface="Calibri"/>
                <a:cs typeface="Calibri"/>
                <a:sym typeface="Calibri"/>
              </a:rPr>
              <a:t>EYA</a:t>
            </a:r>
            <a:endParaRPr b="1" sz="2100">
              <a:solidFill>
                <a:srgbClr val="FF0000"/>
              </a:solidFill>
              <a:latin typeface="Calibri"/>
              <a:ea typeface="Calibri"/>
              <a:cs typeface="Calibri"/>
              <a:sym typeface="Calibri"/>
            </a:endParaRPr>
          </a:p>
        </p:txBody>
      </p:sp>
      <p:pic>
        <p:nvPicPr>
          <p:cNvPr id="513" name="Google Shape;513;p48"/>
          <p:cNvPicPr preferRelativeResize="0"/>
          <p:nvPr/>
        </p:nvPicPr>
        <p:blipFill>
          <a:blip r:embed="rId3">
            <a:alphaModFix/>
          </a:blip>
          <a:stretch>
            <a:fillRect/>
          </a:stretch>
        </p:blipFill>
        <p:spPr>
          <a:xfrm>
            <a:off x="363599" y="1099950"/>
            <a:ext cx="8416800" cy="3684601"/>
          </a:xfrm>
          <a:prstGeom prst="rect">
            <a:avLst/>
          </a:prstGeom>
          <a:noFill/>
          <a:ln>
            <a:noFill/>
          </a:ln>
        </p:spPr>
      </p:pic>
      <p:pic>
        <p:nvPicPr>
          <p:cNvPr id="514" name="Google Shape;514;p48"/>
          <p:cNvPicPr preferRelativeResize="0"/>
          <p:nvPr/>
        </p:nvPicPr>
        <p:blipFill>
          <a:blip r:embed="rId4">
            <a:alphaModFix/>
          </a:blip>
          <a:stretch>
            <a:fillRect/>
          </a:stretch>
        </p:blipFill>
        <p:spPr>
          <a:xfrm>
            <a:off x="3207100" y="3722300"/>
            <a:ext cx="704600" cy="704600"/>
          </a:xfrm>
          <a:prstGeom prst="rect">
            <a:avLst/>
          </a:prstGeom>
          <a:noFill/>
          <a:ln>
            <a:noFill/>
          </a:ln>
        </p:spPr>
      </p:pic>
      <p:pic>
        <p:nvPicPr>
          <p:cNvPr id="515" name="Google Shape;515;p48"/>
          <p:cNvPicPr preferRelativeResize="0"/>
          <p:nvPr/>
        </p:nvPicPr>
        <p:blipFill>
          <a:blip r:embed="rId5">
            <a:alphaModFix/>
          </a:blip>
          <a:stretch>
            <a:fillRect/>
          </a:stretch>
        </p:blipFill>
        <p:spPr>
          <a:xfrm>
            <a:off x="7479775" y="3450225"/>
            <a:ext cx="1248750" cy="1248750"/>
          </a:xfrm>
          <a:prstGeom prst="rect">
            <a:avLst/>
          </a:prstGeom>
          <a:noFill/>
          <a:ln>
            <a:noFill/>
          </a:ln>
        </p:spPr>
      </p:pic>
      <p:pic>
        <p:nvPicPr>
          <p:cNvPr id="516" name="Google Shape;516;p48"/>
          <p:cNvPicPr preferRelativeResize="0"/>
          <p:nvPr/>
        </p:nvPicPr>
        <p:blipFill rotWithShape="1">
          <a:blip r:embed="rId6">
            <a:alphaModFix/>
          </a:blip>
          <a:srcRect b="26162" l="3048" r="75930" t="46657"/>
          <a:stretch/>
        </p:blipFill>
        <p:spPr>
          <a:xfrm>
            <a:off x="8030112" y="4232475"/>
            <a:ext cx="704580" cy="911025"/>
          </a:xfrm>
          <a:prstGeom prst="rect">
            <a:avLst/>
          </a:prstGeom>
          <a:noFill/>
          <a:ln>
            <a:noFill/>
          </a:ln>
        </p:spPr>
      </p:pic>
      <p:pic>
        <p:nvPicPr>
          <p:cNvPr id="517" name="Google Shape;517;p48"/>
          <p:cNvPicPr preferRelativeResize="0"/>
          <p:nvPr/>
        </p:nvPicPr>
        <p:blipFill rotWithShape="1">
          <a:blip r:embed="rId6">
            <a:alphaModFix/>
          </a:blip>
          <a:srcRect b="26162" l="3048" r="75930" t="46657"/>
          <a:stretch/>
        </p:blipFill>
        <p:spPr>
          <a:xfrm>
            <a:off x="8606826" y="4527700"/>
            <a:ext cx="476261" cy="615800"/>
          </a:xfrm>
          <a:prstGeom prst="rect">
            <a:avLst/>
          </a:prstGeom>
          <a:noFill/>
          <a:ln>
            <a:noFill/>
          </a:ln>
        </p:spPr>
      </p:pic>
      <p:pic>
        <p:nvPicPr>
          <p:cNvPr id="518" name="Google Shape;518;p48"/>
          <p:cNvPicPr preferRelativeResize="0"/>
          <p:nvPr/>
        </p:nvPicPr>
        <p:blipFill>
          <a:blip r:embed="rId7">
            <a:alphaModFix/>
          </a:blip>
          <a:stretch>
            <a:fillRect/>
          </a:stretch>
        </p:blipFill>
        <p:spPr>
          <a:xfrm>
            <a:off x="5905949" y="3941725"/>
            <a:ext cx="704700" cy="704700"/>
          </a:xfrm>
          <a:prstGeom prst="rect">
            <a:avLst/>
          </a:prstGeom>
          <a:noFill/>
          <a:ln>
            <a:noFill/>
          </a:ln>
        </p:spPr>
      </p:pic>
      <p:pic>
        <p:nvPicPr>
          <p:cNvPr id="519" name="Google Shape;519;p48"/>
          <p:cNvPicPr preferRelativeResize="0"/>
          <p:nvPr/>
        </p:nvPicPr>
        <p:blipFill>
          <a:blip r:embed="rId8">
            <a:alphaModFix/>
          </a:blip>
          <a:stretch>
            <a:fillRect/>
          </a:stretch>
        </p:blipFill>
        <p:spPr>
          <a:xfrm>
            <a:off x="2816972" y="1577550"/>
            <a:ext cx="1297826" cy="994200"/>
          </a:xfrm>
          <a:prstGeom prst="rect">
            <a:avLst/>
          </a:prstGeom>
          <a:noFill/>
          <a:ln>
            <a:noFill/>
          </a:ln>
        </p:spPr>
      </p:pic>
      <p:pic>
        <p:nvPicPr>
          <p:cNvPr id="520" name="Google Shape;520;p48"/>
          <p:cNvPicPr preferRelativeResize="0"/>
          <p:nvPr/>
        </p:nvPicPr>
        <p:blipFill>
          <a:blip r:embed="rId9">
            <a:alphaModFix/>
          </a:blip>
          <a:stretch>
            <a:fillRect/>
          </a:stretch>
        </p:blipFill>
        <p:spPr>
          <a:xfrm rot="752170">
            <a:off x="7051173" y="51926"/>
            <a:ext cx="994204" cy="994204"/>
          </a:xfrm>
          <a:prstGeom prst="rect">
            <a:avLst/>
          </a:prstGeom>
          <a:noFill/>
          <a:ln>
            <a:noFill/>
          </a:ln>
        </p:spPr>
      </p:pic>
      <p:pic>
        <p:nvPicPr>
          <p:cNvPr id="521" name="Google Shape;521;p48"/>
          <p:cNvPicPr preferRelativeResize="0"/>
          <p:nvPr/>
        </p:nvPicPr>
        <p:blipFill>
          <a:blip r:embed="rId10">
            <a:alphaModFix/>
          </a:blip>
          <a:stretch>
            <a:fillRect/>
          </a:stretch>
        </p:blipFill>
        <p:spPr>
          <a:xfrm>
            <a:off x="7706155" y="1775719"/>
            <a:ext cx="795990" cy="796026"/>
          </a:xfrm>
          <a:prstGeom prst="rect">
            <a:avLst/>
          </a:prstGeom>
          <a:noFill/>
          <a:ln>
            <a:noFill/>
          </a:ln>
        </p:spPr>
      </p:pic>
      <p:pic>
        <p:nvPicPr>
          <p:cNvPr id="522" name="Google Shape;522;p48"/>
          <p:cNvPicPr preferRelativeResize="0"/>
          <p:nvPr/>
        </p:nvPicPr>
        <p:blipFill>
          <a:blip r:embed="rId11">
            <a:alphaModFix/>
          </a:blip>
          <a:stretch>
            <a:fillRect/>
          </a:stretch>
        </p:blipFill>
        <p:spPr>
          <a:xfrm>
            <a:off x="1379401" y="3896076"/>
            <a:ext cx="796000" cy="796000"/>
          </a:xfrm>
          <a:prstGeom prst="rect">
            <a:avLst/>
          </a:prstGeom>
          <a:noFill/>
          <a:ln>
            <a:noFill/>
          </a:ln>
        </p:spPr>
      </p:pic>
      <p:pic>
        <p:nvPicPr>
          <p:cNvPr descr="ChatGPT Image 25 oct. 2025, 20_11_13" id="523" name="Google Shape;523;p48"/>
          <p:cNvPicPr preferRelativeResize="0"/>
          <p:nvPr/>
        </p:nvPicPr>
        <p:blipFill rotWithShape="1">
          <a:blip r:embed="rId12">
            <a:alphaModFix/>
          </a:blip>
          <a:srcRect b="0" l="0" r="0" t="0"/>
          <a:stretch/>
        </p:blipFill>
        <p:spPr>
          <a:xfrm>
            <a:off x="4220780" y="4527709"/>
            <a:ext cx="615791" cy="615791"/>
          </a:xfrm>
          <a:prstGeom prst="rect">
            <a:avLst/>
          </a:prstGeom>
          <a:noFill/>
          <a:ln>
            <a:noFill/>
          </a:ln>
        </p:spPr>
      </p:pic>
      <p:sp>
        <p:nvSpPr>
          <p:cNvPr id="524" name="Google Shape;524;p48"/>
          <p:cNvSpPr txBox="1"/>
          <p:nvPr/>
        </p:nvSpPr>
        <p:spPr>
          <a:xfrm>
            <a:off x="4329030" y="4685600"/>
            <a:ext cx="3993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23</a:t>
            </a:r>
            <a:endParaRPr b="1" sz="1500">
              <a:solidFill>
                <a:srgbClr val="7F6000"/>
              </a:solidFill>
              <a:latin typeface="Arial Rounded"/>
              <a:ea typeface="Arial Rounded"/>
              <a:cs typeface="Arial Rounded"/>
              <a:sym typeface="Arial Rounde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pic>
        <p:nvPicPr>
          <p:cNvPr descr="ChatGPT Image 25 oct. 2025, 20_11_13" id="529" name="Google Shape;529;p49"/>
          <p:cNvPicPr preferRelativeResize="0"/>
          <p:nvPr/>
        </p:nvPicPr>
        <p:blipFill rotWithShape="1">
          <a:blip r:embed="rId3">
            <a:alphaModFix/>
          </a:blip>
          <a:srcRect b="0" l="0" r="0" t="0"/>
          <a:stretch/>
        </p:blipFill>
        <p:spPr>
          <a:xfrm>
            <a:off x="4264343" y="4527709"/>
            <a:ext cx="615791" cy="615791"/>
          </a:xfrm>
          <a:prstGeom prst="rect">
            <a:avLst/>
          </a:prstGeom>
          <a:noFill/>
          <a:ln>
            <a:noFill/>
          </a:ln>
        </p:spPr>
      </p:pic>
      <p:sp>
        <p:nvSpPr>
          <p:cNvPr id="530" name="Google Shape;530;p49"/>
          <p:cNvSpPr txBox="1"/>
          <p:nvPr/>
        </p:nvSpPr>
        <p:spPr>
          <a:xfrm>
            <a:off x="4353100" y="4686300"/>
            <a:ext cx="4194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24</a:t>
            </a:r>
            <a:endParaRPr b="1" sz="1500">
              <a:solidFill>
                <a:srgbClr val="7F6000"/>
              </a:solidFill>
              <a:latin typeface="Arial Rounded"/>
              <a:ea typeface="Arial Rounded"/>
              <a:cs typeface="Arial Rounded"/>
              <a:sym typeface="Arial Rounded"/>
            </a:endParaRPr>
          </a:p>
        </p:txBody>
      </p:sp>
      <p:sp>
        <p:nvSpPr>
          <p:cNvPr id="531" name="Google Shape;531;p49"/>
          <p:cNvSpPr txBox="1"/>
          <p:nvPr/>
        </p:nvSpPr>
        <p:spPr>
          <a:xfrm>
            <a:off x="347275" y="930175"/>
            <a:ext cx="7325100" cy="2835900"/>
          </a:xfrm>
          <a:prstGeom prst="rect">
            <a:avLst/>
          </a:prstGeom>
          <a:noFill/>
          <a:ln>
            <a:noFill/>
          </a:ln>
        </p:spPr>
        <p:txBody>
          <a:bodyPr anchorCtr="0" anchor="t" bIns="34275" lIns="68575" spcFirstLastPara="1" rIns="68575" wrap="square" tIns="34275">
            <a:noAutofit/>
          </a:bodyPr>
          <a:lstStyle/>
          <a:p>
            <a:pPr indent="-317500" lvl="0" marL="457200" rtl="0" algn="l">
              <a:lnSpc>
                <a:spcPct val="115000"/>
              </a:lnSpc>
              <a:spcBef>
                <a:spcPts val="1200"/>
              </a:spcBef>
              <a:spcAft>
                <a:spcPts val="0"/>
              </a:spcAft>
              <a:buClr>
                <a:schemeClr val="dk1"/>
              </a:buClr>
              <a:buSzPts val="1400"/>
              <a:buChar char="•"/>
            </a:pPr>
            <a:r>
              <a:rPr lang="fr">
                <a:solidFill>
                  <a:schemeClr val="dk1"/>
                </a:solidFill>
                <a:latin typeface="Calibri"/>
                <a:ea typeface="Calibri"/>
                <a:cs typeface="Calibri"/>
                <a:sym typeface="Calibri"/>
              </a:rPr>
              <a:t>Utilisation des fonctions LEDC (LED Controller) natives du microcontrôleur.</a:t>
            </a:r>
            <a:endParaRPr>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t/>
            </a:r>
            <a:endParaRPr>
              <a:solidFill>
                <a:schemeClr val="dk1"/>
              </a:solidFill>
              <a:latin typeface="Calibri"/>
              <a:ea typeface="Calibri"/>
              <a:cs typeface="Calibri"/>
              <a:sym typeface="Calibri"/>
            </a:endParaRPr>
          </a:p>
        </p:txBody>
      </p:sp>
      <p:pic>
        <p:nvPicPr>
          <p:cNvPr id="532" name="Google Shape;532;p49"/>
          <p:cNvPicPr preferRelativeResize="0"/>
          <p:nvPr/>
        </p:nvPicPr>
        <p:blipFill rotWithShape="1">
          <a:blip r:embed="rId4">
            <a:alphaModFix/>
          </a:blip>
          <a:srcRect b="26162" l="3048" r="75930" t="46657"/>
          <a:stretch/>
        </p:blipFill>
        <p:spPr>
          <a:xfrm>
            <a:off x="138209" y="4232475"/>
            <a:ext cx="704580" cy="911025"/>
          </a:xfrm>
          <a:prstGeom prst="rect">
            <a:avLst/>
          </a:prstGeom>
          <a:noFill/>
          <a:ln>
            <a:noFill/>
          </a:ln>
        </p:spPr>
      </p:pic>
      <p:pic>
        <p:nvPicPr>
          <p:cNvPr id="533" name="Google Shape;533;p49"/>
          <p:cNvPicPr preferRelativeResize="0"/>
          <p:nvPr/>
        </p:nvPicPr>
        <p:blipFill rotWithShape="1">
          <a:blip r:embed="rId4">
            <a:alphaModFix/>
          </a:blip>
          <a:srcRect b="26162" l="3048" r="75930" t="46657"/>
          <a:stretch/>
        </p:blipFill>
        <p:spPr>
          <a:xfrm>
            <a:off x="772373" y="4527700"/>
            <a:ext cx="476261" cy="615800"/>
          </a:xfrm>
          <a:prstGeom prst="rect">
            <a:avLst/>
          </a:prstGeom>
          <a:noFill/>
          <a:ln>
            <a:noFill/>
          </a:ln>
        </p:spPr>
      </p:pic>
      <p:sp>
        <p:nvSpPr>
          <p:cNvPr id="534" name="Google Shape;534;p49"/>
          <p:cNvSpPr txBox="1"/>
          <p:nvPr>
            <p:ph type="title"/>
          </p:nvPr>
        </p:nvSpPr>
        <p:spPr>
          <a:xfrm>
            <a:off x="232338" y="0"/>
            <a:ext cx="8621400" cy="9942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Font typeface="Arial"/>
              <a:buNone/>
            </a:pPr>
            <a:r>
              <a:rPr lang="fr" sz="3000">
                <a:solidFill>
                  <a:srgbClr val="BF9000"/>
                </a:solidFill>
                <a:latin typeface="Algerian"/>
                <a:ea typeface="Algerian"/>
                <a:cs typeface="Algerian"/>
                <a:sym typeface="Algerian"/>
              </a:rPr>
              <a:t>Optimisation Énergie – MPPT</a:t>
            </a:r>
            <a:endParaRPr sz="3000">
              <a:solidFill>
                <a:srgbClr val="BF9000"/>
              </a:solidFill>
              <a:latin typeface="Algerian"/>
              <a:ea typeface="Algerian"/>
              <a:cs typeface="Algerian"/>
              <a:sym typeface="Algerian"/>
            </a:endParaRPr>
          </a:p>
        </p:txBody>
      </p:sp>
      <p:graphicFrame>
        <p:nvGraphicFramePr>
          <p:cNvPr id="535" name="Google Shape;535;p49"/>
          <p:cNvGraphicFramePr/>
          <p:nvPr/>
        </p:nvGraphicFramePr>
        <p:xfrm>
          <a:off x="347275" y="1313925"/>
          <a:ext cx="3000000" cy="3000000"/>
        </p:xfrm>
        <a:graphic>
          <a:graphicData uri="http://schemas.openxmlformats.org/drawingml/2006/table">
            <a:tbl>
              <a:tblPr>
                <a:noFill/>
                <a:tableStyleId>{2CCCF6C4-C544-4BA1-BB67-A9EB585DDC30}</a:tableStyleId>
              </a:tblPr>
              <a:tblGrid>
                <a:gridCol w="2333625"/>
                <a:gridCol w="2752725"/>
                <a:gridCol w="3305175"/>
              </a:tblGrid>
              <a:tr h="409575">
                <a:tc>
                  <a:txBody>
                    <a:bodyPr/>
                    <a:lstStyle/>
                    <a:p>
                      <a:pPr indent="0" lvl="0" marL="0" rtl="0" algn="ctr">
                        <a:lnSpc>
                          <a:spcPct val="115000"/>
                        </a:lnSpc>
                        <a:spcBef>
                          <a:spcPts val="0"/>
                        </a:spcBef>
                        <a:spcAft>
                          <a:spcPts val="0"/>
                        </a:spcAft>
                        <a:buNone/>
                      </a:pPr>
                      <a:r>
                        <a:rPr b="1" lang="fr" sz="1200">
                          <a:solidFill>
                            <a:srgbClr val="FFFFFF"/>
                          </a:solidFill>
                          <a:latin typeface="Calibri"/>
                          <a:ea typeface="Calibri"/>
                          <a:cs typeface="Calibri"/>
                          <a:sym typeface="Calibri"/>
                        </a:rPr>
                        <a:t>Critère</a:t>
                      </a:r>
                      <a:endParaRPr b="1" sz="1200">
                        <a:solidFill>
                          <a:srgbClr val="FFFFFF"/>
                        </a:solidFill>
                        <a:latin typeface="Calibri"/>
                        <a:ea typeface="Calibri"/>
                        <a:cs typeface="Calibri"/>
                        <a:sym typeface="Calibri"/>
                      </a:endParaRPr>
                    </a:p>
                  </a:txBody>
                  <a:tcPr marT="91425" marB="91425" marR="91425" marL="91425">
                    <a:lnL cap="flat" cmpd="sng" w="9525">
                      <a:solidFill>
                        <a:srgbClr val="D4D8E8"/>
                      </a:solidFill>
                      <a:prstDash val="solid"/>
                      <a:round/>
                      <a:headEnd len="sm" w="sm" type="none"/>
                      <a:tailEnd len="sm" w="sm" type="none"/>
                    </a:lnL>
                    <a:lnR cap="flat" cmpd="sng" w="9525">
                      <a:solidFill>
                        <a:srgbClr val="D4D8E8"/>
                      </a:solidFill>
                      <a:prstDash val="solid"/>
                      <a:round/>
                      <a:headEnd len="sm" w="sm" type="none"/>
                      <a:tailEnd len="sm" w="sm" type="none"/>
                    </a:lnR>
                    <a:lnT cap="flat" cmpd="sng" w="9525">
                      <a:solidFill>
                        <a:srgbClr val="D4D8E8"/>
                      </a:solidFill>
                      <a:prstDash val="solid"/>
                      <a:round/>
                      <a:headEnd len="sm" w="sm" type="none"/>
                      <a:tailEnd len="sm" w="sm" type="none"/>
                    </a:lnT>
                    <a:lnB cap="flat" cmpd="sng" w="9525">
                      <a:solidFill>
                        <a:srgbClr val="FFD966"/>
                      </a:solidFill>
                      <a:prstDash val="solid"/>
                      <a:round/>
                      <a:headEnd len="sm" w="sm" type="none"/>
                      <a:tailEnd len="sm" w="sm" type="none"/>
                    </a:lnB>
                    <a:solidFill>
                      <a:srgbClr val="FFC000"/>
                    </a:solidFill>
                  </a:tcPr>
                </a:tc>
                <a:tc>
                  <a:txBody>
                    <a:bodyPr/>
                    <a:lstStyle/>
                    <a:p>
                      <a:pPr indent="0" lvl="0" marL="0" rtl="0" algn="ctr">
                        <a:lnSpc>
                          <a:spcPct val="115000"/>
                        </a:lnSpc>
                        <a:spcBef>
                          <a:spcPts val="0"/>
                        </a:spcBef>
                        <a:spcAft>
                          <a:spcPts val="0"/>
                        </a:spcAft>
                        <a:buNone/>
                      </a:pPr>
                      <a:r>
                        <a:rPr b="1" lang="fr" sz="1200">
                          <a:solidFill>
                            <a:srgbClr val="FFFFFF"/>
                          </a:solidFill>
                          <a:latin typeface="Calibri"/>
                          <a:ea typeface="Calibri"/>
                          <a:cs typeface="Calibri"/>
                          <a:sym typeface="Calibri"/>
                        </a:rPr>
                        <a:t>analogWrite()</a:t>
                      </a:r>
                      <a:endParaRPr b="1" sz="1200">
                        <a:solidFill>
                          <a:srgbClr val="FFFFFF"/>
                        </a:solidFill>
                        <a:latin typeface="Calibri"/>
                        <a:ea typeface="Calibri"/>
                        <a:cs typeface="Calibri"/>
                        <a:sym typeface="Calibri"/>
                      </a:endParaRPr>
                    </a:p>
                  </a:txBody>
                  <a:tcPr marT="91425" marB="91425" marR="91425" marL="91425">
                    <a:lnL cap="flat" cmpd="sng" w="9525">
                      <a:solidFill>
                        <a:srgbClr val="D4D8E8"/>
                      </a:solidFill>
                      <a:prstDash val="solid"/>
                      <a:round/>
                      <a:headEnd len="sm" w="sm" type="none"/>
                      <a:tailEnd len="sm" w="sm" type="none"/>
                    </a:lnL>
                    <a:lnR cap="flat" cmpd="sng" w="9525">
                      <a:solidFill>
                        <a:srgbClr val="D4D8E8"/>
                      </a:solidFill>
                      <a:prstDash val="solid"/>
                      <a:round/>
                      <a:headEnd len="sm" w="sm" type="none"/>
                      <a:tailEnd len="sm" w="sm" type="none"/>
                    </a:lnR>
                    <a:lnT cap="flat" cmpd="sng" w="9525">
                      <a:solidFill>
                        <a:srgbClr val="D4D8E8"/>
                      </a:solidFill>
                      <a:prstDash val="solid"/>
                      <a:round/>
                      <a:headEnd len="sm" w="sm" type="none"/>
                      <a:tailEnd len="sm" w="sm" type="none"/>
                    </a:lnT>
                    <a:lnB cap="flat" cmpd="sng" w="9525">
                      <a:solidFill>
                        <a:srgbClr val="D4D8E8"/>
                      </a:solidFill>
                      <a:prstDash val="solid"/>
                      <a:round/>
                      <a:headEnd len="sm" w="sm" type="none"/>
                      <a:tailEnd len="sm" w="sm" type="none"/>
                    </a:lnB>
                    <a:solidFill>
                      <a:srgbClr val="C2410C"/>
                    </a:solidFill>
                  </a:tcPr>
                </a:tc>
                <a:tc>
                  <a:txBody>
                    <a:bodyPr/>
                    <a:lstStyle/>
                    <a:p>
                      <a:pPr indent="0" lvl="0" marL="0" rtl="0" algn="ctr">
                        <a:lnSpc>
                          <a:spcPct val="115000"/>
                        </a:lnSpc>
                        <a:spcBef>
                          <a:spcPts val="0"/>
                        </a:spcBef>
                        <a:spcAft>
                          <a:spcPts val="0"/>
                        </a:spcAft>
                        <a:buNone/>
                      </a:pPr>
                      <a:r>
                        <a:rPr b="1" lang="fr" sz="1200">
                          <a:solidFill>
                            <a:srgbClr val="FFFFFF"/>
                          </a:solidFill>
                          <a:latin typeface="Calibri"/>
                          <a:ea typeface="Calibri"/>
                          <a:cs typeface="Calibri"/>
                          <a:sym typeface="Calibri"/>
                        </a:rPr>
                        <a:t>ledcWrite() ✓</a:t>
                      </a:r>
                      <a:endParaRPr b="1" sz="1200">
                        <a:solidFill>
                          <a:srgbClr val="FFFFFF"/>
                        </a:solidFill>
                        <a:latin typeface="Calibri"/>
                        <a:ea typeface="Calibri"/>
                        <a:cs typeface="Calibri"/>
                        <a:sym typeface="Calibri"/>
                      </a:endParaRPr>
                    </a:p>
                  </a:txBody>
                  <a:tcPr marT="91425" marB="91425" marR="91425" marL="91425">
                    <a:lnL cap="flat" cmpd="sng" w="9525">
                      <a:solidFill>
                        <a:srgbClr val="D4D8E8"/>
                      </a:solidFill>
                      <a:prstDash val="solid"/>
                      <a:round/>
                      <a:headEnd len="sm" w="sm" type="none"/>
                      <a:tailEnd len="sm" w="sm" type="none"/>
                    </a:lnL>
                    <a:lnR cap="flat" cmpd="sng" w="9525">
                      <a:solidFill>
                        <a:srgbClr val="D4D8E8"/>
                      </a:solidFill>
                      <a:prstDash val="solid"/>
                      <a:round/>
                      <a:headEnd len="sm" w="sm" type="none"/>
                      <a:tailEnd len="sm" w="sm" type="none"/>
                    </a:lnR>
                    <a:lnT cap="flat" cmpd="sng" w="9525">
                      <a:solidFill>
                        <a:srgbClr val="D4D8E8"/>
                      </a:solidFill>
                      <a:prstDash val="solid"/>
                      <a:round/>
                      <a:headEnd len="sm" w="sm" type="none"/>
                      <a:tailEnd len="sm" w="sm" type="none"/>
                    </a:lnT>
                    <a:lnB cap="flat" cmpd="sng" w="9525">
                      <a:solidFill>
                        <a:srgbClr val="D4D8E8"/>
                      </a:solidFill>
                      <a:prstDash val="solid"/>
                      <a:round/>
                      <a:headEnd len="sm" w="sm" type="none"/>
                      <a:tailEnd len="sm" w="sm" type="none"/>
                    </a:lnB>
                    <a:solidFill>
                      <a:srgbClr val="6AA84F"/>
                    </a:solidFill>
                  </a:tcPr>
                </a:tc>
              </a:tr>
              <a:tr h="409575">
                <a:tc>
                  <a:txBody>
                    <a:bodyPr/>
                    <a:lstStyle/>
                    <a:p>
                      <a:pPr indent="0" lvl="0" marL="0" rtl="0" algn="ctr">
                        <a:lnSpc>
                          <a:spcPct val="115000"/>
                        </a:lnSpc>
                        <a:spcBef>
                          <a:spcPts val="0"/>
                        </a:spcBef>
                        <a:spcAft>
                          <a:spcPts val="0"/>
                        </a:spcAft>
                        <a:buNone/>
                      </a:pPr>
                      <a:r>
                        <a:rPr i="1" lang="fr" sz="1200">
                          <a:latin typeface="Calibri"/>
                          <a:ea typeface="Calibri"/>
                          <a:cs typeface="Calibri"/>
                          <a:sym typeface="Calibri"/>
                        </a:rPr>
                        <a:t>Disponibilité ESP32</a:t>
                      </a:r>
                      <a:endParaRPr i="1" sz="1200">
                        <a:latin typeface="Calibri"/>
                        <a:ea typeface="Calibri"/>
                        <a:cs typeface="Calibri"/>
                        <a:sym typeface="Calibri"/>
                      </a:endParaRPr>
                    </a:p>
                  </a:txBody>
                  <a:tcPr marT="91425" marB="91425" marR="91425" marL="91425">
                    <a:lnL cap="flat" cmpd="sng" w="9525">
                      <a:solidFill>
                        <a:srgbClr val="FFD966"/>
                      </a:solidFill>
                      <a:prstDash val="solid"/>
                      <a:round/>
                      <a:headEnd len="sm" w="sm" type="none"/>
                      <a:tailEnd len="sm" w="sm" type="none"/>
                    </a:lnL>
                    <a:lnR cap="flat" cmpd="sng" w="9525">
                      <a:solidFill>
                        <a:srgbClr val="FFD966"/>
                      </a:solidFill>
                      <a:prstDash val="solid"/>
                      <a:round/>
                      <a:headEnd len="sm" w="sm" type="none"/>
                      <a:tailEnd len="sm" w="sm" type="none"/>
                    </a:lnR>
                    <a:lnT cap="flat" cmpd="sng" w="9525">
                      <a:solidFill>
                        <a:srgbClr val="FFD966"/>
                      </a:solidFill>
                      <a:prstDash val="solid"/>
                      <a:round/>
                      <a:headEnd len="sm" w="sm" type="none"/>
                      <a:tailEnd len="sm" w="sm" type="none"/>
                    </a:lnT>
                    <a:lnB cap="flat" cmpd="sng" w="9525">
                      <a:solidFill>
                        <a:srgbClr val="FFD966"/>
                      </a:solidFill>
                      <a:prstDash val="solid"/>
                      <a:round/>
                      <a:headEnd len="sm" w="sm" type="none"/>
                      <a:tailEnd len="sm" w="sm" type="none"/>
                    </a:lnB>
                    <a:solidFill>
                      <a:srgbClr val="FFF9E6">
                        <a:alpha val="94120"/>
                      </a:srgbClr>
                    </a:solidFill>
                  </a:tcPr>
                </a:tc>
                <a:tc>
                  <a:txBody>
                    <a:bodyPr/>
                    <a:lstStyle/>
                    <a:p>
                      <a:pPr indent="0" lvl="0" marL="0" rtl="0" algn="ctr">
                        <a:lnSpc>
                          <a:spcPct val="115000"/>
                        </a:lnSpc>
                        <a:spcBef>
                          <a:spcPts val="0"/>
                        </a:spcBef>
                        <a:spcAft>
                          <a:spcPts val="0"/>
                        </a:spcAft>
                        <a:buNone/>
                      </a:pPr>
                      <a:r>
                        <a:rPr lang="fr" sz="1200">
                          <a:latin typeface="Calibri"/>
                          <a:ea typeface="Calibri"/>
                          <a:cs typeface="Calibri"/>
                          <a:sym typeface="Calibri"/>
                        </a:rPr>
                        <a:t>Limitée / non officielle</a:t>
                      </a:r>
                      <a:endParaRPr sz="1200">
                        <a:latin typeface="Calibri"/>
                        <a:ea typeface="Calibri"/>
                        <a:cs typeface="Calibri"/>
                        <a:sym typeface="Calibri"/>
                      </a:endParaRPr>
                    </a:p>
                  </a:txBody>
                  <a:tcPr marT="91425" marB="91425" marR="91425" marL="91425">
                    <a:lnL cap="flat" cmpd="sng" w="9525">
                      <a:solidFill>
                        <a:srgbClr val="FFD966"/>
                      </a:solidFill>
                      <a:prstDash val="solid"/>
                      <a:round/>
                      <a:headEnd len="sm" w="sm" type="none"/>
                      <a:tailEnd len="sm" w="sm" type="none"/>
                    </a:lnL>
                    <a:lnR cap="flat" cmpd="sng" w="9525">
                      <a:solidFill>
                        <a:srgbClr val="D4D8E8"/>
                      </a:solidFill>
                      <a:prstDash val="solid"/>
                      <a:round/>
                      <a:headEnd len="sm" w="sm" type="none"/>
                      <a:tailEnd len="sm" w="sm" type="none"/>
                    </a:lnR>
                    <a:lnT cap="flat" cmpd="sng" w="9525">
                      <a:solidFill>
                        <a:srgbClr val="D4D8E8"/>
                      </a:solidFill>
                      <a:prstDash val="solid"/>
                      <a:round/>
                      <a:headEnd len="sm" w="sm" type="none"/>
                      <a:tailEnd len="sm" w="sm" type="none"/>
                    </a:lnT>
                    <a:lnB cap="flat" cmpd="sng" w="9525">
                      <a:solidFill>
                        <a:srgbClr val="D4D8E8"/>
                      </a:solidFill>
                      <a:prstDash val="solid"/>
                      <a:round/>
                      <a:headEnd len="sm" w="sm" type="none"/>
                      <a:tailEnd len="sm" w="sm" type="none"/>
                    </a:lnB>
                    <a:solidFill>
                      <a:srgbClr val="FFF1D6">
                        <a:alpha val="94120"/>
                      </a:srgbClr>
                    </a:solidFill>
                  </a:tcPr>
                </a:tc>
                <a:tc>
                  <a:txBody>
                    <a:bodyPr/>
                    <a:lstStyle/>
                    <a:p>
                      <a:pPr indent="0" lvl="0" marL="0" rtl="0" algn="ctr">
                        <a:lnSpc>
                          <a:spcPct val="115000"/>
                        </a:lnSpc>
                        <a:spcBef>
                          <a:spcPts val="0"/>
                        </a:spcBef>
                        <a:spcAft>
                          <a:spcPts val="0"/>
                        </a:spcAft>
                        <a:buNone/>
                      </a:pPr>
                      <a:r>
                        <a:rPr lang="fr" sz="1200">
                          <a:latin typeface="Calibri"/>
                          <a:ea typeface="Calibri"/>
                          <a:cs typeface="Calibri"/>
                          <a:sym typeface="Calibri"/>
                        </a:rPr>
                        <a:t>Native et officielle</a:t>
                      </a:r>
                      <a:endParaRPr sz="1200">
                        <a:latin typeface="Calibri"/>
                        <a:ea typeface="Calibri"/>
                        <a:cs typeface="Calibri"/>
                        <a:sym typeface="Calibri"/>
                      </a:endParaRPr>
                    </a:p>
                  </a:txBody>
                  <a:tcPr marT="91425" marB="91425" marR="91425" marL="91425">
                    <a:lnL cap="flat" cmpd="sng" w="9525">
                      <a:solidFill>
                        <a:srgbClr val="D4D8E8"/>
                      </a:solidFill>
                      <a:prstDash val="solid"/>
                      <a:round/>
                      <a:headEnd len="sm" w="sm" type="none"/>
                      <a:tailEnd len="sm" w="sm" type="none"/>
                    </a:lnL>
                    <a:lnR cap="flat" cmpd="sng" w="9525">
                      <a:solidFill>
                        <a:srgbClr val="D4D8E8"/>
                      </a:solidFill>
                      <a:prstDash val="solid"/>
                      <a:round/>
                      <a:headEnd len="sm" w="sm" type="none"/>
                      <a:tailEnd len="sm" w="sm" type="none"/>
                    </a:lnR>
                    <a:lnT cap="flat" cmpd="sng" w="9525">
                      <a:solidFill>
                        <a:srgbClr val="D4D8E8"/>
                      </a:solidFill>
                      <a:prstDash val="solid"/>
                      <a:round/>
                      <a:headEnd len="sm" w="sm" type="none"/>
                      <a:tailEnd len="sm" w="sm" type="none"/>
                    </a:lnT>
                    <a:lnB cap="flat" cmpd="sng" w="9525">
                      <a:solidFill>
                        <a:srgbClr val="D4D8E8"/>
                      </a:solidFill>
                      <a:prstDash val="solid"/>
                      <a:round/>
                      <a:headEnd len="sm" w="sm" type="none"/>
                      <a:tailEnd len="sm" w="sm" type="none"/>
                    </a:lnB>
                    <a:solidFill>
                      <a:srgbClr val="FFF1D6">
                        <a:alpha val="94120"/>
                      </a:srgbClr>
                    </a:solidFill>
                  </a:tcPr>
                </a:tc>
              </a:tr>
              <a:tr h="409575">
                <a:tc>
                  <a:txBody>
                    <a:bodyPr/>
                    <a:lstStyle/>
                    <a:p>
                      <a:pPr indent="0" lvl="0" marL="0" rtl="0" algn="ctr">
                        <a:lnSpc>
                          <a:spcPct val="115000"/>
                        </a:lnSpc>
                        <a:spcBef>
                          <a:spcPts val="0"/>
                        </a:spcBef>
                        <a:spcAft>
                          <a:spcPts val="0"/>
                        </a:spcAft>
                        <a:buNone/>
                      </a:pPr>
                      <a:r>
                        <a:rPr i="1" lang="fr" sz="1200">
                          <a:latin typeface="Calibri"/>
                          <a:ea typeface="Calibri"/>
                          <a:cs typeface="Calibri"/>
                          <a:sym typeface="Calibri"/>
                        </a:rPr>
                        <a:t>Fréquence</a:t>
                      </a:r>
                      <a:endParaRPr i="1" sz="1200">
                        <a:latin typeface="Calibri"/>
                        <a:ea typeface="Calibri"/>
                        <a:cs typeface="Calibri"/>
                        <a:sym typeface="Calibri"/>
                      </a:endParaRPr>
                    </a:p>
                  </a:txBody>
                  <a:tcPr marT="91425" marB="91425" marR="91425" marL="91425">
                    <a:lnL cap="flat" cmpd="sng" w="9525">
                      <a:solidFill>
                        <a:srgbClr val="FFD966"/>
                      </a:solidFill>
                      <a:prstDash val="solid"/>
                      <a:round/>
                      <a:headEnd len="sm" w="sm" type="none"/>
                      <a:tailEnd len="sm" w="sm" type="none"/>
                    </a:lnL>
                    <a:lnR cap="flat" cmpd="sng" w="9525">
                      <a:solidFill>
                        <a:srgbClr val="FFD966"/>
                      </a:solidFill>
                      <a:prstDash val="solid"/>
                      <a:round/>
                      <a:headEnd len="sm" w="sm" type="none"/>
                      <a:tailEnd len="sm" w="sm" type="none"/>
                    </a:lnR>
                    <a:lnT cap="flat" cmpd="sng" w="9525">
                      <a:solidFill>
                        <a:srgbClr val="FFD966"/>
                      </a:solidFill>
                      <a:prstDash val="solid"/>
                      <a:round/>
                      <a:headEnd len="sm" w="sm" type="none"/>
                      <a:tailEnd len="sm" w="sm" type="none"/>
                    </a:lnT>
                    <a:lnB cap="flat" cmpd="sng" w="9525">
                      <a:solidFill>
                        <a:srgbClr val="FFD966"/>
                      </a:solidFill>
                      <a:prstDash val="solid"/>
                      <a:round/>
                      <a:headEnd len="sm" w="sm" type="none"/>
                      <a:tailEnd len="sm" w="sm" type="none"/>
                    </a:lnB>
                    <a:solidFill>
                      <a:srgbClr val="FFF9E6">
                        <a:alpha val="94120"/>
                      </a:srgbClr>
                    </a:solidFill>
                  </a:tcPr>
                </a:tc>
                <a:tc>
                  <a:txBody>
                    <a:bodyPr/>
                    <a:lstStyle/>
                    <a:p>
                      <a:pPr indent="0" lvl="0" marL="0" rtl="0" algn="ctr">
                        <a:lnSpc>
                          <a:spcPct val="115000"/>
                        </a:lnSpc>
                        <a:spcBef>
                          <a:spcPts val="0"/>
                        </a:spcBef>
                        <a:spcAft>
                          <a:spcPts val="0"/>
                        </a:spcAft>
                        <a:buNone/>
                      </a:pPr>
                      <a:r>
                        <a:rPr lang="fr" sz="1200">
                          <a:latin typeface="Calibri"/>
                          <a:ea typeface="Calibri"/>
                          <a:cs typeface="Calibri"/>
                          <a:sym typeface="Calibri"/>
                        </a:rPr>
                        <a:t>Fixe (non configurable)</a:t>
                      </a:r>
                      <a:endParaRPr sz="1200">
                        <a:latin typeface="Calibri"/>
                        <a:ea typeface="Calibri"/>
                        <a:cs typeface="Calibri"/>
                        <a:sym typeface="Calibri"/>
                      </a:endParaRPr>
                    </a:p>
                  </a:txBody>
                  <a:tcPr marT="91425" marB="91425" marR="91425" marL="91425">
                    <a:lnL cap="flat" cmpd="sng" w="9525">
                      <a:solidFill>
                        <a:srgbClr val="FFD966"/>
                      </a:solidFill>
                      <a:prstDash val="solid"/>
                      <a:round/>
                      <a:headEnd len="sm" w="sm" type="none"/>
                      <a:tailEnd len="sm" w="sm" type="none"/>
                    </a:lnL>
                    <a:lnR cap="flat" cmpd="sng" w="9525">
                      <a:solidFill>
                        <a:srgbClr val="D4D8E8"/>
                      </a:solidFill>
                      <a:prstDash val="solid"/>
                      <a:round/>
                      <a:headEnd len="sm" w="sm" type="none"/>
                      <a:tailEnd len="sm" w="sm" type="none"/>
                    </a:lnR>
                    <a:lnT cap="flat" cmpd="sng" w="9525">
                      <a:solidFill>
                        <a:srgbClr val="D4D8E8"/>
                      </a:solidFill>
                      <a:prstDash val="solid"/>
                      <a:round/>
                      <a:headEnd len="sm" w="sm" type="none"/>
                      <a:tailEnd len="sm" w="sm" type="none"/>
                    </a:lnT>
                    <a:lnB cap="flat" cmpd="sng" w="9525">
                      <a:solidFill>
                        <a:srgbClr val="D4D8E8"/>
                      </a:solidFill>
                      <a:prstDash val="solid"/>
                      <a:round/>
                      <a:headEnd len="sm" w="sm" type="none"/>
                      <a:tailEnd len="sm" w="sm" type="none"/>
                    </a:lnB>
                    <a:solidFill>
                      <a:srgbClr val="FFF1D6">
                        <a:alpha val="94120"/>
                      </a:srgbClr>
                    </a:solidFill>
                  </a:tcPr>
                </a:tc>
                <a:tc>
                  <a:txBody>
                    <a:bodyPr/>
                    <a:lstStyle/>
                    <a:p>
                      <a:pPr indent="0" lvl="0" marL="0" rtl="0" algn="ctr">
                        <a:lnSpc>
                          <a:spcPct val="115000"/>
                        </a:lnSpc>
                        <a:spcBef>
                          <a:spcPts val="0"/>
                        </a:spcBef>
                        <a:spcAft>
                          <a:spcPts val="0"/>
                        </a:spcAft>
                        <a:buNone/>
                      </a:pPr>
                      <a:r>
                        <a:rPr lang="fr" sz="1200">
                          <a:latin typeface="Calibri"/>
                          <a:ea typeface="Calibri"/>
                          <a:cs typeface="Calibri"/>
                          <a:sym typeface="Calibri"/>
                        </a:rPr>
                        <a:t>1 000 Hz (choisi)</a:t>
                      </a:r>
                      <a:endParaRPr sz="1200">
                        <a:latin typeface="Calibri"/>
                        <a:ea typeface="Calibri"/>
                        <a:cs typeface="Calibri"/>
                        <a:sym typeface="Calibri"/>
                      </a:endParaRPr>
                    </a:p>
                  </a:txBody>
                  <a:tcPr marT="91425" marB="91425" marR="91425" marL="91425">
                    <a:lnL cap="flat" cmpd="sng" w="9525">
                      <a:solidFill>
                        <a:srgbClr val="D4D8E8"/>
                      </a:solidFill>
                      <a:prstDash val="solid"/>
                      <a:round/>
                      <a:headEnd len="sm" w="sm" type="none"/>
                      <a:tailEnd len="sm" w="sm" type="none"/>
                    </a:lnL>
                    <a:lnR cap="flat" cmpd="sng" w="9525">
                      <a:solidFill>
                        <a:srgbClr val="D4D8E8"/>
                      </a:solidFill>
                      <a:prstDash val="solid"/>
                      <a:round/>
                      <a:headEnd len="sm" w="sm" type="none"/>
                      <a:tailEnd len="sm" w="sm" type="none"/>
                    </a:lnR>
                    <a:lnT cap="flat" cmpd="sng" w="9525">
                      <a:solidFill>
                        <a:srgbClr val="D4D8E8"/>
                      </a:solidFill>
                      <a:prstDash val="solid"/>
                      <a:round/>
                      <a:headEnd len="sm" w="sm" type="none"/>
                      <a:tailEnd len="sm" w="sm" type="none"/>
                    </a:lnT>
                    <a:lnB cap="flat" cmpd="sng" w="9525">
                      <a:solidFill>
                        <a:srgbClr val="D4D8E8"/>
                      </a:solidFill>
                      <a:prstDash val="solid"/>
                      <a:round/>
                      <a:headEnd len="sm" w="sm" type="none"/>
                      <a:tailEnd len="sm" w="sm" type="none"/>
                    </a:lnB>
                    <a:solidFill>
                      <a:srgbClr val="FFF1D6">
                        <a:alpha val="94120"/>
                      </a:srgbClr>
                    </a:solidFill>
                  </a:tcPr>
                </a:tc>
              </a:tr>
              <a:tr h="409575">
                <a:tc>
                  <a:txBody>
                    <a:bodyPr/>
                    <a:lstStyle/>
                    <a:p>
                      <a:pPr indent="0" lvl="0" marL="0" rtl="0" algn="ctr">
                        <a:lnSpc>
                          <a:spcPct val="115000"/>
                        </a:lnSpc>
                        <a:spcBef>
                          <a:spcPts val="0"/>
                        </a:spcBef>
                        <a:spcAft>
                          <a:spcPts val="0"/>
                        </a:spcAft>
                        <a:buNone/>
                      </a:pPr>
                      <a:r>
                        <a:rPr i="1" lang="fr" sz="1200">
                          <a:latin typeface="Calibri"/>
                          <a:ea typeface="Calibri"/>
                          <a:cs typeface="Calibri"/>
                          <a:sym typeface="Calibri"/>
                        </a:rPr>
                        <a:t>Résolution</a:t>
                      </a:r>
                      <a:endParaRPr i="1" sz="1200">
                        <a:latin typeface="Calibri"/>
                        <a:ea typeface="Calibri"/>
                        <a:cs typeface="Calibri"/>
                        <a:sym typeface="Calibri"/>
                      </a:endParaRPr>
                    </a:p>
                  </a:txBody>
                  <a:tcPr marT="91425" marB="91425" marR="91425" marL="91425">
                    <a:lnL cap="flat" cmpd="sng" w="9525">
                      <a:solidFill>
                        <a:srgbClr val="FFD966"/>
                      </a:solidFill>
                      <a:prstDash val="solid"/>
                      <a:round/>
                      <a:headEnd len="sm" w="sm" type="none"/>
                      <a:tailEnd len="sm" w="sm" type="none"/>
                    </a:lnL>
                    <a:lnR cap="flat" cmpd="sng" w="9525">
                      <a:solidFill>
                        <a:srgbClr val="FFD966"/>
                      </a:solidFill>
                      <a:prstDash val="solid"/>
                      <a:round/>
                      <a:headEnd len="sm" w="sm" type="none"/>
                      <a:tailEnd len="sm" w="sm" type="none"/>
                    </a:lnR>
                    <a:lnT cap="flat" cmpd="sng" w="9525">
                      <a:solidFill>
                        <a:srgbClr val="FFD966"/>
                      </a:solidFill>
                      <a:prstDash val="solid"/>
                      <a:round/>
                      <a:headEnd len="sm" w="sm" type="none"/>
                      <a:tailEnd len="sm" w="sm" type="none"/>
                    </a:lnT>
                    <a:lnB cap="flat" cmpd="sng" w="9525">
                      <a:solidFill>
                        <a:srgbClr val="FFD966"/>
                      </a:solidFill>
                      <a:prstDash val="solid"/>
                      <a:round/>
                      <a:headEnd len="sm" w="sm" type="none"/>
                      <a:tailEnd len="sm" w="sm" type="none"/>
                    </a:lnB>
                    <a:solidFill>
                      <a:srgbClr val="FFF9E6">
                        <a:alpha val="94120"/>
                      </a:srgbClr>
                    </a:solidFill>
                  </a:tcPr>
                </a:tc>
                <a:tc>
                  <a:txBody>
                    <a:bodyPr/>
                    <a:lstStyle/>
                    <a:p>
                      <a:pPr indent="0" lvl="0" marL="0" rtl="0" algn="ctr">
                        <a:lnSpc>
                          <a:spcPct val="115000"/>
                        </a:lnSpc>
                        <a:spcBef>
                          <a:spcPts val="0"/>
                        </a:spcBef>
                        <a:spcAft>
                          <a:spcPts val="0"/>
                        </a:spcAft>
                        <a:buNone/>
                      </a:pPr>
                      <a:r>
                        <a:rPr lang="fr" sz="1200">
                          <a:latin typeface="Calibri"/>
                          <a:ea typeface="Calibri"/>
                          <a:cs typeface="Calibri"/>
                          <a:sym typeface="Calibri"/>
                        </a:rPr>
                        <a:t>Variable selon core</a:t>
                      </a:r>
                      <a:endParaRPr sz="1200">
                        <a:latin typeface="Calibri"/>
                        <a:ea typeface="Calibri"/>
                        <a:cs typeface="Calibri"/>
                        <a:sym typeface="Calibri"/>
                      </a:endParaRPr>
                    </a:p>
                  </a:txBody>
                  <a:tcPr marT="91425" marB="91425" marR="91425" marL="91425">
                    <a:lnL cap="flat" cmpd="sng" w="9525">
                      <a:solidFill>
                        <a:srgbClr val="FFD966"/>
                      </a:solidFill>
                      <a:prstDash val="solid"/>
                      <a:round/>
                      <a:headEnd len="sm" w="sm" type="none"/>
                      <a:tailEnd len="sm" w="sm" type="none"/>
                    </a:lnL>
                    <a:lnR cap="flat" cmpd="sng" w="9525">
                      <a:solidFill>
                        <a:srgbClr val="D4D8E8"/>
                      </a:solidFill>
                      <a:prstDash val="solid"/>
                      <a:round/>
                      <a:headEnd len="sm" w="sm" type="none"/>
                      <a:tailEnd len="sm" w="sm" type="none"/>
                    </a:lnR>
                    <a:lnT cap="flat" cmpd="sng" w="9525">
                      <a:solidFill>
                        <a:srgbClr val="D4D8E8"/>
                      </a:solidFill>
                      <a:prstDash val="solid"/>
                      <a:round/>
                      <a:headEnd len="sm" w="sm" type="none"/>
                      <a:tailEnd len="sm" w="sm" type="none"/>
                    </a:lnT>
                    <a:lnB cap="flat" cmpd="sng" w="9525">
                      <a:solidFill>
                        <a:srgbClr val="D4D8E8"/>
                      </a:solidFill>
                      <a:prstDash val="solid"/>
                      <a:round/>
                      <a:headEnd len="sm" w="sm" type="none"/>
                      <a:tailEnd len="sm" w="sm" type="none"/>
                    </a:lnB>
                    <a:solidFill>
                      <a:srgbClr val="FFF1D6">
                        <a:alpha val="94120"/>
                      </a:srgbClr>
                    </a:solidFill>
                  </a:tcPr>
                </a:tc>
                <a:tc>
                  <a:txBody>
                    <a:bodyPr/>
                    <a:lstStyle/>
                    <a:p>
                      <a:pPr indent="0" lvl="0" marL="0" rtl="0" algn="ctr">
                        <a:lnSpc>
                          <a:spcPct val="115000"/>
                        </a:lnSpc>
                        <a:spcBef>
                          <a:spcPts val="0"/>
                        </a:spcBef>
                        <a:spcAft>
                          <a:spcPts val="0"/>
                        </a:spcAft>
                        <a:buNone/>
                      </a:pPr>
                      <a:r>
                        <a:rPr lang="fr" sz="1200">
                          <a:latin typeface="Calibri"/>
                          <a:ea typeface="Calibri"/>
                          <a:cs typeface="Calibri"/>
                          <a:sym typeface="Calibri"/>
                        </a:rPr>
                        <a:t>8 bits → 0..255</a:t>
                      </a:r>
                      <a:endParaRPr sz="1200">
                        <a:latin typeface="Calibri"/>
                        <a:ea typeface="Calibri"/>
                        <a:cs typeface="Calibri"/>
                        <a:sym typeface="Calibri"/>
                      </a:endParaRPr>
                    </a:p>
                  </a:txBody>
                  <a:tcPr marT="91425" marB="91425" marR="91425" marL="91425">
                    <a:lnL cap="flat" cmpd="sng" w="9525">
                      <a:solidFill>
                        <a:srgbClr val="D4D8E8"/>
                      </a:solidFill>
                      <a:prstDash val="solid"/>
                      <a:round/>
                      <a:headEnd len="sm" w="sm" type="none"/>
                      <a:tailEnd len="sm" w="sm" type="none"/>
                    </a:lnL>
                    <a:lnR cap="flat" cmpd="sng" w="9525">
                      <a:solidFill>
                        <a:srgbClr val="D4D8E8"/>
                      </a:solidFill>
                      <a:prstDash val="solid"/>
                      <a:round/>
                      <a:headEnd len="sm" w="sm" type="none"/>
                      <a:tailEnd len="sm" w="sm" type="none"/>
                    </a:lnR>
                    <a:lnT cap="flat" cmpd="sng" w="9525">
                      <a:solidFill>
                        <a:srgbClr val="D4D8E8"/>
                      </a:solidFill>
                      <a:prstDash val="solid"/>
                      <a:round/>
                      <a:headEnd len="sm" w="sm" type="none"/>
                      <a:tailEnd len="sm" w="sm" type="none"/>
                    </a:lnT>
                    <a:lnB cap="flat" cmpd="sng" w="9525">
                      <a:solidFill>
                        <a:srgbClr val="D4D8E8"/>
                      </a:solidFill>
                      <a:prstDash val="solid"/>
                      <a:round/>
                      <a:headEnd len="sm" w="sm" type="none"/>
                      <a:tailEnd len="sm" w="sm" type="none"/>
                    </a:lnB>
                    <a:solidFill>
                      <a:srgbClr val="FFF1D6">
                        <a:alpha val="94120"/>
                      </a:srgbClr>
                    </a:solidFill>
                  </a:tcPr>
                </a:tc>
              </a:tr>
              <a:tr h="409575">
                <a:tc>
                  <a:txBody>
                    <a:bodyPr/>
                    <a:lstStyle/>
                    <a:p>
                      <a:pPr indent="0" lvl="0" marL="0" rtl="0" algn="ctr">
                        <a:lnSpc>
                          <a:spcPct val="115000"/>
                        </a:lnSpc>
                        <a:spcBef>
                          <a:spcPts val="0"/>
                        </a:spcBef>
                        <a:spcAft>
                          <a:spcPts val="0"/>
                        </a:spcAft>
                        <a:buNone/>
                      </a:pPr>
                      <a:r>
                        <a:rPr i="1" lang="fr" sz="1200">
                          <a:latin typeface="Calibri"/>
                          <a:ea typeface="Calibri"/>
                          <a:cs typeface="Calibri"/>
                          <a:sym typeface="Calibri"/>
                        </a:rPr>
                        <a:t>Canaux indépendants</a:t>
                      </a:r>
                      <a:endParaRPr i="1" sz="1200">
                        <a:latin typeface="Calibri"/>
                        <a:ea typeface="Calibri"/>
                        <a:cs typeface="Calibri"/>
                        <a:sym typeface="Calibri"/>
                      </a:endParaRPr>
                    </a:p>
                  </a:txBody>
                  <a:tcPr marT="91425" marB="91425" marR="91425" marL="91425">
                    <a:lnL cap="flat" cmpd="sng" w="9525">
                      <a:solidFill>
                        <a:srgbClr val="FFD966"/>
                      </a:solidFill>
                      <a:prstDash val="solid"/>
                      <a:round/>
                      <a:headEnd len="sm" w="sm" type="none"/>
                      <a:tailEnd len="sm" w="sm" type="none"/>
                    </a:lnL>
                    <a:lnR cap="flat" cmpd="sng" w="9525">
                      <a:solidFill>
                        <a:srgbClr val="FFD966"/>
                      </a:solidFill>
                      <a:prstDash val="solid"/>
                      <a:round/>
                      <a:headEnd len="sm" w="sm" type="none"/>
                      <a:tailEnd len="sm" w="sm" type="none"/>
                    </a:lnR>
                    <a:lnT cap="flat" cmpd="sng" w="9525">
                      <a:solidFill>
                        <a:srgbClr val="FFD966"/>
                      </a:solidFill>
                      <a:prstDash val="solid"/>
                      <a:round/>
                      <a:headEnd len="sm" w="sm" type="none"/>
                      <a:tailEnd len="sm" w="sm" type="none"/>
                    </a:lnT>
                    <a:lnB cap="flat" cmpd="sng" w="9525">
                      <a:solidFill>
                        <a:srgbClr val="FFD966"/>
                      </a:solidFill>
                      <a:prstDash val="solid"/>
                      <a:round/>
                      <a:headEnd len="sm" w="sm" type="none"/>
                      <a:tailEnd len="sm" w="sm" type="none"/>
                    </a:lnB>
                    <a:solidFill>
                      <a:srgbClr val="FFF9E6">
                        <a:alpha val="94120"/>
                      </a:srgbClr>
                    </a:solidFill>
                  </a:tcPr>
                </a:tc>
                <a:tc>
                  <a:txBody>
                    <a:bodyPr/>
                    <a:lstStyle/>
                    <a:p>
                      <a:pPr indent="0" lvl="0" marL="0" rtl="0" algn="ctr">
                        <a:lnSpc>
                          <a:spcPct val="115000"/>
                        </a:lnSpc>
                        <a:spcBef>
                          <a:spcPts val="0"/>
                        </a:spcBef>
                        <a:spcAft>
                          <a:spcPts val="0"/>
                        </a:spcAft>
                        <a:buNone/>
                      </a:pPr>
                      <a:r>
                        <a:rPr lang="fr" sz="1200">
                          <a:latin typeface="Calibri"/>
                          <a:ea typeface="Calibri"/>
                          <a:cs typeface="Calibri"/>
                          <a:sym typeface="Calibri"/>
                        </a:rPr>
                        <a:t>Non</a:t>
                      </a:r>
                      <a:endParaRPr sz="1200">
                        <a:latin typeface="Calibri"/>
                        <a:ea typeface="Calibri"/>
                        <a:cs typeface="Calibri"/>
                        <a:sym typeface="Calibri"/>
                      </a:endParaRPr>
                    </a:p>
                  </a:txBody>
                  <a:tcPr marT="91425" marB="91425" marR="91425" marL="91425">
                    <a:lnL cap="flat" cmpd="sng" w="9525">
                      <a:solidFill>
                        <a:srgbClr val="FFD966"/>
                      </a:solidFill>
                      <a:prstDash val="solid"/>
                      <a:round/>
                      <a:headEnd len="sm" w="sm" type="none"/>
                      <a:tailEnd len="sm" w="sm" type="none"/>
                    </a:lnL>
                    <a:lnR cap="flat" cmpd="sng" w="9525">
                      <a:solidFill>
                        <a:srgbClr val="D4D8E8"/>
                      </a:solidFill>
                      <a:prstDash val="solid"/>
                      <a:round/>
                      <a:headEnd len="sm" w="sm" type="none"/>
                      <a:tailEnd len="sm" w="sm" type="none"/>
                    </a:lnR>
                    <a:lnT cap="flat" cmpd="sng" w="9525">
                      <a:solidFill>
                        <a:srgbClr val="D4D8E8"/>
                      </a:solidFill>
                      <a:prstDash val="solid"/>
                      <a:round/>
                      <a:headEnd len="sm" w="sm" type="none"/>
                      <a:tailEnd len="sm" w="sm" type="none"/>
                    </a:lnT>
                    <a:lnB cap="flat" cmpd="sng" w="9525">
                      <a:solidFill>
                        <a:srgbClr val="D4D8E8"/>
                      </a:solidFill>
                      <a:prstDash val="solid"/>
                      <a:round/>
                      <a:headEnd len="sm" w="sm" type="none"/>
                      <a:tailEnd len="sm" w="sm" type="none"/>
                    </a:lnB>
                    <a:solidFill>
                      <a:srgbClr val="FFF1D6">
                        <a:alpha val="94120"/>
                      </a:srgbClr>
                    </a:solidFill>
                  </a:tcPr>
                </a:tc>
                <a:tc>
                  <a:txBody>
                    <a:bodyPr/>
                    <a:lstStyle/>
                    <a:p>
                      <a:pPr indent="0" lvl="0" marL="0" rtl="0" algn="ctr">
                        <a:lnSpc>
                          <a:spcPct val="115000"/>
                        </a:lnSpc>
                        <a:spcBef>
                          <a:spcPts val="0"/>
                        </a:spcBef>
                        <a:spcAft>
                          <a:spcPts val="0"/>
                        </a:spcAft>
                        <a:buNone/>
                      </a:pPr>
                      <a:r>
                        <a:rPr lang="fr" sz="1200">
                          <a:latin typeface="Calibri"/>
                          <a:ea typeface="Calibri"/>
                          <a:cs typeface="Calibri"/>
                          <a:sym typeface="Calibri"/>
                        </a:rPr>
                        <a:t>Oui : SIGNAL1 + SIGNAL2</a:t>
                      </a:r>
                      <a:endParaRPr sz="1200">
                        <a:latin typeface="Calibri"/>
                        <a:ea typeface="Calibri"/>
                        <a:cs typeface="Calibri"/>
                        <a:sym typeface="Calibri"/>
                      </a:endParaRPr>
                    </a:p>
                  </a:txBody>
                  <a:tcPr marT="91425" marB="91425" marR="91425" marL="91425">
                    <a:lnL cap="flat" cmpd="sng" w="9525">
                      <a:solidFill>
                        <a:srgbClr val="D4D8E8"/>
                      </a:solidFill>
                      <a:prstDash val="solid"/>
                      <a:round/>
                      <a:headEnd len="sm" w="sm" type="none"/>
                      <a:tailEnd len="sm" w="sm" type="none"/>
                    </a:lnL>
                    <a:lnR cap="flat" cmpd="sng" w="9525">
                      <a:solidFill>
                        <a:srgbClr val="D4D8E8"/>
                      </a:solidFill>
                      <a:prstDash val="solid"/>
                      <a:round/>
                      <a:headEnd len="sm" w="sm" type="none"/>
                      <a:tailEnd len="sm" w="sm" type="none"/>
                    </a:lnR>
                    <a:lnT cap="flat" cmpd="sng" w="9525">
                      <a:solidFill>
                        <a:srgbClr val="D4D8E8"/>
                      </a:solidFill>
                      <a:prstDash val="solid"/>
                      <a:round/>
                      <a:headEnd len="sm" w="sm" type="none"/>
                      <a:tailEnd len="sm" w="sm" type="none"/>
                    </a:lnT>
                    <a:lnB cap="flat" cmpd="sng" w="9525">
                      <a:solidFill>
                        <a:srgbClr val="D4D8E8"/>
                      </a:solidFill>
                      <a:prstDash val="solid"/>
                      <a:round/>
                      <a:headEnd len="sm" w="sm" type="none"/>
                      <a:tailEnd len="sm" w="sm" type="none"/>
                    </a:lnB>
                    <a:solidFill>
                      <a:srgbClr val="FFF1D6">
                        <a:alpha val="94120"/>
                      </a:srgbClr>
                    </a:solidFill>
                  </a:tcPr>
                </a:tc>
              </a:tr>
              <a:tr h="409575">
                <a:tc>
                  <a:txBody>
                    <a:bodyPr/>
                    <a:lstStyle/>
                    <a:p>
                      <a:pPr indent="0" lvl="0" marL="0" rtl="0" algn="ctr">
                        <a:lnSpc>
                          <a:spcPct val="115000"/>
                        </a:lnSpc>
                        <a:spcBef>
                          <a:spcPts val="0"/>
                        </a:spcBef>
                        <a:spcAft>
                          <a:spcPts val="0"/>
                        </a:spcAft>
                        <a:buNone/>
                      </a:pPr>
                      <a:r>
                        <a:rPr i="1" lang="fr" sz="1200">
                          <a:latin typeface="Calibri"/>
                          <a:ea typeface="Calibri"/>
                          <a:cs typeface="Calibri"/>
                          <a:sym typeface="Calibri"/>
                        </a:rPr>
                        <a:t>Usage MPPT</a:t>
                      </a:r>
                      <a:endParaRPr i="1" sz="1200">
                        <a:latin typeface="Calibri"/>
                        <a:ea typeface="Calibri"/>
                        <a:cs typeface="Calibri"/>
                        <a:sym typeface="Calibri"/>
                      </a:endParaRPr>
                    </a:p>
                  </a:txBody>
                  <a:tcPr marT="91425" marB="91425" marR="91425" marL="91425">
                    <a:lnL cap="flat" cmpd="sng" w="9525">
                      <a:solidFill>
                        <a:srgbClr val="FFD966"/>
                      </a:solidFill>
                      <a:prstDash val="solid"/>
                      <a:round/>
                      <a:headEnd len="sm" w="sm" type="none"/>
                      <a:tailEnd len="sm" w="sm" type="none"/>
                    </a:lnL>
                    <a:lnR cap="flat" cmpd="sng" w="9525">
                      <a:solidFill>
                        <a:srgbClr val="FFD966"/>
                      </a:solidFill>
                      <a:prstDash val="solid"/>
                      <a:round/>
                      <a:headEnd len="sm" w="sm" type="none"/>
                      <a:tailEnd len="sm" w="sm" type="none"/>
                    </a:lnR>
                    <a:lnT cap="flat" cmpd="sng" w="9525">
                      <a:solidFill>
                        <a:srgbClr val="FFD966"/>
                      </a:solidFill>
                      <a:prstDash val="solid"/>
                      <a:round/>
                      <a:headEnd len="sm" w="sm" type="none"/>
                      <a:tailEnd len="sm" w="sm" type="none"/>
                    </a:lnT>
                    <a:lnB cap="flat" cmpd="sng" w="9525">
                      <a:solidFill>
                        <a:srgbClr val="FFD966"/>
                      </a:solidFill>
                      <a:prstDash val="solid"/>
                      <a:round/>
                      <a:headEnd len="sm" w="sm" type="none"/>
                      <a:tailEnd len="sm" w="sm" type="none"/>
                    </a:lnB>
                    <a:solidFill>
                      <a:srgbClr val="FFF9E6">
                        <a:alpha val="94120"/>
                      </a:srgbClr>
                    </a:solidFill>
                  </a:tcPr>
                </a:tc>
                <a:tc>
                  <a:txBody>
                    <a:bodyPr/>
                    <a:lstStyle/>
                    <a:p>
                      <a:pPr indent="0" lvl="0" marL="0" rtl="0" algn="ctr">
                        <a:lnSpc>
                          <a:spcPct val="115000"/>
                        </a:lnSpc>
                        <a:spcBef>
                          <a:spcPts val="0"/>
                        </a:spcBef>
                        <a:spcAft>
                          <a:spcPts val="0"/>
                        </a:spcAft>
                        <a:buNone/>
                      </a:pPr>
                      <a:r>
                        <a:rPr lang="fr" sz="1200">
                          <a:latin typeface="Calibri"/>
                          <a:ea typeface="Calibri"/>
                          <a:cs typeface="Calibri"/>
                          <a:sym typeface="Calibri"/>
                        </a:rPr>
                        <a:t>Trop imprécis</a:t>
                      </a:r>
                      <a:endParaRPr sz="1200">
                        <a:latin typeface="Calibri"/>
                        <a:ea typeface="Calibri"/>
                        <a:cs typeface="Calibri"/>
                        <a:sym typeface="Calibri"/>
                      </a:endParaRPr>
                    </a:p>
                  </a:txBody>
                  <a:tcPr marT="91425" marB="91425" marR="91425" marL="91425">
                    <a:lnL cap="flat" cmpd="sng" w="9525">
                      <a:solidFill>
                        <a:srgbClr val="FFD966"/>
                      </a:solidFill>
                      <a:prstDash val="solid"/>
                      <a:round/>
                      <a:headEnd len="sm" w="sm" type="none"/>
                      <a:tailEnd len="sm" w="sm" type="none"/>
                    </a:lnL>
                    <a:lnR cap="flat" cmpd="sng" w="9525">
                      <a:solidFill>
                        <a:srgbClr val="D4D8E8"/>
                      </a:solidFill>
                      <a:prstDash val="solid"/>
                      <a:round/>
                      <a:headEnd len="sm" w="sm" type="none"/>
                      <a:tailEnd len="sm" w="sm" type="none"/>
                    </a:lnR>
                    <a:lnT cap="flat" cmpd="sng" w="9525">
                      <a:solidFill>
                        <a:srgbClr val="D4D8E8"/>
                      </a:solidFill>
                      <a:prstDash val="solid"/>
                      <a:round/>
                      <a:headEnd len="sm" w="sm" type="none"/>
                      <a:tailEnd len="sm" w="sm" type="none"/>
                    </a:lnT>
                    <a:lnB cap="flat" cmpd="sng" w="9525">
                      <a:solidFill>
                        <a:srgbClr val="D4D8E8"/>
                      </a:solidFill>
                      <a:prstDash val="solid"/>
                      <a:round/>
                      <a:headEnd len="sm" w="sm" type="none"/>
                      <a:tailEnd len="sm" w="sm" type="none"/>
                    </a:lnB>
                    <a:solidFill>
                      <a:srgbClr val="FFF1D6">
                        <a:alpha val="94120"/>
                      </a:srgbClr>
                    </a:solidFill>
                  </a:tcPr>
                </a:tc>
                <a:tc>
                  <a:txBody>
                    <a:bodyPr/>
                    <a:lstStyle/>
                    <a:p>
                      <a:pPr indent="0" lvl="0" marL="0" rtl="0" algn="ctr">
                        <a:lnSpc>
                          <a:spcPct val="115000"/>
                        </a:lnSpc>
                        <a:spcBef>
                          <a:spcPts val="0"/>
                        </a:spcBef>
                        <a:spcAft>
                          <a:spcPts val="0"/>
                        </a:spcAft>
                        <a:buNone/>
                      </a:pPr>
                      <a:r>
                        <a:rPr lang="fr" sz="1200">
                          <a:latin typeface="Calibri"/>
                          <a:ea typeface="Calibri"/>
                          <a:cs typeface="Calibri"/>
                          <a:sym typeface="Calibri"/>
                        </a:rPr>
                        <a:t>Idéal</a:t>
                      </a:r>
                      <a:endParaRPr sz="1200">
                        <a:latin typeface="Calibri"/>
                        <a:ea typeface="Calibri"/>
                        <a:cs typeface="Calibri"/>
                        <a:sym typeface="Calibri"/>
                      </a:endParaRPr>
                    </a:p>
                  </a:txBody>
                  <a:tcPr marT="91425" marB="91425" marR="91425" marL="91425">
                    <a:lnL cap="flat" cmpd="sng" w="9525">
                      <a:solidFill>
                        <a:srgbClr val="D4D8E8"/>
                      </a:solidFill>
                      <a:prstDash val="solid"/>
                      <a:round/>
                      <a:headEnd len="sm" w="sm" type="none"/>
                      <a:tailEnd len="sm" w="sm" type="none"/>
                    </a:lnL>
                    <a:lnR cap="flat" cmpd="sng" w="9525">
                      <a:solidFill>
                        <a:srgbClr val="D4D8E8"/>
                      </a:solidFill>
                      <a:prstDash val="solid"/>
                      <a:round/>
                      <a:headEnd len="sm" w="sm" type="none"/>
                      <a:tailEnd len="sm" w="sm" type="none"/>
                    </a:lnR>
                    <a:lnT cap="flat" cmpd="sng" w="9525">
                      <a:solidFill>
                        <a:srgbClr val="D4D8E8"/>
                      </a:solidFill>
                      <a:prstDash val="solid"/>
                      <a:round/>
                      <a:headEnd len="sm" w="sm" type="none"/>
                      <a:tailEnd len="sm" w="sm" type="none"/>
                    </a:lnT>
                    <a:lnB cap="flat" cmpd="sng" w="9525">
                      <a:solidFill>
                        <a:srgbClr val="D4D8E8"/>
                      </a:solidFill>
                      <a:prstDash val="solid"/>
                      <a:round/>
                      <a:headEnd len="sm" w="sm" type="none"/>
                      <a:tailEnd len="sm" w="sm" type="none"/>
                    </a:lnB>
                    <a:solidFill>
                      <a:srgbClr val="FFF1D6">
                        <a:alpha val="94120"/>
                      </a:srgbClr>
                    </a:solidFill>
                  </a:tcPr>
                </a:tc>
              </a:tr>
            </a:tbl>
          </a:graphicData>
        </a:graphic>
      </p:graphicFrame>
      <p:sp>
        <p:nvSpPr>
          <p:cNvPr id="536" name="Google Shape;536;p49"/>
          <p:cNvSpPr txBox="1"/>
          <p:nvPr/>
        </p:nvSpPr>
        <p:spPr>
          <a:xfrm>
            <a:off x="135625" y="-44125"/>
            <a:ext cx="704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2100">
                <a:solidFill>
                  <a:srgbClr val="FF0000"/>
                </a:solidFill>
                <a:latin typeface="Calibri"/>
                <a:ea typeface="Calibri"/>
                <a:cs typeface="Calibri"/>
                <a:sym typeface="Calibri"/>
              </a:rPr>
              <a:t>EYA</a:t>
            </a:r>
            <a:endParaRPr b="1" sz="2100">
              <a:solidFill>
                <a:srgbClr val="FF0000"/>
              </a:solidFill>
              <a:latin typeface="Calibri"/>
              <a:ea typeface="Calibri"/>
              <a:cs typeface="Calibri"/>
              <a:sym typeface="Calibri"/>
            </a:endParaRPr>
          </a:p>
        </p:txBody>
      </p:sp>
      <p:pic>
        <p:nvPicPr>
          <p:cNvPr id="537" name="Google Shape;537;p49"/>
          <p:cNvPicPr preferRelativeResize="0"/>
          <p:nvPr/>
        </p:nvPicPr>
        <p:blipFill>
          <a:blip r:embed="rId5">
            <a:alphaModFix/>
          </a:blip>
          <a:stretch>
            <a:fillRect/>
          </a:stretch>
        </p:blipFill>
        <p:spPr>
          <a:xfrm>
            <a:off x="7326800" y="4091100"/>
            <a:ext cx="1711037" cy="994200"/>
          </a:xfrm>
          <a:prstGeom prst="rect">
            <a:avLst/>
          </a:prstGeom>
          <a:noFill/>
          <a:ln>
            <a:noFill/>
          </a:ln>
        </p:spPr>
      </p:pic>
      <p:sp>
        <p:nvSpPr>
          <p:cNvPr id="538" name="Google Shape;538;p49"/>
          <p:cNvSpPr txBox="1"/>
          <p:nvPr/>
        </p:nvSpPr>
        <p:spPr>
          <a:xfrm>
            <a:off x="796338" y="3847575"/>
            <a:ext cx="7493400" cy="384900"/>
          </a:xfrm>
          <a:prstGeom prst="rect">
            <a:avLst/>
          </a:prstGeom>
          <a:solidFill>
            <a:srgbClr val="D99A00">
              <a:alpha val="85100"/>
            </a:srgbClr>
          </a:solidFill>
          <a:ln cap="flat" cmpd="sng" w="9525">
            <a:solidFill>
              <a:srgbClr val="E8B546"/>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fr" sz="1300">
                <a:solidFill>
                  <a:srgbClr val="FFF1D6"/>
                </a:solidFill>
              </a:rPr>
              <a:t>ledcAttach(SIGNAL1, 1000, 8);   ledcWrite(SIGNAL1, duty);   </a:t>
            </a:r>
            <a:r>
              <a:rPr i="1" lang="fr" sz="1300">
                <a:solidFill>
                  <a:srgbClr val="E8B546"/>
                </a:solidFill>
              </a:rPr>
              <a:t>// duty = alpha × 255</a:t>
            </a:r>
            <a:endParaRPr i="1" sz="1300">
              <a:solidFill>
                <a:srgbClr val="E8B546"/>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0"/>
          <p:cNvSpPr txBox="1"/>
          <p:nvPr>
            <p:ph type="title"/>
          </p:nvPr>
        </p:nvSpPr>
        <p:spPr>
          <a:xfrm>
            <a:off x="485775" y="193825"/>
            <a:ext cx="61305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BF9000"/>
              </a:buClr>
              <a:buSzPts val="3300"/>
              <a:buFont typeface="Algerian"/>
              <a:buNone/>
            </a:pPr>
            <a:r>
              <a:rPr lang="fr">
                <a:solidFill>
                  <a:srgbClr val="BF9000"/>
                </a:solidFill>
                <a:latin typeface="Algerian"/>
                <a:ea typeface="Algerian"/>
                <a:cs typeface="Algerian"/>
                <a:sym typeface="Algerian"/>
              </a:rPr>
              <a:t>Conclusion &amp; Perspectives</a:t>
            </a:r>
            <a:endParaRPr>
              <a:solidFill>
                <a:srgbClr val="BF9000"/>
              </a:solidFill>
              <a:latin typeface="Algerian"/>
              <a:ea typeface="Algerian"/>
              <a:cs typeface="Algerian"/>
              <a:sym typeface="Algerian"/>
            </a:endParaRPr>
          </a:p>
        </p:txBody>
      </p:sp>
      <p:pic>
        <p:nvPicPr>
          <p:cNvPr descr="Logo_Reseau_Polytech" id="544" name="Google Shape;544;p50"/>
          <p:cNvPicPr preferRelativeResize="0"/>
          <p:nvPr/>
        </p:nvPicPr>
        <p:blipFill rotWithShape="1">
          <a:blip r:embed="rId3">
            <a:alphaModFix/>
          </a:blip>
          <a:srcRect b="0" l="0" r="0" t="0"/>
          <a:stretch/>
        </p:blipFill>
        <p:spPr>
          <a:xfrm>
            <a:off x="162877" y="4346258"/>
            <a:ext cx="1029176" cy="655796"/>
          </a:xfrm>
          <a:prstGeom prst="rect">
            <a:avLst/>
          </a:prstGeom>
          <a:noFill/>
          <a:ln>
            <a:noFill/>
          </a:ln>
        </p:spPr>
      </p:pic>
      <p:sp>
        <p:nvSpPr>
          <p:cNvPr id="545" name="Google Shape;545;p50"/>
          <p:cNvSpPr/>
          <p:nvPr/>
        </p:nvSpPr>
        <p:spPr>
          <a:xfrm>
            <a:off x="777725" y="1076800"/>
            <a:ext cx="5634600" cy="3813600"/>
          </a:xfrm>
          <a:prstGeom prst="cloudCallout">
            <a:avLst>
              <a:gd fmla="val 65496" name="adj1"/>
              <a:gd fmla="val 35377" name="adj2"/>
            </a:avLst>
          </a:prstGeom>
          <a:solidFill>
            <a:srgbClr val="FFD966"/>
          </a:solidFill>
          <a:ln cap="flat" cmpd="dbl" w="28575">
            <a:solidFill>
              <a:srgbClr val="7F6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46" name="Google Shape;546;p50"/>
          <p:cNvSpPr txBox="1"/>
          <p:nvPr/>
        </p:nvSpPr>
        <p:spPr>
          <a:xfrm>
            <a:off x="1698307" y="1718275"/>
            <a:ext cx="4028100" cy="25935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None/>
            </a:pPr>
            <a:r>
              <a:rPr lang="fr" sz="1500">
                <a:solidFill>
                  <a:srgbClr val="285631"/>
                </a:solidFill>
                <a:latin typeface="Calibri"/>
                <a:ea typeface="Calibri"/>
                <a:cs typeface="Calibri"/>
                <a:sym typeface="Calibri"/>
              </a:rPr>
              <a:t>✅ Réalisations</a:t>
            </a:r>
            <a:endParaRPr sz="1500">
              <a:solidFill>
                <a:srgbClr val="285631"/>
              </a:solidFill>
              <a:latin typeface="Calibri"/>
              <a:ea typeface="Calibri"/>
              <a:cs typeface="Calibri"/>
              <a:sym typeface="Calibri"/>
            </a:endParaRPr>
          </a:p>
          <a:p>
            <a:pPr indent="-247650" lvl="0" marL="254000" marR="0" rtl="0" algn="l">
              <a:spcBef>
                <a:spcPts val="0"/>
              </a:spcBef>
              <a:spcAft>
                <a:spcPts val="0"/>
              </a:spcAft>
              <a:buClr>
                <a:srgbClr val="285631"/>
              </a:buClr>
              <a:buSzPts val="1500"/>
              <a:buFont typeface="Arial"/>
              <a:buChar char="•"/>
            </a:pPr>
            <a:r>
              <a:rPr lang="fr" sz="1500">
                <a:solidFill>
                  <a:srgbClr val="285631"/>
                </a:solidFill>
                <a:latin typeface="Calibri"/>
                <a:ea typeface="Calibri"/>
                <a:cs typeface="Calibri"/>
                <a:sym typeface="Calibri"/>
              </a:rPr>
              <a:t>Communication entre l’application et l’ESP32 =&gt; monitoring et setting opérationnels</a:t>
            </a:r>
            <a:endParaRPr sz="1500">
              <a:solidFill>
                <a:srgbClr val="285631"/>
              </a:solidFill>
              <a:latin typeface="Calibri"/>
              <a:ea typeface="Calibri"/>
              <a:cs typeface="Calibri"/>
              <a:sym typeface="Calibri"/>
            </a:endParaRPr>
          </a:p>
          <a:p>
            <a:pPr indent="-247650" lvl="0" marL="254000" marR="0" rtl="0" algn="l">
              <a:spcBef>
                <a:spcPts val="0"/>
              </a:spcBef>
              <a:spcAft>
                <a:spcPts val="0"/>
              </a:spcAft>
              <a:buClr>
                <a:srgbClr val="285631"/>
              </a:buClr>
              <a:buSzPts val="1500"/>
              <a:buFont typeface="Arial"/>
              <a:buChar char="•"/>
            </a:pPr>
            <a:r>
              <a:rPr lang="fr" sz="1500">
                <a:solidFill>
                  <a:srgbClr val="285631"/>
                </a:solidFill>
                <a:latin typeface="Calibri"/>
                <a:ea typeface="Calibri"/>
                <a:cs typeface="Calibri"/>
                <a:sym typeface="Calibri"/>
              </a:rPr>
              <a:t>Suivi du soleil par le panneau solaire ok</a:t>
            </a:r>
            <a:endParaRPr sz="1500">
              <a:solidFill>
                <a:srgbClr val="285631"/>
              </a:solidFill>
              <a:latin typeface="Calibri"/>
              <a:ea typeface="Calibri"/>
              <a:cs typeface="Calibri"/>
              <a:sym typeface="Calibri"/>
            </a:endParaRPr>
          </a:p>
          <a:p>
            <a:pPr indent="-247650" lvl="0" marL="254000" marR="0" rtl="0" algn="l">
              <a:spcBef>
                <a:spcPts val="0"/>
              </a:spcBef>
              <a:spcAft>
                <a:spcPts val="0"/>
              </a:spcAft>
              <a:buClr>
                <a:srgbClr val="285631"/>
              </a:buClr>
              <a:buSzPts val="1500"/>
              <a:buFont typeface="Calibri"/>
              <a:buChar char="•"/>
            </a:pPr>
            <a:r>
              <a:rPr lang="fr" sz="1500">
                <a:solidFill>
                  <a:srgbClr val="285631"/>
                </a:solidFill>
                <a:latin typeface="Calibri"/>
                <a:ea typeface="Calibri"/>
                <a:cs typeface="Calibri"/>
                <a:sym typeface="Calibri"/>
              </a:rPr>
              <a:t>PCB assemblée et testée</a:t>
            </a:r>
            <a:endParaRPr sz="1500">
              <a:solidFill>
                <a:srgbClr val="285631"/>
              </a:solidFill>
              <a:latin typeface="Calibri"/>
              <a:ea typeface="Calibri"/>
              <a:cs typeface="Calibri"/>
              <a:sym typeface="Calibri"/>
            </a:endParaRPr>
          </a:p>
          <a:p>
            <a:pPr indent="-247650" lvl="0" marL="254000" marR="0" rtl="0" algn="l">
              <a:spcBef>
                <a:spcPts val="0"/>
              </a:spcBef>
              <a:spcAft>
                <a:spcPts val="0"/>
              </a:spcAft>
              <a:buClr>
                <a:srgbClr val="285631"/>
              </a:buClr>
              <a:buSzPts val="1500"/>
              <a:buFont typeface="Calibri"/>
              <a:buChar char="•"/>
            </a:pPr>
            <a:r>
              <a:rPr lang="fr" sz="1500">
                <a:solidFill>
                  <a:srgbClr val="285631"/>
                </a:solidFill>
                <a:latin typeface="Calibri"/>
                <a:ea typeface="Calibri"/>
                <a:cs typeface="Calibri"/>
                <a:sym typeface="Calibri"/>
              </a:rPr>
              <a:t>Structure imprimé et assemblée</a:t>
            </a:r>
            <a:endParaRPr sz="1500">
              <a:solidFill>
                <a:srgbClr val="285631"/>
              </a:solidFill>
              <a:latin typeface="Calibri"/>
              <a:ea typeface="Calibri"/>
              <a:cs typeface="Calibri"/>
              <a:sym typeface="Calibri"/>
            </a:endParaRPr>
          </a:p>
          <a:p>
            <a:pPr indent="-152400" lvl="0" marL="254000" marR="0" rtl="0" algn="l">
              <a:spcBef>
                <a:spcPts val="0"/>
              </a:spcBef>
              <a:spcAft>
                <a:spcPts val="0"/>
              </a:spcAft>
              <a:buClr>
                <a:schemeClr val="dk1"/>
              </a:buClr>
              <a:buSzPts val="1500"/>
              <a:buFont typeface="Arial"/>
              <a:buNone/>
            </a:pPr>
            <a:r>
              <a:t/>
            </a:r>
            <a:endParaRPr sz="1500">
              <a:solidFill>
                <a:srgbClr val="285631"/>
              </a:solidFill>
              <a:latin typeface="Calibri"/>
              <a:ea typeface="Calibri"/>
              <a:cs typeface="Calibri"/>
              <a:sym typeface="Calibri"/>
            </a:endParaRPr>
          </a:p>
          <a:p>
            <a:pPr indent="0" lvl="0" marL="0" rtl="0" algn="l">
              <a:spcBef>
                <a:spcPts val="0"/>
              </a:spcBef>
              <a:spcAft>
                <a:spcPts val="0"/>
              </a:spcAft>
              <a:buNone/>
            </a:pPr>
            <a:r>
              <a:rPr lang="fr" sz="1500">
                <a:solidFill>
                  <a:srgbClr val="285631"/>
                </a:solidFill>
                <a:latin typeface="Calibri"/>
                <a:ea typeface="Calibri"/>
                <a:cs typeface="Calibri"/>
                <a:sym typeface="Calibri"/>
              </a:rPr>
              <a:t>🔧 Prochaines étapes</a:t>
            </a:r>
            <a:endParaRPr sz="1500">
              <a:solidFill>
                <a:srgbClr val="285631"/>
              </a:solidFill>
              <a:latin typeface="Calibri"/>
              <a:ea typeface="Calibri"/>
              <a:cs typeface="Calibri"/>
              <a:sym typeface="Calibri"/>
            </a:endParaRPr>
          </a:p>
          <a:p>
            <a:pPr indent="-247650" lvl="0" marL="254000" marR="0" rtl="0" algn="l">
              <a:spcBef>
                <a:spcPts val="0"/>
              </a:spcBef>
              <a:spcAft>
                <a:spcPts val="0"/>
              </a:spcAft>
              <a:buClr>
                <a:srgbClr val="285631"/>
              </a:buClr>
              <a:buSzPts val="1500"/>
              <a:buFont typeface="Arial"/>
              <a:buChar char="•"/>
            </a:pPr>
            <a:r>
              <a:rPr lang="fr" sz="1500">
                <a:solidFill>
                  <a:srgbClr val="285631"/>
                </a:solidFill>
                <a:latin typeface="Calibri"/>
                <a:ea typeface="Calibri"/>
                <a:cs typeface="Calibri"/>
                <a:sym typeface="Calibri"/>
              </a:rPr>
              <a:t>Test chauffage + régulation température</a:t>
            </a:r>
            <a:endParaRPr sz="1500">
              <a:solidFill>
                <a:srgbClr val="285631"/>
              </a:solidFill>
              <a:latin typeface="Calibri"/>
              <a:ea typeface="Calibri"/>
              <a:cs typeface="Calibri"/>
              <a:sym typeface="Calibri"/>
            </a:endParaRPr>
          </a:p>
          <a:p>
            <a:pPr indent="-247650" lvl="0" marL="254000" marR="0" rtl="0" algn="l">
              <a:spcBef>
                <a:spcPts val="0"/>
              </a:spcBef>
              <a:spcAft>
                <a:spcPts val="0"/>
              </a:spcAft>
              <a:buClr>
                <a:srgbClr val="285631"/>
              </a:buClr>
              <a:buSzPts val="1500"/>
              <a:buFont typeface="Arial"/>
              <a:buChar char="•"/>
            </a:pPr>
            <a:r>
              <a:rPr lang="fr" sz="1500">
                <a:solidFill>
                  <a:srgbClr val="285631"/>
                </a:solidFill>
                <a:latin typeface="Calibri"/>
                <a:ea typeface="Calibri"/>
                <a:cs typeface="Calibri"/>
                <a:sym typeface="Calibri"/>
              </a:rPr>
              <a:t>Tests en conditions réelles à effectuer</a:t>
            </a:r>
            <a:br>
              <a:rPr lang="fr" sz="1400">
                <a:solidFill>
                  <a:srgbClr val="285631"/>
                </a:solidFill>
                <a:latin typeface="Calibri"/>
                <a:ea typeface="Calibri"/>
                <a:cs typeface="Calibri"/>
                <a:sym typeface="Calibri"/>
              </a:rPr>
            </a:br>
            <a:endParaRPr sz="1400">
              <a:solidFill>
                <a:srgbClr val="285631"/>
              </a:solidFill>
              <a:latin typeface="Calibri"/>
              <a:ea typeface="Calibri"/>
              <a:cs typeface="Calibri"/>
              <a:sym typeface="Calibri"/>
            </a:endParaRPr>
          </a:p>
        </p:txBody>
      </p:sp>
      <p:sp>
        <p:nvSpPr>
          <p:cNvPr id="547" name="Google Shape;547;p50"/>
          <p:cNvSpPr/>
          <p:nvPr/>
        </p:nvSpPr>
        <p:spPr>
          <a:xfrm>
            <a:off x="6704171" y="1520190"/>
            <a:ext cx="2128838" cy="1316831"/>
          </a:xfrm>
          <a:prstGeom prst="cloudCallout">
            <a:avLst>
              <a:gd fmla="val -17270" name="adj1"/>
              <a:gd fmla="val 98209" name="adj2"/>
            </a:avLst>
          </a:prstGeom>
          <a:solidFill>
            <a:srgbClr val="FFD966">
              <a:alpha val="54901"/>
            </a:srgbClr>
          </a:solidFill>
          <a:ln cap="flat" cmpd="dbl" w="28575">
            <a:solidFill>
              <a:srgbClr val="7F6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48" name="Google Shape;548;p50"/>
          <p:cNvSpPr txBox="1"/>
          <p:nvPr/>
        </p:nvSpPr>
        <p:spPr>
          <a:xfrm>
            <a:off x="6943725" y="1888807"/>
            <a:ext cx="1428750" cy="580072"/>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fr" sz="3000">
                <a:solidFill>
                  <a:srgbClr val="BF9000"/>
                </a:solidFill>
                <a:latin typeface="Algerian"/>
                <a:ea typeface="Algerian"/>
                <a:cs typeface="Algerian"/>
                <a:sym typeface="Algerian"/>
              </a:rPr>
              <a:t>MERCI !</a:t>
            </a:r>
            <a:endParaRPr b="1" sz="3000">
              <a:solidFill>
                <a:srgbClr val="BF9000"/>
              </a:solidFill>
              <a:latin typeface="Algerian"/>
              <a:ea typeface="Algerian"/>
              <a:cs typeface="Algerian"/>
              <a:sym typeface="Algerian"/>
            </a:endParaRPr>
          </a:p>
        </p:txBody>
      </p:sp>
      <p:pic>
        <p:nvPicPr>
          <p:cNvPr descr="ChatGPT Image 25 oct. 2025, 20_07_55" id="549" name="Google Shape;549;p50"/>
          <p:cNvPicPr preferRelativeResize="0"/>
          <p:nvPr/>
        </p:nvPicPr>
        <p:blipFill rotWithShape="1">
          <a:blip r:embed="rId4">
            <a:alphaModFix/>
          </a:blip>
          <a:srcRect b="23402" l="0" r="52050" t="25959"/>
          <a:stretch/>
        </p:blipFill>
        <p:spPr>
          <a:xfrm flipH="1">
            <a:off x="7351395" y="3542348"/>
            <a:ext cx="1451610" cy="1534954"/>
          </a:xfrm>
          <a:prstGeom prst="rect">
            <a:avLst/>
          </a:prstGeom>
          <a:noFill/>
          <a:ln>
            <a:noFill/>
          </a:ln>
        </p:spPr>
      </p:pic>
      <p:pic>
        <p:nvPicPr>
          <p:cNvPr descr="ChatGPT Image 25 oct. 2025, 20_11_13" id="550" name="Google Shape;550;p50"/>
          <p:cNvPicPr preferRelativeResize="0"/>
          <p:nvPr/>
        </p:nvPicPr>
        <p:blipFill rotWithShape="1">
          <a:blip r:embed="rId5">
            <a:alphaModFix/>
          </a:blip>
          <a:srcRect b="0" l="0" r="0" t="0"/>
          <a:stretch/>
        </p:blipFill>
        <p:spPr>
          <a:xfrm>
            <a:off x="4264343" y="4527709"/>
            <a:ext cx="615791" cy="615791"/>
          </a:xfrm>
          <a:prstGeom prst="rect">
            <a:avLst/>
          </a:prstGeom>
          <a:noFill/>
          <a:ln>
            <a:noFill/>
          </a:ln>
        </p:spPr>
      </p:pic>
      <p:sp>
        <p:nvSpPr>
          <p:cNvPr id="551" name="Google Shape;551;p50"/>
          <p:cNvSpPr txBox="1"/>
          <p:nvPr/>
        </p:nvSpPr>
        <p:spPr>
          <a:xfrm>
            <a:off x="4366736" y="4686300"/>
            <a:ext cx="4116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fr" sz="1500">
                <a:solidFill>
                  <a:srgbClr val="7F6000"/>
                </a:solidFill>
                <a:latin typeface="Arial Rounded"/>
                <a:ea typeface="Arial Rounded"/>
                <a:cs typeface="Arial Rounded"/>
                <a:sym typeface="Arial Rounded"/>
              </a:rPr>
              <a:t>25</a:t>
            </a:r>
            <a:endParaRPr b="1" sz="1500">
              <a:solidFill>
                <a:srgbClr val="7F6000"/>
              </a:solidFill>
              <a:latin typeface="Arial Rounded"/>
              <a:ea typeface="Arial Rounded"/>
              <a:cs typeface="Arial Rounded"/>
              <a:sym typeface="Arial Round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1000"/>
                                        <p:tgtEl>
                                          <p:spTgt spid="547"/>
                                        </p:tgtEl>
                                      </p:cBhvr>
                                    </p:animEffect>
                                  </p:childTnLst>
                                </p:cTn>
                              </p:par>
                            </p:childTnLst>
                          </p:cTn>
                        </p:par>
                        <p:par>
                          <p:cTn fill="hold">
                            <p:stCondLst>
                              <p:cond delay="1000"/>
                            </p:stCondLst>
                            <p:childTnLst>
                              <p:par>
                                <p:cTn fill="hold" nodeType="afterEffect" presetClass="entr" presetID="10" presetSubtype="0">
                                  <p:stCondLst>
                                    <p:cond delay="50"/>
                                  </p:stCondLst>
                                  <p:childTnLst>
                                    <p:set>
                                      <p:cBhvr>
                                        <p:cTn dur="1" fill="hold">
                                          <p:stCondLst>
                                            <p:cond delay="0"/>
                                          </p:stCondLst>
                                        </p:cTn>
                                        <p:tgtEl>
                                          <p:spTgt spid="548"/>
                                        </p:tgtEl>
                                        <p:attrNameLst>
                                          <p:attrName>style.visibility</p:attrName>
                                        </p:attrNameLst>
                                      </p:cBhvr>
                                      <p:to>
                                        <p:strVal val="visible"/>
                                      </p:to>
                                    </p:set>
                                    <p:animEffect filter="fade" transition="in">
                                      <p:cBhvr>
                                        <p:cTn dur="500"/>
                                        <p:tgtEl>
                                          <p:spTgt spid="5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