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8b5caf24e_2_67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8b5caf24e_2_67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8b5caf24e_2_79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8b5caf24e_2_79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7b373585_3_1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97b373585_3_1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8b5caf24e_2_97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b8b5caf24e_2_97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951c89165_2_3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b951c89165_2_3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951c89165_2_21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b951c89165_2_21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951c89165_3_14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b951c89165_3_14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951c89165_3_2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b951c89165_3_2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8b5caf24e_2_106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b8b5caf24e_2_106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8b5caf24e_2_115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b8b5caf24e_2_115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8b5caf24e_2_124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b8b5caf24e_2_124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8d74c48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8d74c48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8b5caf24e_2_133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b8b5caf24e_2_133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8b5caf24e_5_35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8b5caf24e_5_35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8b5caf24e_5_46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b8b5caf24e_5_46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8b5caf24e_5_57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b8b5caf24e_5_57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8b5caf24e_2_142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8b5caf24e_2_142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97b373585_2_0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b97b373585_2_0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2d57952c1_0_12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92d57952c1_0_12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97b373585_2_10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b97b373585_2_10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97b373585_2_25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b97b373585_2_25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97b373585_2_38:notes"/>
          <p:cNvSpPr txBox="1"/>
          <p:nvPr>
            <p:ph idx="1" type="body"/>
          </p:nvPr>
        </p:nvSpPr>
        <p:spPr>
          <a:xfrm>
            <a:off x="686599" y="4401236"/>
            <a:ext cx="5486700" cy="36000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b97b373585_2_38:notes"/>
          <p:cNvSpPr/>
          <p:nvPr>
            <p:ph idx="2" type="sldImg"/>
          </p:nvPr>
        </p:nvSpPr>
        <p:spPr>
          <a:xfrm>
            <a:off x="465906" y="1143215"/>
            <a:ext cx="592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8b5caf24e_2_151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b8b5caf24e_2_151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8b5caf24e_2_160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b8b5caf24e_2_160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992222"/>
            <a:ext cx="6858000" cy="164025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85775" y="19383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sz="33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85775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  <a:defRPr sz="21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2813209"/>
            <a:ext cx="7382351" cy="60864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57521"/>
            <a:ext cx="5491162" cy="485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85775" y="19383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85775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  <a:defRPr sz="21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486275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indent="-32385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1500">
                <a:solidFill>
                  <a:srgbClr val="3F3F3F"/>
                </a:solidFill>
              </a:defRPr>
            </a:lvl3pPr>
            <a:lvl4pPr indent="-32385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1500">
                <a:solidFill>
                  <a:srgbClr val="3F3F3F"/>
                </a:solidFill>
              </a:defRPr>
            </a:lvl4pPr>
            <a:lvl5pPr indent="-32385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1500">
                <a:solidFill>
                  <a:srgbClr val="3F3F3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308721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961707"/>
            <a:ext cx="3868340" cy="26805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308721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961707"/>
            <a:ext cx="3887391" cy="26805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0746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sz="33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85060" y="95250"/>
            <a:ext cx="31239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/>
          <p:nvPr>
            <p:ph idx="2" type="pic"/>
          </p:nvPr>
        </p:nvSpPr>
        <p:spPr>
          <a:xfrm>
            <a:off x="3888000" y="574765"/>
            <a:ext cx="4363031" cy="3820834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488870" y="1543050"/>
            <a:ext cx="3123900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 rot="5400000">
            <a:off x="5762417" y="1879790"/>
            <a:ext cx="4358879" cy="1146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 rot="5400000">
            <a:off x="1779195" y="-876701"/>
            <a:ext cx="4358879" cy="6659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628650" y="413657"/>
            <a:ext cx="7886700" cy="41692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5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3000">
              <a:schemeClr val="accent4"/>
            </a:gs>
            <a:gs pos="66000">
              <a:srgbClr val="FFF2CC"/>
            </a:gs>
            <a:gs pos="100000">
              <a:srgbClr val="FFF2CC"/>
            </a:gs>
          </a:gsLst>
          <a:lin ang="135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mc:AlternateContent>
    <mc:Choice Requires="p14">
      <p:transition spd="slow" p14:dur="75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23.jp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0.jpg"/><Relationship Id="rId6" Type="http://schemas.openxmlformats.org/officeDocument/2006/relationships/image" Target="../media/image9.jpg"/><Relationship Id="rId7" Type="http://schemas.openxmlformats.org/officeDocument/2006/relationships/image" Target="../media/image28.jp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50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5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52.png"/><Relationship Id="rId6" Type="http://schemas.openxmlformats.org/officeDocument/2006/relationships/image" Target="../media/image43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ctrTitle"/>
          </p:nvPr>
        </p:nvSpPr>
        <p:spPr>
          <a:xfrm>
            <a:off x="323850" y="187166"/>
            <a:ext cx="8496776" cy="7339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ct val="100000"/>
              <a:buFont typeface="Arial"/>
              <a:buNone/>
            </a:pPr>
            <a:r>
              <a:rPr b="1" lang="fr">
                <a:solidFill>
                  <a:srgbClr val="BF9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PROJET ELECTRONIQUE :</a:t>
            </a:r>
            <a:endParaRPr b="1">
              <a:solidFill>
                <a:srgbClr val="BF9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315652" y="900113"/>
            <a:ext cx="2512219" cy="7186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300" u="none" cap="none" strike="noStrike">
                <a:solidFill>
                  <a:srgbClr val="FFC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BEEWARM</a:t>
            </a:r>
            <a:endParaRPr b="1" i="0" sz="3300" u="none" cap="none" strike="noStrike">
              <a:solidFill>
                <a:srgbClr val="FFC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323850" y="2864175"/>
            <a:ext cx="2582700" cy="21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Eya ZAOUN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Valentin GIROD-ROUX</a:t>
            </a:r>
            <a:br>
              <a:rPr b="1" lang="fr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fr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Hussein ELSOUDA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Anas ESSALIMI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Électronique et Systèmes Embarqués - 2025/2026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Reseau_Polytech" id="124" name="Google Shape;1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1355" y="3784283"/>
            <a:ext cx="1657350" cy="1056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125" name="Google Shape;125;p24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>
            <a:off x="710565" y="1371600"/>
            <a:ext cx="1158716" cy="12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4"/>
          <p:cNvPicPr preferRelativeResize="0"/>
          <p:nvPr/>
        </p:nvPicPr>
        <p:blipFill rotWithShape="1">
          <a:blip r:embed="rId5">
            <a:alphaModFix/>
          </a:blip>
          <a:srcRect b="26158" l="0" r="0" t="11523"/>
          <a:stretch/>
        </p:blipFill>
        <p:spPr>
          <a:xfrm>
            <a:off x="2742724" y="2864168"/>
            <a:ext cx="3657600" cy="227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0014" y="1371600"/>
            <a:ext cx="1556861" cy="1556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no_poly-removebg-preview" id="128" name="Google Shape;1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4765" y="3884295"/>
            <a:ext cx="924877" cy="705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42900" y="16049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Contexte et problématique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135" name="Google Shape;135;p25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 flipH="1">
            <a:off x="6298883" y="211455"/>
            <a:ext cx="736282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434840" y="4686300"/>
            <a:ext cx="273844" cy="299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61475" y="1087300"/>
            <a:ext cx="4911000" cy="3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Système de chauffage utilisant l'énergie solaire facilitant le 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développement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d'essaim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Sensibilité des abeilles aux variations de température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 de maintien thermique en hiver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Système autonome (sans réseau électrique / sans batterie)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Suivi et réglage à distance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5" title="image_2026-01-17_162542477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9825" y="2700145"/>
            <a:ext cx="994175" cy="9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 rotWithShape="1">
          <a:blip r:embed="rId6">
            <a:alphaModFix/>
          </a:blip>
          <a:srcRect b="26160" l="0" r="0" t="11522"/>
          <a:stretch/>
        </p:blipFill>
        <p:spPr>
          <a:xfrm>
            <a:off x="6220975" y="3321935"/>
            <a:ext cx="2923025" cy="182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1824" y="2129125"/>
            <a:ext cx="1244188" cy="1244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26475" y="-17617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EXIGENCES DU SYSTèME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147" name="Google Shape;1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148" name="Google Shape;148;p26"/>
          <p:cNvPicPr preferRelativeResize="0"/>
          <p:nvPr/>
        </p:nvPicPr>
        <p:blipFill rotWithShape="1">
          <a:blip r:embed="rId4">
            <a:alphaModFix/>
          </a:blip>
          <a:srcRect b="23404" l="0" r="52049" t="25957"/>
          <a:stretch/>
        </p:blipFill>
        <p:spPr>
          <a:xfrm flipH="1">
            <a:off x="7991983" y="361505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2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50" name="Google Shape;150;p26" title="image_2026-01-17_162542477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9825" y="2700145"/>
            <a:ext cx="994175" cy="9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 rotWithShape="1">
          <a:blip r:embed="rId6">
            <a:alphaModFix/>
          </a:blip>
          <a:srcRect b="26160" l="0" r="0" t="11522"/>
          <a:stretch/>
        </p:blipFill>
        <p:spPr>
          <a:xfrm>
            <a:off x="6220975" y="3321935"/>
            <a:ext cx="2923025" cy="182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1824" y="2129125"/>
            <a:ext cx="1244188" cy="1244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 title="Capture d'écran 2026-01-21 02033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8150" y="531250"/>
            <a:ext cx="7823350" cy="44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42900" y="16049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Suivi solaire et alimentation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159" name="Google Shape;1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160" name="Google Shape;160;p27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 flipH="1">
            <a:off x="8229608" y="4272505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3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461486" y="1087279"/>
            <a:ext cx="4911090" cy="32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Panneau solaire orientable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Photo-résistances (détection du soleil)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Moteur pas à pas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925" y="3036074"/>
            <a:ext cx="3321175" cy="156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3825" y="318025"/>
            <a:ext cx="615775" cy="6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ChatGPT Image Jan 20, 2026, 08_08_11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2576" y="1288825"/>
            <a:ext cx="2179500" cy="326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42900" y="16049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Fonctionnement d’UNE photorésistance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172" name="Google Shape;1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173" name="Google Shape;173;p28"/>
          <p:cNvPicPr preferRelativeResize="0"/>
          <p:nvPr/>
        </p:nvPicPr>
        <p:blipFill rotWithShape="1">
          <a:blip r:embed="rId4">
            <a:alphaModFix/>
          </a:blip>
          <a:srcRect b="23404" l="0" r="52049" t="25957"/>
          <a:stretch/>
        </p:blipFill>
        <p:spPr>
          <a:xfrm flipH="1">
            <a:off x="8229608" y="4272505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4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61486" y="1087279"/>
            <a:ext cx="4911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Composant créé à partir d’un semi-conducteur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Résistance diminue lorsque c’est éclairé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500" y="2829975"/>
            <a:ext cx="3317475" cy="15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6400" y="274262"/>
            <a:ext cx="615775" cy="6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 title="ldr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6698" y="1395451"/>
            <a:ext cx="3008221" cy="21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42900" y="16049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PILOTAGE AUTOMATIQUE DU MOTEUR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07_55" id="185" name="Google Shape;185;p29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198033" y="4049080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264736" y="1154704"/>
            <a:ext cx="4911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oteur pas à pas 28BYJ-48 avec driver ULN2003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 basée sur la différence de tension entre les photorésistances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400" y="274262"/>
            <a:ext cx="615775" cy="6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 title="b52f94e2-32e0-4d07-9e74-055fafebb70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4050" y="1391350"/>
            <a:ext cx="2740500" cy="292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ChatGPT Image 25 oct. 2025, 20_11_13" id="190" name="Google Shape;19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5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42900" y="16049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PILOTAGE AUTOMATIQUE DU MOTEUR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07_55" id="197" name="Google Shape;197;p30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198033" y="4049080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342911" y="779679"/>
            <a:ext cx="4911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distinguer trois cas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400" y="274262"/>
            <a:ext cx="615775" cy="6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0" title="3ccc2d55-7546-4a82-b15f-674faf2d080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27" y="1869426"/>
            <a:ext cx="2822449" cy="15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 title="de8a85b0-5676-4b72-aa64-2f1876dd1ca4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0763" y="1906700"/>
            <a:ext cx="2822483" cy="15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 title="c3463d3d-2907-4873-9b51-e4ad8dacbe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3549" y="1906700"/>
            <a:ext cx="2822476" cy="159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11_13" id="204" name="Google Shape;20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6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42900" y="16049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PILOTAGE AUTOMATIQUE DU MOTEUR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07_55" id="211" name="Google Shape;211;p31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198033" y="4049080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249811" y="607804"/>
            <a:ext cx="4911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400" y="274262"/>
            <a:ext cx="615775" cy="6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 title="Screenshot 2026-01-20 2121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7475" y="1542625"/>
            <a:ext cx="6626376" cy="258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11_13" id="216" name="Google Shape;21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7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42900" y="16049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Chauffage et régulation de température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223" name="Google Shape;2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24" name="Google Shape;224;p32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>
            <a:off x="4880133" y="1458355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8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461486" y="1370954"/>
            <a:ext cx="4911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Capteurs DS18B20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Température ruche / végétaline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Température de consigne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Chauffage par résistances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Adaptation de la puissance de chauffe via PWM en fonction de la puissance solaire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2476" y="1163631"/>
            <a:ext cx="2764140" cy="3684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6075" y="0"/>
            <a:ext cx="947924" cy="94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342900" y="16049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Communication Bluetooth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235" name="Google Shape;2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36" name="Google Shape;236;p33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 flipH="1">
            <a:off x="6298883" y="211455"/>
            <a:ext cx="736282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/>
          <p:nvPr/>
        </p:nvSpPr>
        <p:spPr>
          <a:xfrm>
            <a:off x="4349643" y="4685600"/>
            <a:ext cx="4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9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461486" y="1087279"/>
            <a:ext cx="4911090" cy="32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 classique ESP32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Échange de données bidirectionnel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+ réglage consigne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Choix Bluetooth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Faible consommation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 d’infrastructure réseau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6625" y="2422216"/>
            <a:ext cx="299075" cy="2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7050" y="2333525"/>
            <a:ext cx="1755100" cy="124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1674424"/>
            <a:ext cx="1373276" cy="23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/>
          <p:nvPr/>
        </p:nvSpPr>
        <p:spPr>
          <a:xfrm>
            <a:off x="6204675" y="3118575"/>
            <a:ext cx="830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6177150" y="2847263"/>
            <a:ext cx="798000" cy="216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42900" y="16049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Protocole de communication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250" name="Google Shape;2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51" name="Google Shape;251;p34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 flipH="1">
            <a:off x="6298883" y="211455"/>
            <a:ext cx="736282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461486" y="1087279"/>
            <a:ext cx="4911090" cy="31499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</a:t>
            </a:r>
            <a:r>
              <a:rPr b="1"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ESP32 → Smartphone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DATA;tVeg°C;tRuche°C</a:t>
            </a:r>
            <a:endParaRPr i="1" sz="1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</a:t>
            </a:r>
            <a:r>
              <a:rPr b="1"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Smartphone → ESP32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SET:SP=32</a:t>
            </a:r>
            <a:endParaRPr i="1" sz="1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simple et robuste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Facile à parser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3050" y="412899"/>
            <a:ext cx="778675" cy="77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8525" y="1768625"/>
            <a:ext cx="2183300" cy="21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/>
        </p:nvSpPr>
        <p:spPr>
          <a:xfrm>
            <a:off x="4349643" y="4685600"/>
            <a:ext cx="4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10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913026" cy="389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5"/>
          <p:cNvPicPr preferRelativeResize="0"/>
          <p:nvPr/>
        </p:nvPicPr>
        <p:blipFill rotWithShape="1">
          <a:blip r:embed="rId4">
            <a:alphaModFix/>
          </a:blip>
          <a:srcRect b="54237" l="0" r="0" t="0"/>
          <a:stretch/>
        </p:blipFill>
        <p:spPr>
          <a:xfrm>
            <a:off x="0" y="3535600"/>
            <a:ext cx="4913024" cy="147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6399" y="1632925"/>
            <a:ext cx="4753202" cy="2192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/>
          <p:nvPr/>
        </p:nvSpPr>
        <p:spPr>
          <a:xfrm>
            <a:off x="97450" y="4244750"/>
            <a:ext cx="4753200" cy="16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4266400" y="2236076"/>
            <a:ext cx="2230800" cy="120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86625" y="1375200"/>
            <a:ext cx="3757500" cy="2707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86625" y="108275"/>
            <a:ext cx="4179900" cy="120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108275" y="4450475"/>
            <a:ext cx="4753200" cy="498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2310900" y="985475"/>
            <a:ext cx="20790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Modification de consigne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1312553" y="3535600"/>
            <a:ext cx="2639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Détection</a:t>
            </a: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des Capteurs et mise à jour des </a:t>
            </a: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températures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850650" y="4138850"/>
            <a:ext cx="20790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Calcul de tVeg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2353425" y="4618200"/>
            <a:ext cx="2559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Affichage</a:t>
            </a: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et envoie des </a:t>
            </a: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données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6497200" y="2479950"/>
            <a:ext cx="2559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Control de chauffage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GPT Image 25 oct. 2025, 20_07_55" id="274" name="Google Shape;274;p35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flipH="1">
            <a:off x="8096403" y="4244749"/>
            <a:ext cx="470899" cy="49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75" name="Google Shape;275;p35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rot="1189774">
            <a:off x="5559312" y="308442"/>
            <a:ext cx="536250" cy="567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76" name="Google Shape;276;p35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flipH="1">
            <a:off x="8004699" y="343000"/>
            <a:ext cx="562601" cy="594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77" name="Google Shape;277;p35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flipH="1">
            <a:off x="6740174" y="624895"/>
            <a:ext cx="562601" cy="595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78" name="Google Shape;278;p35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rot="1189821">
            <a:off x="7158405" y="4051054"/>
            <a:ext cx="519763" cy="549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79" name="Google Shape;279;p35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flipH="1">
            <a:off x="6269266" y="4407052"/>
            <a:ext cx="470899" cy="498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11_13" id="280" name="Google Shape;28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3905" y="4508184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 txBox="1"/>
          <p:nvPr/>
        </p:nvSpPr>
        <p:spPr>
          <a:xfrm>
            <a:off x="5159205" y="4666075"/>
            <a:ext cx="4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11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>
            <p:ph type="title"/>
          </p:nvPr>
        </p:nvSpPr>
        <p:spPr>
          <a:xfrm>
            <a:off x="342900" y="-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Application Android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87" name="Google Shape;287;p36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342900" y="772650"/>
            <a:ext cx="4229100" cy="1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Développée sous </a:t>
            </a: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 App Inventor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 écrans 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Char char="○"/>
            </a:pPr>
            <a:r>
              <a:rPr b="1" lang="fr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Connexion Bluetooth</a:t>
            </a:r>
            <a:endParaRPr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température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Réglage consigne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068" y="1"/>
            <a:ext cx="30269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99" y="2424450"/>
            <a:ext cx="3096074" cy="750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98" y="3175307"/>
            <a:ext cx="3096074" cy="718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292" name="Google Shape;292;p36"/>
          <p:cNvPicPr preferRelativeResize="0"/>
          <p:nvPr/>
        </p:nvPicPr>
        <p:blipFill rotWithShape="1">
          <a:blip r:embed="rId6">
            <a:alphaModFix/>
          </a:blip>
          <a:srcRect b="23402" l="0" r="52050" t="25959"/>
          <a:stretch/>
        </p:blipFill>
        <p:spPr>
          <a:xfrm flipH="1">
            <a:off x="4843783" y="215542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6"/>
          <p:cNvPicPr preferRelativeResize="0"/>
          <p:nvPr/>
        </p:nvPicPr>
        <p:blipFill rotWithShape="1">
          <a:blip r:embed="rId7">
            <a:alphaModFix/>
          </a:blip>
          <a:srcRect b="26161" l="3048" r="75929" t="46656"/>
          <a:stretch/>
        </p:blipFill>
        <p:spPr>
          <a:xfrm>
            <a:off x="0" y="423247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6"/>
          <p:cNvPicPr preferRelativeResize="0"/>
          <p:nvPr/>
        </p:nvPicPr>
        <p:blipFill rotWithShape="1">
          <a:blip r:embed="rId7">
            <a:alphaModFix/>
          </a:blip>
          <a:srcRect b="26161" l="3048" r="75929" t="46656"/>
          <a:stretch/>
        </p:blipFill>
        <p:spPr>
          <a:xfrm>
            <a:off x="63416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09750" y="2146438"/>
            <a:ext cx="2700675" cy="1747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11_13" id="296" name="Google Shape;296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53514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/>
        </p:nvSpPr>
        <p:spPr>
          <a:xfrm>
            <a:off x="4338814" y="4685600"/>
            <a:ext cx="4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12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342900" y="-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Application Android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303" name="Google Shape;3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/>
        </p:nvSpPr>
        <p:spPr>
          <a:xfrm>
            <a:off x="4334194" y="4685600"/>
            <a:ext cx="476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13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05" name="Google Shape;305;p37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342900" y="772650"/>
            <a:ext cx="4110000" cy="1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Développée sous </a:t>
            </a:r>
            <a:r>
              <a:rPr b="1"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 App Inventor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 écrans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Connexion Bluetooth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Char char="○"/>
            </a:pPr>
            <a:r>
              <a:rPr b="1" lang="fr" sz="18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1" sz="18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température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Réglage consigne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699" y="0"/>
            <a:ext cx="28763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004" y="2673076"/>
            <a:ext cx="4264746" cy="1693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309" name="Google Shape;309;p37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flipH="1">
            <a:off x="4264346" y="2288080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7"/>
          <p:cNvPicPr preferRelativeResize="0"/>
          <p:nvPr/>
        </p:nvPicPr>
        <p:blipFill rotWithShape="1">
          <a:blip r:embed="rId7">
            <a:alphaModFix/>
          </a:blip>
          <a:srcRect b="26161" l="3048" r="75929" t="46656"/>
          <a:stretch/>
        </p:blipFill>
        <p:spPr>
          <a:xfrm>
            <a:off x="0" y="423247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7"/>
          <p:cNvPicPr preferRelativeResize="0"/>
          <p:nvPr/>
        </p:nvPicPr>
        <p:blipFill rotWithShape="1">
          <a:blip r:embed="rId7">
            <a:alphaModFix/>
          </a:blip>
          <a:srcRect b="26161" l="3048" r="75929" t="46656"/>
          <a:stretch/>
        </p:blipFill>
        <p:spPr>
          <a:xfrm>
            <a:off x="63416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type="title"/>
          </p:nvPr>
        </p:nvSpPr>
        <p:spPr>
          <a:xfrm>
            <a:off x="342900" y="-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Application Android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317" name="Google Shape;3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105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8"/>
          <p:cNvSpPr txBox="1"/>
          <p:nvPr/>
        </p:nvSpPr>
        <p:spPr>
          <a:xfrm>
            <a:off x="4349406" y="4685600"/>
            <a:ext cx="4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14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342900" y="772650"/>
            <a:ext cx="41100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Développée sous </a:t>
            </a: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 App Inventor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 écrans 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Connexion Bluetooth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Char char="○"/>
            </a:pPr>
            <a:r>
              <a:rPr b="1" lang="fr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Monitoring température</a:t>
            </a:r>
            <a:endParaRPr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Réglage consigne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Graphiques en temps réel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900" y="0"/>
            <a:ext cx="20951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493" y="2682450"/>
            <a:ext cx="2354525" cy="15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7425" y="816000"/>
            <a:ext cx="3639902" cy="3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324" name="Google Shape;324;p38"/>
          <p:cNvPicPr preferRelativeResize="0"/>
          <p:nvPr/>
        </p:nvPicPr>
        <p:blipFill rotWithShape="1">
          <a:blip r:embed="rId7">
            <a:alphaModFix/>
          </a:blip>
          <a:srcRect b="23404" l="0" r="52049" t="25957"/>
          <a:stretch/>
        </p:blipFill>
        <p:spPr>
          <a:xfrm flipH="1">
            <a:off x="6041299" y="1560205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8"/>
          <p:cNvPicPr preferRelativeResize="0"/>
          <p:nvPr/>
        </p:nvPicPr>
        <p:blipFill rotWithShape="1">
          <a:blip r:embed="rId8">
            <a:alphaModFix/>
          </a:blip>
          <a:srcRect b="26161" l="3048" r="75929" t="46656"/>
          <a:stretch/>
        </p:blipFill>
        <p:spPr>
          <a:xfrm>
            <a:off x="0" y="423247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8"/>
          <p:cNvPicPr preferRelativeResize="0"/>
          <p:nvPr/>
        </p:nvPicPr>
        <p:blipFill rotWithShape="1">
          <a:blip r:embed="rId8">
            <a:alphaModFix/>
          </a:blip>
          <a:srcRect b="26161" l="3048" r="75929" t="46656"/>
          <a:stretch/>
        </p:blipFill>
        <p:spPr>
          <a:xfrm>
            <a:off x="63416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 txBox="1"/>
          <p:nvPr>
            <p:ph type="title"/>
          </p:nvPr>
        </p:nvSpPr>
        <p:spPr>
          <a:xfrm>
            <a:off x="342900" y="-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Application Android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332" name="Google Shape;3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9"/>
          <p:cNvSpPr txBox="1"/>
          <p:nvPr/>
        </p:nvSpPr>
        <p:spPr>
          <a:xfrm>
            <a:off x="4353100" y="4686300"/>
            <a:ext cx="41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15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342900" y="772650"/>
            <a:ext cx="4110000" cy="1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Développée sous </a:t>
            </a: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 App Inventor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 écrans 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Connexion Bluetooth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température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Char char="○"/>
            </a:pPr>
            <a:r>
              <a:rPr b="1" lang="fr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Réglage consigne</a:t>
            </a:r>
            <a:endParaRPr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1734" y="0"/>
            <a:ext cx="286226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900" y="2141325"/>
            <a:ext cx="3728976" cy="292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338" name="Google Shape;338;p39"/>
          <p:cNvPicPr preferRelativeResize="0"/>
          <p:nvPr/>
        </p:nvPicPr>
        <p:blipFill rotWithShape="1">
          <a:blip r:embed="rId6">
            <a:alphaModFix/>
          </a:blip>
          <a:srcRect b="23404" l="0" r="52049" t="25957"/>
          <a:stretch/>
        </p:blipFill>
        <p:spPr>
          <a:xfrm flipH="1">
            <a:off x="3638833" y="1793080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9"/>
          <p:cNvPicPr preferRelativeResize="0"/>
          <p:nvPr/>
        </p:nvPicPr>
        <p:blipFill rotWithShape="1">
          <a:blip r:embed="rId7">
            <a:alphaModFix/>
          </a:blip>
          <a:srcRect b="26161" l="3048" r="75929" t="46656"/>
          <a:stretch/>
        </p:blipFill>
        <p:spPr>
          <a:xfrm>
            <a:off x="5072612" y="423247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9"/>
          <p:cNvPicPr preferRelativeResize="0"/>
          <p:nvPr/>
        </p:nvPicPr>
        <p:blipFill rotWithShape="1">
          <a:blip r:embed="rId7">
            <a:alphaModFix/>
          </a:blip>
          <a:srcRect b="26161" l="3048" r="75929" t="46656"/>
          <a:stretch/>
        </p:blipFill>
        <p:spPr>
          <a:xfrm>
            <a:off x="5706776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>
            <p:ph type="title"/>
          </p:nvPr>
        </p:nvSpPr>
        <p:spPr>
          <a:xfrm>
            <a:off x="327975" y="6052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Robustesse de la communication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46" name="Google Shape;346;p40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0"/>
          <p:cNvSpPr txBox="1"/>
          <p:nvPr/>
        </p:nvSpPr>
        <p:spPr>
          <a:xfrm>
            <a:off x="364425" y="863327"/>
            <a:ext cx="49110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Surveillance du 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entre messages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Détection de 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perte Bluetooth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5 s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Reconnexion automatique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tentatives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Retour à l’écran de connexion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750" y="1578116"/>
            <a:ext cx="4275774" cy="29507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49" name="Google Shape;34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00" y="2533441"/>
            <a:ext cx="4452851" cy="19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350" name="Google Shape;350;p40"/>
          <p:cNvPicPr preferRelativeResize="0"/>
          <p:nvPr/>
        </p:nvPicPr>
        <p:blipFill rotWithShape="1">
          <a:blip r:embed="rId5">
            <a:alphaModFix/>
          </a:blip>
          <a:srcRect b="23402" l="0" r="52050" t="25959"/>
          <a:stretch/>
        </p:blipFill>
        <p:spPr>
          <a:xfrm flipH="1">
            <a:off x="4204100" y="2174746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0"/>
          <p:cNvPicPr preferRelativeResize="0"/>
          <p:nvPr/>
        </p:nvPicPr>
        <p:blipFill rotWithShape="1">
          <a:blip r:embed="rId6">
            <a:alphaModFix/>
          </a:blip>
          <a:srcRect b="26161" l="3048" r="75929" t="46656"/>
          <a:stretch/>
        </p:blipFill>
        <p:spPr>
          <a:xfrm>
            <a:off x="7771250" y="423247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0"/>
          <p:cNvPicPr preferRelativeResize="0"/>
          <p:nvPr/>
        </p:nvPicPr>
        <p:blipFill rotWithShape="1">
          <a:blip r:embed="rId6">
            <a:alphaModFix/>
          </a:blip>
          <a:srcRect b="26161" l="3048" r="75929" t="46656"/>
          <a:stretch/>
        </p:blipFill>
        <p:spPr>
          <a:xfrm>
            <a:off x="840541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11_13" id="353" name="Google Shape;353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4105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0"/>
          <p:cNvSpPr txBox="1"/>
          <p:nvPr/>
        </p:nvSpPr>
        <p:spPr>
          <a:xfrm>
            <a:off x="4352862" y="4686300"/>
            <a:ext cx="41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16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 txBox="1"/>
          <p:nvPr>
            <p:ph type="title"/>
          </p:nvPr>
        </p:nvSpPr>
        <p:spPr>
          <a:xfrm>
            <a:off x="342900" y="16049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Architecture du système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360" name="Google Shape;3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361" name="Google Shape;361;p41"/>
          <p:cNvPicPr preferRelativeResize="0"/>
          <p:nvPr/>
        </p:nvPicPr>
        <p:blipFill rotWithShape="1">
          <a:blip r:embed="rId4">
            <a:alphaModFix/>
          </a:blip>
          <a:srcRect b="23404" l="0" r="52049" t="25957"/>
          <a:stretch/>
        </p:blipFill>
        <p:spPr>
          <a:xfrm flipH="1">
            <a:off x="6298883" y="211455"/>
            <a:ext cx="736282" cy="77866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1"/>
          <p:cNvSpPr txBox="1"/>
          <p:nvPr/>
        </p:nvSpPr>
        <p:spPr>
          <a:xfrm>
            <a:off x="4349399" y="4685600"/>
            <a:ext cx="4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17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461486" y="1191578"/>
            <a:ext cx="41100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461486" y="1087279"/>
            <a:ext cx="4911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Panneau solaire orientable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Carte électronique (ESP32)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Capteurs de température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Résistances chauffantes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Bluetooth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Smartphone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0075" y="1090852"/>
            <a:ext cx="5033949" cy="33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>
            <p:ph type="title"/>
          </p:nvPr>
        </p:nvSpPr>
        <p:spPr>
          <a:xfrm>
            <a:off x="344425" y="-28052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PARTIE PCB sur eagle 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8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ChatGPT Image 25 oct. 2025, 20_07_55" id="372" name="Google Shape;372;p42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4204100" y="2174746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2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5935087" y="385637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2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840541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5" y="448350"/>
            <a:ext cx="6667249" cy="45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2"/>
          <p:cNvSpPr txBox="1"/>
          <p:nvPr/>
        </p:nvSpPr>
        <p:spPr>
          <a:xfrm>
            <a:off x="-96525" y="4312500"/>
            <a:ext cx="6736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22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Retranscription du PCB de Altium sur EAGLE avec les librairies SnapEDA  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5774" y="1570684"/>
            <a:ext cx="1980451" cy="218247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2"/>
          <p:cNvSpPr txBox="1"/>
          <p:nvPr/>
        </p:nvSpPr>
        <p:spPr>
          <a:xfrm>
            <a:off x="7006775" y="3778175"/>
            <a:ext cx="2233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Layout du PCB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GPT Image 25 oct. 2025, 20_11_13" id="379" name="Google Shape;379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2"/>
          <p:cNvSpPr txBox="1"/>
          <p:nvPr/>
        </p:nvSpPr>
        <p:spPr>
          <a:xfrm>
            <a:off x="4353100" y="4686300"/>
            <a:ext cx="41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18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type="title"/>
          </p:nvPr>
        </p:nvSpPr>
        <p:spPr>
          <a:xfrm>
            <a:off x="358350" y="-12195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PARTIE PCB sur eagle : ALIMENTATION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8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ChatGPT Image 25 oct. 2025, 20_07_55" id="387" name="Google Shape;387;p43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4204100" y="2174746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5926812" y="445272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840541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3"/>
          <p:cNvSpPr txBox="1"/>
          <p:nvPr/>
        </p:nvSpPr>
        <p:spPr>
          <a:xfrm>
            <a:off x="655325" y="1210250"/>
            <a:ext cx="6736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22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PARTIE 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GPT Image 25 oct. 2025, 20_11_13" id="391" name="Google Shape;39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3"/>
          <p:cNvSpPr txBox="1"/>
          <p:nvPr/>
        </p:nvSpPr>
        <p:spPr>
          <a:xfrm>
            <a:off x="4353100" y="4686300"/>
            <a:ext cx="41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19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393" name="Google Shape;39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275" y="1431811"/>
            <a:ext cx="7817152" cy="25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"/>
          <p:cNvSpPr txBox="1"/>
          <p:nvPr>
            <p:ph type="title"/>
          </p:nvPr>
        </p:nvSpPr>
        <p:spPr>
          <a:xfrm>
            <a:off x="344425" y="-16205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PARTIE PCB sur eagle : BLOC ESP32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99" name="Google Shape;399;p44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8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ChatGPT Image 25 oct. 2025, 20_07_55" id="400" name="Google Shape;400;p44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4204100" y="2174746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4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5926812" y="445272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4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840541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4"/>
          <p:cNvSpPr txBox="1"/>
          <p:nvPr/>
        </p:nvSpPr>
        <p:spPr>
          <a:xfrm>
            <a:off x="655325" y="1210250"/>
            <a:ext cx="6736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22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PARTIE 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GPT Image 25 oct. 2025, 20_11_13" id="404" name="Google Shape;40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4"/>
          <p:cNvSpPr txBox="1"/>
          <p:nvPr/>
        </p:nvSpPr>
        <p:spPr>
          <a:xfrm>
            <a:off x="4353100" y="4686300"/>
            <a:ext cx="41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20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406" name="Google Shape;40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088" y="1036963"/>
            <a:ext cx="8177425" cy="29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type="title"/>
          </p:nvPr>
        </p:nvSpPr>
        <p:spPr>
          <a:xfrm>
            <a:off x="344425" y="-21090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PARTIE PCB sur eagle 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412" name="Google Shape;412;p45"/>
          <p:cNvSpPr txBox="1"/>
          <p:nvPr/>
        </p:nvSpPr>
        <p:spPr>
          <a:xfrm>
            <a:off x="4434840" y="4686300"/>
            <a:ext cx="27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8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ChatGPT Image 25 oct. 2025, 20_07_55" id="413" name="Google Shape;413;p45"/>
          <p:cNvPicPr preferRelativeResize="0"/>
          <p:nvPr/>
        </p:nvPicPr>
        <p:blipFill rotWithShape="1">
          <a:blip r:embed="rId3">
            <a:alphaModFix/>
          </a:blip>
          <a:srcRect b="23404" l="0" r="52049" t="25957"/>
          <a:stretch/>
        </p:blipFill>
        <p:spPr>
          <a:xfrm flipH="1">
            <a:off x="4204100" y="2174746"/>
            <a:ext cx="736282" cy="778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5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5926812" y="4452725"/>
            <a:ext cx="704580" cy="9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5"/>
          <p:cNvPicPr preferRelativeResize="0"/>
          <p:nvPr/>
        </p:nvPicPr>
        <p:blipFill rotWithShape="1">
          <a:blip r:embed="rId4">
            <a:alphaModFix/>
          </a:blip>
          <a:srcRect b="26161" l="3048" r="75929" t="46656"/>
          <a:stretch/>
        </p:blipFill>
        <p:spPr>
          <a:xfrm>
            <a:off x="8405414" y="4527700"/>
            <a:ext cx="476261" cy="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5"/>
          <p:cNvSpPr txBox="1"/>
          <p:nvPr/>
        </p:nvSpPr>
        <p:spPr>
          <a:xfrm>
            <a:off x="655325" y="1210250"/>
            <a:ext cx="6736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22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PARTIE 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GPT Image 25 oct. 2025, 20_11_13" id="417" name="Google Shape;41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5"/>
          <p:cNvSpPr txBox="1"/>
          <p:nvPr/>
        </p:nvSpPr>
        <p:spPr>
          <a:xfrm>
            <a:off x="4353100" y="4686300"/>
            <a:ext cx="41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21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419" name="Google Shape;41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425" y="713675"/>
            <a:ext cx="1692800" cy="4114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0110" y="1144963"/>
            <a:ext cx="5884614" cy="317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type="title"/>
          </p:nvPr>
        </p:nvSpPr>
        <p:spPr>
          <a:xfrm>
            <a:off x="342900" y="16049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000"/>
              <a:buFont typeface="Algerian"/>
              <a:buNone/>
            </a:pPr>
            <a:r>
              <a:rPr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Avancement du projet &amp; Problèmes rencontrés</a:t>
            </a:r>
            <a:endParaRPr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11_13" id="426" name="Google Shape;4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07_55" id="427" name="Google Shape;427;p46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 flipH="1">
            <a:off x="7828598" y="211455"/>
            <a:ext cx="736282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6"/>
          <p:cNvSpPr txBox="1"/>
          <p:nvPr/>
        </p:nvSpPr>
        <p:spPr>
          <a:xfrm>
            <a:off x="4384358" y="4686300"/>
            <a:ext cx="375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22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429" name="Google Shape;429;p46"/>
          <p:cNvSpPr txBox="1"/>
          <p:nvPr/>
        </p:nvSpPr>
        <p:spPr>
          <a:xfrm>
            <a:off x="461486" y="1191577"/>
            <a:ext cx="4110038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6"/>
          <p:cNvSpPr txBox="1"/>
          <p:nvPr/>
        </p:nvSpPr>
        <p:spPr>
          <a:xfrm>
            <a:off x="461475" y="1087199"/>
            <a:ext cx="49110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Bluetooth fonctionnelle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opérationnelle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réelle des capteurs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Problèmes PCB identifiés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Défaut PCB (ligne SignalLine1)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Destruction régulateur + ESP32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Hypothèse : court-circuit de la résistance</a:t>
            </a:r>
            <a:b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RPD1 (GND trop près du VCC)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0901" y="1087194"/>
            <a:ext cx="2763024" cy="36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6263" y="3214997"/>
            <a:ext cx="241800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77125">
            <a:off x="8336767" y="4422647"/>
            <a:ext cx="522712" cy="5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6579" y="1666554"/>
            <a:ext cx="1112375" cy="11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/>
          <p:nvPr>
            <p:ph type="title"/>
          </p:nvPr>
        </p:nvSpPr>
        <p:spPr>
          <a:xfrm>
            <a:off x="485775" y="19383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300"/>
              <a:buFont typeface="Algerian"/>
              <a:buNone/>
            </a:pPr>
            <a:r>
              <a:rPr lang="fr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Conclusion &amp; Perspectives</a:t>
            </a:r>
            <a:endParaRPr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Logo_Reseau_Polytech" id="440" name="Google Shape;4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" y="4346258"/>
            <a:ext cx="1029176" cy="65579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7"/>
          <p:cNvSpPr/>
          <p:nvPr/>
        </p:nvSpPr>
        <p:spPr>
          <a:xfrm>
            <a:off x="777716" y="1076801"/>
            <a:ext cx="5634514" cy="3517582"/>
          </a:xfrm>
          <a:prstGeom prst="cloudCallout">
            <a:avLst>
              <a:gd fmla="val 62796" name="adj1"/>
              <a:gd fmla="val 39385" name="adj2"/>
            </a:avLst>
          </a:prstGeom>
          <a:solidFill>
            <a:srgbClr val="FFD966"/>
          </a:solidFill>
          <a:ln cap="flat" cmpd="dbl" w="28575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7"/>
          <p:cNvSpPr txBox="1"/>
          <p:nvPr/>
        </p:nvSpPr>
        <p:spPr>
          <a:xfrm>
            <a:off x="1698307" y="1774031"/>
            <a:ext cx="40281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85631"/>
              </a:buClr>
              <a:buSzPts val="1500"/>
              <a:buFont typeface="Arial"/>
              <a:buChar char="•"/>
            </a:pPr>
            <a:r>
              <a:rPr lang="fr" sz="15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  <a:t>Communication entre l’application et l’ESP32 =&gt; monitoring et setting opérationnels</a:t>
            </a:r>
            <a:endParaRPr sz="15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85631"/>
              </a:buClr>
              <a:buSzPts val="1500"/>
              <a:buFont typeface="Arial"/>
              <a:buChar char="•"/>
            </a:pPr>
            <a:r>
              <a:rPr lang="fr" sz="15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  <a:t>Suivi du soleil par le panneau solaire ok</a:t>
            </a:r>
            <a:endParaRPr sz="15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fr" sz="15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  <a:t>Mais :</a:t>
            </a:r>
            <a:endParaRPr sz="15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85631"/>
              </a:buClr>
              <a:buSzPts val="1500"/>
              <a:buFont typeface="Arial"/>
              <a:buChar char="•"/>
            </a:pPr>
            <a:r>
              <a:rPr lang="fr" sz="15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  <a:t>Layout PCB à faire / commande du PCB</a:t>
            </a:r>
            <a:endParaRPr sz="15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85631"/>
              </a:buClr>
              <a:buSzPts val="1500"/>
              <a:buFont typeface="Arial"/>
              <a:buChar char="•"/>
            </a:pPr>
            <a:r>
              <a:rPr lang="fr" sz="15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  <a:t>Validation complète du chauffage à faire</a:t>
            </a:r>
            <a:endParaRPr sz="15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85631"/>
              </a:buClr>
              <a:buSzPts val="1500"/>
              <a:buFont typeface="Arial"/>
              <a:buChar char="•"/>
            </a:pPr>
            <a:r>
              <a:rPr lang="fr" sz="15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  <a:t>Tests en conditions réelles </a:t>
            </a:r>
            <a:br>
              <a:rPr lang="fr" sz="1400">
                <a:solidFill>
                  <a:srgbClr val="28563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rgbClr val="2856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6704171" y="1520190"/>
            <a:ext cx="2128838" cy="1316831"/>
          </a:xfrm>
          <a:prstGeom prst="cloudCallout">
            <a:avLst>
              <a:gd fmla="val -17270" name="adj1"/>
              <a:gd fmla="val 98209" name="adj2"/>
            </a:avLst>
          </a:prstGeom>
          <a:solidFill>
            <a:srgbClr val="FFD966">
              <a:alpha val="54901"/>
            </a:srgbClr>
          </a:solidFill>
          <a:ln cap="flat" cmpd="dbl" w="28575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7"/>
          <p:cNvSpPr txBox="1"/>
          <p:nvPr/>
        </p:nvSpPr>
        <p:spPr>
          <a:xfrm>
            <a:off x="6943725" y="1888807"/>
            <a:ext cx="1428750" cy="5800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BF9000"/>
                </a:solidFill>
                <a:latin typeface="Algerian"/>
                <a:ea typeface="Algerian"/>
                <a:cs typeface="Algerian"/>
                <a:sym typeface="Algerian"/>
              </a:rPr>
              <a:t>MERCI !</a:t>
            </a:r>
            <a:endParaRPr b="1" sz="3000">
              <a:solidFill>
                <a:srgbClr val="BF9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descr="ChatGPT Image 25 oct. 2025, 20_07_55" id="445" name="Google Shape;445;p47"/>
          <p:cNvPicPr preferRelativeResize="0"/>
          <p:nvPr/>
        </p:nvPicPr>
        <p:blipFill rotWithShape="1">
          <a:blip r:embed="rId4">
            <a:alphaModFix/>
          </a:blip>
          <a:srcRect b="23402" l="0" r="52050" t="25959"/>
          <a:stretch/>
        </p:blipFill>
        <p:spPr>
          <a:xfrm flipH="1">
            <a:off x="7351395" y="3542348"/>
            <a:ext cx="1451610" cy="1534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25 oct. 2025, 20_11_13" id="446" name="Google Shape;44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4343" y="4527709"/>
            <a:ext cx="615791" cy="615791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7"/>
          <p:cNvSpPr txBox="1"/>
          <p:nvPr/>
        </p:nvSpPr>
        <p:spPr>
          <a:xfrm>
            <a:off x="4366736" y="4686300"/>
            <a:ext cx="411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7F6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23</a:t>
            </a:r>
            <a:endParaRPr b="1" sz="1500">
              <a:solidFill>
                <a:srgbClr val="7F6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